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46c1e24084d8e" /><Relationship Type="http://schemas.openxmlformats.org/officeDocument/2006/relationships/extended-properties" Target="/docProps/app.xml" Id="R44889b0de1e04c41" /><Relationship Type="http://schemas.openxmlformats.org/officeDocument/2006/relationships/officeDocument" Target="/ppt/presentation.xml" Id="Rd07e4880d7af49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9ead313a094309"/>
  </p:sldMasterIdLst>
  <p:notesMasterIdLst>
    <p:notesMasterId xmlns:r="http://schemas.openxmlformats.org/officeDocument/2006/relationships" r:id="R4bd6b68218a547c0"/>
  </p:notesMasterIdLst>
  <p:sldIdLst>
    <p:sldId xmlns:r="http://schemas.openxmlformats.org/officeDocument/2006/relationships" id="256" r:id="R73b0cef88c2440ec"/>
    <p:sldId xmlns:r="http://schemas.openxmlformats.org/officeDocument/2006/relationships" id="257" r:id="Rf521a7df2aa84b3a"/>
    <p:sldId xmlns:r="http://schemas.openxmlformats.org/officeDocument/2006/relationships" id="258" r:id="R8c687d86b1284e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233af34dc49ff" /><Relationship Type="http://schemas.openxmlformats.org/officeDocument/2006/relationships/slideMaster" Target="/ppt/slideMasters/slideMaster1.xml" Id="R0b9ead313a094309" /><Relationship Type="http://schemas.openxmlformats.org/officeDocument/2006/relationships/notesMaster" Target="/ppt/notesMasters/notesMaster1.xml" Id="R4bd6b68218a547c0" /><Relationship Type="http://schemas.openxmlformats.org/officeDocument/2006/relationships/presProps" Target="/ppt/presProps.xml" Id="R61983b74db7e4c75" /><Relationship Type="http://schemas.openxmlformats.org/officeDocument/2006/relationships/tableStyles" Target="/ppt/tableStyles.xml" Id="Rf83a905a08e74d31" /><Relationship Type="http://schemas.openxmlformats.org/officeDocument/2006/relationships/slide" Target="/ppt/slides/slide1.xml" Id="R73b0cef88c2440ec" /><Relationship Type="http://schemas.openxmlformats.org/officeDocument/2006/relationships/slide" Target="/ppt/slides/slide2.xml" Id="Rf521a7df2aa84b3a" /><Relationship Type="http://schemas.openxmlformats.org/officeDocument/2006/relationships/slide" Target="/ppt/slides/slide3.xml" Id="R8c687d86b1284e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ae74fd825f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 noProof="1" lang="zh-CN" altLang="en-US" dirty="0" err="0" b="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09f86d13d4b88" /><Relationship Type="http://schemas.openxmlformats.org/officeDocument/2006/relationships/notesMaster" Target="/ppt/notesMasters/notesMaster1.xml" Id="Rc9b962595bc94f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563deec08941b8" /><Relationship Type="http://schemas.openxmlformats.org/officeDocument/2006/relationships/notesMaster" Target="/ppt/notesMasters/notesMaster1.xml" Id="Rc70bf5f3990643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c9ae0a6324883" /><Relationship Type="http://schemas.openxmlformats.org/officeDocument/2006/relationships/notesMaster" Target="/ppt/notesMasters/notesMaster1.xml" Id="Re8c6cc6ff1e141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这一页解释为什么明明还有空闲 MSHR，后续 miss 仍可能等在发送侧。</a:t>
            </a:r>
            <a:endParaRPr b="0" noProof="1" lang="zh-CN" altLang="en-US" dirty="0" err="0"/>
          </a:p>
          <a:p xmlns:a="http://schemas.openxmlformats.org/drawingml/2006/main">
            <a:r>
              <a:t>原设计已经支持多个未完成 miss，但待发送通路只有一项元数据和 IDLE/SEND 两个状态。处于 SEND 时，分配准入 ready 为0。若 A 等待下游握手，后续 B 可能需要进入 RTAB 等待。</a:t>
            </a:r>
            <a:endParaRPr b="0" noProof="1" lang="zh-CN" altLang="en-US" dirty="0" err="0"/>
          </a:p>
          <a:p xmlns:a="http://schemas.openxmlformats.org/drawingml/2006/main">
            <a:r>
              <a:t>改动使用总深度为2的发送元数据 FIFO 替代单项待发保存结构。S1 根据下一拍信用做准入决定，S2 同拍分配既有 MSHR 并将行地址及 MSHR way 入队。</a:t>
            </a:r>
            <a:endParaRPr b="0" noProof="1" lang="zh-CN" altLang="en-US" dirty="0" err="0"/>
          </a:p>
          <a:p xmlns:a="http://schemas.openxmlformats.org/drawingml/2006/main">
            <a:r>
              <a:t>图中 A 等待发送、B 可接纳是存在信用且其他准入条件满足时的示意，不表示 B 无条件被接纳。每个 FIFO 项都已经拥有一个 MSHR。FIFO 不保存 cacheline 数据，也没有新增 MSHR 或扩大 RTAB。</a:t>
            </a:r>
            <a:endParaRPr b="0" noProof="1" lang="zh-CN" altLang="en-US" dirty="0" err="0"/>
          </a:p>
          <a:p xmlns:a="http://schemas.openxmlformats.org/drawingml/2006/main">
            <a:r>
              <a:t>信用计算为 count_next = count + 当前S2入队 - 当拍发送出队；count_next &lt; 2 才允许 S1 为下一拍的 S2 预留空间。必须考虑本拍既有 S2 工作，不能只看当前 FIFO 是否满。</a:t>
            </a:r>
            <a:endParaRPr b="0" noProof="1" lang="zh-CN" altLang="en-US" dirty="0" err="0"/>
          </a:p>
          <a:p xmlns:a="http://schemas.openxmlformats.org/drawingml/2006/main">
            <a:r>
              <a:t>请求 valid 与 ready 握手就完成发送，SEND结束或FIFO出队并不等待下级数据返回，也不等于释放MSHR。返回数据由独立的refill路径处理。</a:t>
            </a:r>
            <a:endParaRPr b="0" noProof="1" lang="zh-CN" altLang="en-US" dirty="0" err="0"/>
          </a:p>
          <a:p xmlns:a="http://schemas.openxmlformats.org/drawingml/2006/main">
            <a:r>
              <a:t>收益来自吸收部分短时反压、减少受发送状态限制的准入等待。队列满、MSHR满、同线依赖及其他原有冲突仍可导致等待，持续外存拥塞不会被有限FIFO消除。</a:t>
            </a:r>
            <a:endParaRPr b="0" noProof="1" lang="zh-CN" altLang="en-US" dirty="0" err="0"/>
          </a:p>
          <a:p xmlns:a="http://schemas.openxmlformats.org/drawingml/2006/main">
            <a:r>
              <a:t>本页只解释结构，应用吞吐与PPA的配对结果在后续结果页集中展示。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源码：rtl/src/hpdcache_miss_handler.sv:259–280（队列接入及同拍分配）、294–309（原IDLE/SEND）。</a:t>
            </a:r>
            <a:endParaRPr b="0" noProof="1" lang="zh-CN" altLang="en-US" dirty="0" err="0"/>
          </a:p>
          <a:p xmlns:a="http://schemas.openxmlformats.org/drawingml/2006/main">
            <a:r>
              <a:t>源码：rtl/src/hpdcache_miss_issue_queue.sv:18–25（count_next及下一拍信用）；rtl/src/hpdcache_ctrl_pe.sv:848–856（发送未ready的RTAB回退）。</a:t>
            </a:r>
            <a:endParaRPr b="0" noProof="1" lang="zh-CN" altLang="en-US" dirty="0" err="0"/>
          </a:p>
          <a:p xmlns:a="http://schemas.openxmlformats.org/drawingml/2006/main">
            <a:r>
              <a:t>参考：docs/presentation/README.md 中“Miss 接收/发送解耦”准确边界。实验配置为MSHR 8项、RTAB 4项。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这一页只比较refill的准入时刻。假设t拍已有一个正常普通load hit位于S1，同时另一个miss的数据已经返回、等待refill授权。</a:t>
            </a:r>
            <a:endParaRPr b="0" noProof="1" lang="zh-CN" altLang="en-US" dirty="0" err="0"/>
          </a:p>
          <a:p xmlns:a="http://schemas.openxmlformats.org/drawingml/2006/main">
            <a:r>
              <a:t>在支持的lowLatency=1配置中，旧load的Tag和Data读取已在t-1拍完成。t拍只需按正常路径返回命中数据并退休，不产生后续S2分配、目录更新或flush工作。load仍可能更新替换状态，不能笼统说它完全不更新状态。</a:t>
            </a:r>
            <a:endParaRPr b="0" noProof="1" lang="zh-CN" altLang="en-US" dirty="0" err="0"/>
          </a:p>
          <a:p xmlns:a="http://schemas.openxmlformats.org/drawingml/2006/main">
            <a:r>
              <a:t>原调度要求S1空闲，t拍继续等待，t+1授权，t+2写Data并返回miss数据，t+3写Tag/目录。</a:t>
            </a:r>
            <a:endParaRPr b="0" noProof="1" lang="zh-CN" altLang="en-US" dirty="0" err="0"/>
          </a:p>
          <a:p xmlns:a="http://schemas.openxmlformats.org/drawingml/2006/main">
            <a:r>
              <a:t>提前授权允许t拍旧hit返回与MSHR确认同拍发生。t+1才开始写回填Data，t+2写Tag/目录，因此这一满足条件的机会去掉了一拍授权等待。</a:t>
            </a:r>
            <a:endParaRPr b="0" noProof="1" lang="zh-CN" altLang="en-US" dirty="0" err="0"/>
          </a:p>
          <a:p xmlns:a="http://schemas.openxmlformats.org/drawingml/2006/main">
            <a:r>
              <a:t>授权拍只读取并确认既有MSHR，不写Cache Data或目录。旧hit响应与miss响应发生在不同周期，不是两个响应同时占用一个返回口。S0在授权拍不接收新core或replay请求。</a:t>
            </a:r>
            <a:endParaRPr b="0" noProof="1" lang="zh-CN" altLang="en-US" dirty="0" err="0"/>
          </a:p>
          <a:p xmlns:a="http://schemas.openxmlformats.org/drawingml/2006/main">
            <a:r>
              <a:t>图中的可恢复流水线表示refill释放控制，不保证下一笔core请求立即被接收；RTAB和其他原有仲裁条件仍生效。</a:t>
            </a:r>
            <a:endParaRPr b="0" noProof="1" lang="zh-CN" altLang="en-US" dirty="0" err="0"/>
          </a:p>
          <a:p xmlns:a="http://schemas.openxmlformats.org/drawingml/2006/main">
            <a:r>
              <a:t>限制条件：普通cacheable core load hit，非replay，无error/abort/ECC恢复，无RTAB分配；无已有或新产生的S2 MSHR分配、目录更新或flush工作；无CMO、UC、error、flush竞争；返回元数据为成功数据refill而非invalidation。</a:t>
            </a:r>
            <a:endParaRPr b="0" noProof="1" lang="zh-CN" altLang="en-US" dirty="0" err="0"/>
          </a:p>
          <a:p xmlns:a="http://schemas.openxmlformats.org/drawingml/2006/main">
            <a:r>
              <a:t>静态支持范围：lowLatency=1、MSHR寄存器实现、response feedthrough、单拍整行回填、单word core请求。其他配置回退原路径；与refill-direct组合不在此原型范围。</a:t>
            </a:r>
            <a:endParaRPr b="0" noProof="1" lang="zh-CN" altLang="en-US" dirty="0" err="0"/>
          </a:p>
          <a:p xmlns:a="http://schemas.openxmlformats.org/drawingml/2006/main">
            <a:r>
              <a:t>为什么没有放开store：store可能带S2 dirty/写策略目录更新、写缓冲或flush工作，不能只凭hit就交出流水线。store当前S1写Data，而refill下一拍才写Data，二者并非天然在授权拍抢Data端口。部分简单store有扩展可能，但尚未纳入本项支持与专项验证。</a:t>
            </a:r>
            <a:endParaRPr b="0" noProof="1" lang="zh-CN" altLang="en-US" dirty="0" err="0"/>
          </a:p>
          <a:p xmlns:a="http://schemas.openxmlformats.org/drawingml/2006/main">
            <a:r>
              <a:t>本图展示一次机会，不表示每个miss都省一拍。累计应用收益需通过完整应用周期测量。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源码：rtl/src/hpdcache_ctrl_pe.sv:1351–1364（提前授权与S2排空条件）。</a:t>
            </a:r>
            <a:endParaRPr b="0" noProof="1" lang="zh-CN" altLang="en-US" dirty="0" err="0"/>
          </a:p>
          <a:p xmlns:a="http://schemas.openxmlformats.org/drawingml/2006/main">
            <a:r>
              <a:t>源码：rtl/src/hpdcache_miss_handler.sv:408–430（授权）、500–505及538–554（Data/目录分拍）。</a:t>
            </a:r>
            <a:endParaRPr b="0" noProof="1" lang="zh-CN" altLang="en-US" dirty="0" err="0"/>
          </a:p>
          <a:p xmlns:a="http://schemas.openxmlformats.org/drawingml/2006/main">
            <a:r>
              <a:t>机制与支持边界：rtl/tb/tests/miss_issue_research/EARLY_GRANT.md。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前一项优化只缩短refill授权等待，Data和目录写入仍然分拍进行。这一页继续利用两拍中不同阵列的空闲时段。A表示当前正在回填的请求，B表示新来的普通load，不预先假设B命中。</a:t>
            </a:r>
            <a:endParaRPr b="0" noProof="1" lang="zh-CN" altLang="en-US" dirty="0" err="0"/>
          </a:p>
          <a:p xmlns:a="http://schemas.openxmlformats.org/drawingml/2006/main">
            <a:r>
              <a:t>t拍是A的DATA阶段，Data阵列写A，Tag阵列原本空闲。满足安全条件时，S0接纳B，只读B的Tag并检查MSHR，同时将完整请求保存在既有S1寄存器。</a:t>
            </a:r>
            <a:endParaRPr b="0" noProof="1" lang="zh-CN" altLang="en-US" dirty="0" err="0"/>
          </a:p>
          <a:p xmlns:a="http://schemas.openxmlformats.org/drawingml/2006/main">
            <a:r>
              <a:t>t+1拍是A的DIR阶段，Tag阵列写A，Data阵列原本空闲。此时从保存的S1请求选择B的set、word、size来读Data，而不是使用新的S0地址。</a:t>
            </a:r>
            <a:endParaRPr b="0" noProof="1" lang="zh-CN" altLang="en-US" dirty="0" err="0"/>
          </a:p>
          <a:p xmlns:a="http://schemas.openxmlformats.org/drawingml/2006/main">
            <a:r>
              <a:t>t+1保持B，不返回响应、不分配RTAB/MSHR，也不产生S2工作。t+2回填释放流水线后，原有S1逻辑处理B：命中就正常响应，miss或其他条件继续走原来的分配、重放、异常等路径。</a:t>
            </a:r>
            <a:endParaRPr b="0" noProof="1" lang="zh-CN" altLang="en-US" dirty="0" err="0"/>
          </a:p>
          <a:p xmlns:a="http://schemas.openxmlformats.org/drawingml/2006/main">
            <a:r>
              <a:t>基线到t+2才接纳B并读Tag/Data，t+3处理B。图中交错后B准入提前两拍、S1处理提前一拍。不能把每个候选机械计为两拍应用收益，也不能假设每次都能重叠。</a:t>
            </a:r>
            <a:endParaRPr b="0" noProof="1" lang="zh-CN" altLang="en-US" dirty="0" err="0"/>
          </a:p>
          <a:p xmlns:a="http://schemas.openxmlformats.org/drawingml/2006/main">
            <a:r>
              <a:t>硬件不预判B命中。每笔B仍只读一次Tag、一次Data，没有额外命中探测，也没有预测失败后重查Tag的路径。</a:t>
            </a:r>
            <a:endParaRPr b="0" noProof="1" lang="zh-CN" altLang="en-US" dirty="0" err="0"/>
          </a:p>
          <a:p xmlns:a="http://schemas.openxmlformats.org/drawingml/2006/main">
            <a:r>
              <a:t>新增一位refill_load_pending_q，并为Data地址添加S0/S1选择；复用既有st1_req_q与valid，不增加SRAM端口或缓存容量。具体PPA成本必须通过匹配综合及活动评估判断，不能因一位状态就宣称无成本。</a:t>
            </a:r>
            <a:endParaRPr b="0" noProof="1" lang="zh-CN" altLang="en-US" dirty="0" err="0"/>
          </a:p>
          <a:p xmlns:a="http://schemas.openxmlformats.org/drawingml/2006/main">
            <a:r>
              <a:t>可见安全条件为跨set的普通load、RTAB为空、S1/S2空闲。完整条件还包括物理寻址、需要响应、非IO、成功整行单拍回填，无replay/scrub/fence以及CMO/UC/error/flush竞争。</a:t>
            </a:r>
            <a:endParaRPr b="0" noProof="1" lang="zh-CN" altLang="en-US" dirty="0" err="0"/>
          </a:p>
          <a:p xmlns:a="http://schemas.openxmlformats.org/drawingml/2006/main">
            <a:r>
              <a:t>当B不满足条件时沿用原调度。DIR拍禁止提前消费B；下一正常S1仍处理hit_fetch、dirty、策略转换、MSHR命中、ECC等条件。</a:t>
            </a:r>
            <a:endParaRPr b="0" noProof="1" lang="zh-CN" altLang="en-US" dirty="0" err="0"/>
          </a:p>
          <a:p xmlns:a="http://schemas.openxmlformats.org/drawingml/2006/main">
            <a:r>
              <a:t>静态支持lowLatency、MSHR regbank、response feedthrough、reqWords=1、clWords=accessWords、memory/access等宽；启用direct或连续refill pipeline时，本功能在顶层连接中禁用。</a:t>
            </a:r>
            <a:endParaRPr b="0" noProof="1" lang="zh-CN" altLang="en-US" dirty="0" err="0"/>
          </a:p>
          <a:p xmlns:a="http://schemas.openxmlformats.org/drawingml/2006/main">
            <a:r>
              <a:t>实现依赖当前SRAM wrapper写入时保持先前读输出，使B的Tag/ECC结果跨过A的目录写入。目标物理SRAM宏必须确认或适配该语义。</a:t>
            </a:r>
            <a:endParaRPr b="0" noProof="1" lang="zh-CN" altLang="en-US" dirty="0" err="0"/>
          </a:p>
          <a:p xmlns:a="http://schemas.openxmlformats.org/drawingml/2006/main">
            <a:r>
              <a:t>此项对照保留前两项优化，仅切换RefillLoadOverlapEnable。不是连续refill流水化，也不是新增双端口。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源码：rtl/src/hpdcache_ctrl.sv:656–672（候选及延后Data条件）、1081–1086（S0/S1地址选择）。</a:t>
            </a:r>
            <a:endParaRPr b="0" noProof="1" lang="zh-CN" altLang="en-US" dirty="0" err="0"/>
          </a:p>
          <a:p xmlns:a="http://schemas.openxmlformats.org/drawingml/2006/main">
            <a:r>
              <a:t>源码：rtl/src/hpdcache_ctrl_pe.sv:419–435（DATA准入和DIR保持）。</a:t>
            </a:r>
            <a:endParaRPr b="0" noProof="1" lang="zh-CN" altLang="en-US" dirty="0" err="0"/>
          </a:p>
          <a:p xmlns:a="http://schemas.openxmlformats.org/drawingml/2006/main">
            <a:r>
              <a:t>机制与边界：rtl/tb/tests/miss_issue_research/REFILL_LOAD_OVERLAP.md。</a:t>
            </a:r>
            <a:endParaRPr b="0" noProof="1" lang="zh-CN" altLang="en-US" dirty="0" err="0"/>
          </a:p>
          <a:p xmlns:a="http://schemas.openxmlformats.org/drawingml/2006/main">
            <a:r>
              <a:t>调度依据：rtl/tb/tests/miss_issue_research/SCHEDULING_OPPORTUNITIES.md；相关先例见SCHEDULING_REFERENCES.md。本页不主张分离Tag/Data资源调度是全新思想。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c82ad8917498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160e1cfff46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7b9897b7042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2d10a49bd4e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ca6803beb498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3a766fda747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774444-21A5-4F8E-B0A9-B9CAC1E31D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B0F3E7-9146-42AD-89C0-0B728CAF7F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22C431-7E88-4BB8-BCE2-288CB4303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E76686-B08E-4A8E-AE98-4E90F86650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AC7B40-488A-4A9C-8D4F-4AA5957391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120A779-CD00-4C29-A592-B26AD6B0C5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F4F050-C7BE-4BCF-8BEE-2E2ECC3655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C86D5A0-417E-4E83-AE97-88DEDCFE77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89C3FD-488C-40BE-A2B9-ED116B66CA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82D9D2-C100-47B9-8920-E63910333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b36ea32f874611" /><Relationship Type="http://schemas.openxmlformats.org/officeDocument/2006/relationships/slideLayout" Target="/ppt/slideLayouts/slideLayout1.xml" Id="R1aa3bc00f096499e" /><Relationship Type="http://schemas.openxmlformats.org/officeDocument/2006/relationships/slideLayout" Target="/ppt/slideLayouts/slideLayout2.xml" Id="R24ebfd4ce0854116" /><Relationship Type="http://schemas.openxmlformats.org/officeDocument/2006/relationships/slideLayout" Target="/ppt/slideLayouts/slideLayout3.xml" Id="Ra35226f6869d41a2" /><Relationship Type="http://schemas.openxmlformats.org/officeDocument/2006/relationships/slideLayout" Target="/ppt/slideLayouts/slideLayout4.xml" Id="R40f523163d2545cc" /><Relationship Type="http://schemas.openxmlformats.org/officeDocument/2006/relationships/slideLayout" Target="/ppt/slideLayouts/slideLayout5.xml" Id="R325a58412e8c4126" /><Relationship Type="http://schemas.openxmlformats.org/officeDocument/2006/relationships/slideLayout" Target="/ppt/slideLayouts/slideLayout6.xml" Id="R2633093c2a2342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a3bc00f096499e"/>
    <p:sldLayoutId xmlns:r="http://schemas.openxmlformats.org/officeDocument/2006/relationships" id="2147483650" r:id="R24ebfd4ce0854116"/>
    <p:sldLayoutId xmlns:r="http://schemas.openxmlformats.org/officeDocument/2006/relationships" id="2147483651" r:id="Ra35226f6869d41a2"/>
    <p:sldLayoutId xmlns:r="http://schemas.openxmlformats.org/officeDocument/2006/relationships" id="2147483652" r:id="R40f523163d2545cc"/>
    <p:sldLayoutId xmlns:r="http://schemas.openxmlformats.org/officeDocument/2006/relationships" id="2147483653" r:id="R325a58412e8c4126"/>
    <p:sldLayoutId xmlns:r="http://schemas.openxmlformats.org/officeDocument/2006/relationships" id="2147483654" r:id="R2633093c2a2342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 noProof="1" lang="zh-CN" altLang="en-US" dirty="0" err="0" b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 noProof="1" lang="zh-CN" altLang="en-US" dirty="0" err="0" b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b8bbe0fd8d4174" /><Relationship Type="http://schemas.openxmlformats.org/officeDocument/2006/relationships/notesSlide" Target="/ppt/notesSlides/notesSlide1.xml" Id="R1ff39568cd2542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cd54f9f9a4712" /><Relationship Type="http://schemas.openxmlformats.org/officeDocument/2006/relationships/notesSlide" Target="/ppt/notesSlides/notesSlide2.xml" Id="R6d3a8f6743d046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dbd04ecf54616" /><Relationship Type="http://schemas.openxmlformats.org/officeDocument/2006/relationships/notesSlide" Target="/ppt/notesSlides/notesSlide3.xml" Id="R583fecea68e347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title">
            <a:extLst xmlns:a="http://schemas.openxmlformats.org/drawingml/2006/main">
              <a:ext uri="{FF2B5EF4-FFF2-40B4-BE49-F238E27FC236}">
                <a16:creationId xmlns:a16="http://schemas.microsoft.com/office/drawing/2014/main" id="{2BC1AEF2-0550-4165-AAC1-5B840AE7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改动一：miss 接收与发送解耦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5A4E34-A439-4F0F-9BDC-3248FE5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发送端短时受阻时，用有限队列继续接纳 miss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EC71226-1EAE-4816-8982-5ECC4AEA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B613B51-1DB3-4A4C-84E0-9D3301E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5708088-DF94-4FF9-81EE-4C232E8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MSHR 8 项 / RTAB 4 项保持不变；FIFO 只存行地址与 MSHR 编号，每项已拥有一个 MSHR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086BD9-E60D-4C07-8315-44277CB3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b="0" noProof="1" lang="zh-CN" altLang="en-US" dirty="0" err="0"/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30AC73DD-6007-434D-B06A-629A049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13335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efore-title">
            <a:extLst xmlns:a="http://schemas.openxmlformats.org/drawingml/2006/main">
              <a:ext uri="{FF2B5EF4-FFF2-40B4-BE49-F238E27FC236}">
                <a16:creationId xmlns:a16="http://schemas.microsoft.com/office/drawing/2014/main" id="{D80D5EC0-7246-49EB-A4E1-9D7E9493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原设计：发送状态限制准入</a:t>
            </a:r>
            <a:endParaRPr b="0" noProof="1" lang="zh-CN" altLang="en-US" dirty="0" err="0"/>
          </a:p>
        </p:txBody>
      </p:sp>
      <p:sp>
        <p:nvSpPr>
          <p:cNvPr id="9" name="after-title">
            <a:extLst xmlns:a="http://schemas.openxmlformats.org/drawingml/2006/main">
              <a:ext uri="{FF2B5EF4-FFF2-40B4-BE49-F238E27FC236}">
                <a16:creationId xmlns:a16="http://schemas.microsoft.com/office/drawing/2014/main" id="{A8D66EDD-ADDB-45B7-99E1-A39F56D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97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修改后：队列吸收短时反压</a:t>
            </a:r>
            <a:endParaRPr b="0" noProof="1" lang="zh-CN" altLang="en-US" dirty="0" err="0"/>
          </a:p>
        </p:txBody>
      </p:sp>
      <p:sp>
        <p:nvSpPr>
          <p:cNvPr id="10" name="before-ready">
            <a:extLst xmlns:a="http://schemas.openxmlformats.org/drawingml/2006/main">
              <a:ext uri="{FF2B5EF4-FFF2-40B4-BE49-F238E27FC236}">
                <a16:creationId xmlns:a16="http://schemas.microsoft.com/office/drawing/2014/main" id="{1BF34937-92B1-40DF-BBBE-38FB46C0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SEND 期间，准入 ready = 0</a:t>
            </a:r>
            <a:endParaRPr b="0" noProof="1" lang="zh-CN" altLang="en-US" dirty="0" err="0"/>
          </a:p>
        </p:txBody>
      </p:sp>
      <p:sp>
        <p:nvSpPr>
          <p:cNvPr id="11" name="after-ready">
            <a:extLst xmlns:a="http://schemas.openxmlformats.org/drawingml/2006/main">
              <a:ext uri="{FF2B5EF4-FFF2-40B4-BE49-F238E27FC236}">
                <a16:creationId xmlns:a16="http://schemas.microsoft.com/office/drawing/2014/main" id="{AAD0DE37-9DA5-4333-ACEB-47CF7EE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准入 ready 按下一拍剩余信用判断</a:t>
            </a:r>
            <a:endParaRPr b="0" noProof="1" lang="zh-CN" altLang="en-US" dirty="0" err="0"/>
          </a:p>
        </p:txBody>
      </p:sp>
      <p:sp>
        <p:nvSpPr>
          <p:cNvPr id="12" name="before-admit">
            <a:extLst xmlns:a="http://schemas.openxmlformats.org/drawingml/2006/main">
              <a:ext uri="{FF2B5EF4-FFF2-40B4-BE49-F238E27FC236}">
                <a16:creationId xmlns:a16="http://schemas.microsoft.com/office/drawing/2014/main" id="{62A9AC23-8247-4141-BC5C-1CB687EE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3" name="before-admit-label">
            <a:extLst xmlns:a="http://schemas.openxmlformats.org/drawingml/2006/main">
              <a:ext uri="{FF2B5EF4-FFF2-40B4-BE49-F238E27FC236}">
                <a16:creationId xmlns:a16="http://schemas.microsoft.com/office/drawing/2014/main" id="{31B8971F-5527-419B-97B7-DA12CC90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S1 准入 / S2 分配</a:t>
            </a:r>
            <a:endParaRPr b="0" noProof="1" lang="zh-CN" altLang="en-US" dirty="0" err="0"/>
          </a:p>
        </p:txBody>
      </p:sp>
      <p:sp>
        <p:nvSpPr>
          <p:cNvPr id="14" name="before-mshr">
            <a:extLst xmlns:a="http://schemas.openxmlformats.org/drawingml/2006/main">
              <a:ext uri="{FF2B5EF4-FFF2-40B4-BE49-F238E27FC236}">
                <a16:creationId xmlns:a16="http://schemas.microsoft.com/office/drawing/2014/main" id="{4E14F9B0-1C57-4206-A14E-939D3B58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3370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5" name="before-mshr-label">
            <a:extLst xmlns:a="http://schemas.openxmlformats.org/drawingml/2006/main">
              <a:ext uri="{FF2B5EF4-FFF2-40B4-BE49-F238E27FC236}">
                <a16:creationId xmlns:a16="http://schemas.microsoft.com/office/drawing/2014/main" id="{FFD2F3E4-CE93-4339-A934-ABFF8333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43225"/>
            <a:ext cx="151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MSHR</a:t>
            </a:r>
            <a:endParaRPr b="0" noProof="1" lang="zh-CN" altLang="en-US" dirty="0" err="0"/>
          </a:p>
        </p:txBody>
      </p:sp>
      <p:cxnSp>
        <p:nvCxnSpPr>
          <p:cNvPr id="16" name="before-allocate">
            <a:extLst xmlns:a="http://schemas.openxmlformats.org/drawingml/2006/main">
              <a:ext uri="{FF2B5EF4-FFF2-40B4-BE49-F238E27FC236}">
                <a16:creationId xmlns:a16="http://schemas.microsoft.com/office/drawing/2014/main" id="{6AA1987A-01ED-42DD-B7C0-EB8593308F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29000" y="32289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17" name="before-allocate-label">
            <a:extLst xmlns:a="http://schemas.openxmlformats.org/drawingml/2006/main">
              <a:ext uri="{FF2B5EF4-FFF2-40B4-BE49-F238E27FC236}">
                <a16:creationId xmlns:a16="http://schemas.microsoft.com/office/drawing/2014/main" id="{838E2990-3F5C-4DF4-8AC6-CA1B2F79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分配</a:t>
            </a:r>
            <a:endParaRPr b="0" noProof="1" lang="zh-CN" altLang="en-US" dirty="0" err="0"/>
          </a:p>
        </p:txBody>
      </p:sp>
      <p:sp>
        <p:nvSpPr>
          <p:cNvPr id="18" name="after-admit">
            <a:extLst xmlns:a="http://schemas.openxmlformats.org/drawingml/2006/main">
              <a:ext uri="{FF2B5EF4-FFF2-40B4-BE49-F238E27FC236}">
                <a16:creationId xmlns:a16="http://schemas.microsoft.com/office/drawing/2014/main" id="{D0CCC3EB-D4AA-4F28-A16B-4FDC944D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9" name="after-admit-label">
            <a:extLst xmlns:a="http://schemas.openxmlformats.org/drawingml/2006/main">
              <a:ext uri="{FF2B5EF4-FFF2-40B4-BE49-F238E27FC236}">
                <a16:creationId xmlns:a16="http://schemas.microsoft.com/office/drawing/2014/main" id="{6F75D64C-9A46-455D-8020-13A469B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43225"/>
            <a:ext cx="2514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S1 准入 / S2 分配</a:t>
            </a:r>
            <a:endParaRPr b="0" noProof="1" lang="zh-CN" altLang="en-US" dirty="0" err="0"/>
          </a:p>
        </p:txBody>
      </p:sp>
      <p:sp>
        <p:nvSpPr>
          <p:cNvPr id="20" name="after-mshr">
            <a:extLst xmlns:a="http://schemas.openxmlformats.org/drawingml/2006/main">
              <a:ext uri="{FF2B5EF4-FFF2-40B4-BE49-F238E27FC236}">
                <a16:creationId xmlns:a16="http://schemas.microsoft.com/office/drawing/2014/main" id="{F5C8C4C0-209B-49E7-BBE0-9026BED6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933700"/>
            <a:ext cx="16668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1" name="after-mshr-label">
            <a:extLst xmlns:a="http://schemas.openxmlformats.org/drawingml/2006/main">
              <a:ext uri="{FF2B5EF4-FFF2-40B4-BE49-F238E27FC236}">
                <a16:creationId xmlns:a16="http://schemas.microsoft.com/office/drawing/2014/main" id="{B57D8934-A114-4FB8-A2E7-93327498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943225"/>
            <a:ext cx="151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MSHR</a:t>
            </a:r>
            <a:endParaRPr b="0" noProof="1" lang="zh-CN" altLang="en-US" dirty="0" err="0"/>
          </a:p>
        </p:txBody>
      </p:sp>
      <p:cxnSp>
        <p:nvCxnSpPr>
          <p:cNvPr id="22" name="after-allocate">
            <a:extLst xmlns:a="http://schemas.openxmlformats.org/drawingml/2006/main">
              <a:ext uri="{FF2B5EF4-FFF2-40B4-BE49-F238E27FC236}">
                <a16:creationId xmlns:a16="http://schemas.microsoft.com/office/drawing/2014/main" id="{A2A93DAC-0317-478E-94A6-F3B523C4A3A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39250" y="322897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3" name="after-allocate-label">
            <a:extLst xmlns:a="http://schemas.openxmlformats.org/drawingml/2006/main">
              <a:ext uri="{FF2B5EF4-FFF2-40B4-BE49-F238E27FC236}">
                <a16:creationId xmlns:a16="http://schemas.microsoft.com/office/drawing/2014/main" id="{CF581FA5-0417-4D4E-807D-53AD0AB4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52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分配</a:t>
            </a:r>
            <a:endParaRPr b="0" noProof="1" lang="zh-CN" altLang="en-US" dirty="0" err="0"/>
          </a:p>
        </p:txBody>
      </p:sp>
      <p:cxnSp>
        <p:nvCxnSpPr>
          <p:cNvPr id="24" name="before-save">
            <a:extLst xmlns:a="http://schemas.openxmlformats.org/drawingml/2006/main">
              <a:ext uri="{FF2B5EF4-FFF2-40B4-BE49-F238E27FC236}">
                <a16:creationId xmlns:a16="http://schemas.microsoft.com/office/drawing/2014/main" id="{BA3F0FCB-BE7B-4987-9DC2-9526EBF482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5052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5" name="before-save-label">
            <a:extLst xmlns:a="http://schemas.openxmlformats.org/drawingml/2006/main">
              <a:ext uri="{FF2B5EF4-FFF2-40B4-BE49-F238E27FC236}">
                <a16:creationId xmlns:a16="http://schemas.microsoft.com/office/drawing/2014/main" id="{8162CEED-CE41-4EBC-B27D-6A6AADAE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7187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分配同拍保存</a:t>
            </a:r>
            <a:endParaRPr b="0" noProof="1" lang="zh-CN" altLang="en-US" dirty="0" err="0"/>
          </a:p>
        </p:txBody>
      </p:sp>
      <p:cxnSp>
        <p:nvCxnSpPr>
          <p:cNvPr id="26" name="after-enqueue">
            <a:extLst xmlns:a="http://schemas.openxmlformats.org/drawingml/2006/main">
              <a:ext uri="{FF2B5EF4-FFF2-40B4-BE49-F238E27FC236}">
                <a16:creationId xmlns:a16="http://schemas.microsoft.com/office/drawing/2014/main" id="{3D7232C6-BAED-4698-9B2E-1AF41EE9259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50520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87F83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27" name="after-enqueue-label">
            <a:extLst xmlns:a="http://schemas.openxmlformats.org/drawingml/2006/main">
              <a:ext uri="{FF2B5EF4-FFF2-40B4-BE49-F238E27FC236}">
                <a16:creationId xmlns:a16="http://schemas.microsoft.com/office/drawing/2014/main" id="{82AF639A-C48C-42EA-81F4-68C1C46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71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分配同拍入队</a:t>
            </a:r>
            <a:endParaRPr b="0" noProof="1" lang="zh-CN" altLang="en-US" dirty="0" err="0"/>
          </a:p>
        </p:txBody>
      </p:sp>
      <p:sp>
        <p:nvSpPr>
          <p:cNvPr id="28" name="before-send-container">
            <a:extLst xmlns:a="http://schemas.openxmlformats.org/drawingml/2006/main">
              <a:ext uri="{FF2B5EF4-FFF2-40B4-BE49-F238E27FC236}">
                <a16:creationId xmlns:a16="http://schemas.microsoft.com/office/drawing/2014/main" id="{75FC68E6-FC69-44F7-8449-B6B296B3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9" name="before-send-title">
            <a:extLst xmlns:a="http://schemas.openxmlformats.org/drawingml/2006/main">
              <a:ext uri="{FF2B5EF4-FFF2-40B4-BE49-F238E27FC236}">
                <a16:creationId xmlns:a16="http://schemas.microsoft.com/office/drawing/2014/main" id="{B8969A49-C87B-4CB9-8227-88F9C710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4648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单项待发元数据</a:t>
            </a:r>
            <a:endParaRPr b="0" noProof="1" lang="zh-CN" altLang="en-US" dirty="0" err="0"/>
          </a:p>
        </p:txBody>
      </p:sp>
      <p:sp>
        <p:nvSpPr>
          <p:cNvPr id="30" name="before-item-a">
            <a:extLst xmlns:a="http://schemas.openxmlformats.org/drawingml/2006/main">
              <a:ext uri="{FF2B5EF4-FFF2-40B4-BE49-F238E27FC236}">
                <a16:creationId xmlns:a16="http://schemas.microsoft.com/office/drawing/2014/main" id="{33EFCD5A-C2C7-4221-80F5-02B28C2E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2228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31" name="before-item-a-label">
            <a:extLst xmlns:a="http://schemas.openxmlformats.org/drawingml/2006/main">
              <a:ext uri="{FF2B5EF4-FFF2-40B4-BE49-F238E27FC236}">
                <a16:creationId xmlns:a16="http://schemas.microsoft.com/office/drawing/2014/main" id="{653F1093-9458-4345-90EC-EE90A19D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6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A：待发送</a:t>
            </a:r>
            <a:endParaRPr b="0" noProof="1" lang="zh-CN" altLang="en-US" dirty="0" err="0"/>
          </a:p>
        </p:txBody>
      </p:sp>
      <p:sp>
        <p:nvSpPr>
          <p:cNvPr id="32" name="before-fsm">
            <a:extLst xmlns:a="http://schemas.openxmlformats.org/drawingml/2006/main">
              <a:ext uri="{FF2B5EF4-FFF2-40B4-BE49-F238E27FC236}">
                <a16:creationId xmlns:a16="http://schemas.microsoft.com/office/drawing/2014/main" id="{592C6FEE-7BAD-41E1-A735-47E75C83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71975"/>
            <a:ext cx="2228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 w="14288">
            <a:solidFill>
              <a:srgbClr val="B66A27"/>
            </a:solidFill>
            <a:prstDash val="solid"/>
          </a:ln>
        </p:spPr>
      </p:sp>
      <p:sp>
        <p:nvSpPr>
          <p:cNvPr id="33" name="before-fsm-label">
            <a:extLst xmlns:a="http://schemas.openxmlformats.org/drawingml/2006/main">
              <a:ext uri="{FF2B5EF4-FFF2-40B4-BE49-F238E27FC236}">
                <a16:creationId xmlns:a16="http://schemas.microsoft.com/office/drawing/2014/main" id="{5B3B8648-3356-4279-9759-2DAD574D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81500"/>
            <a:ext cx="2076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65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IDLE / SEND</a:t>
            </a:r>
            <a:endParaRPr b="0" noProof="1" lang="zh-CN" altLang="en-US" dirty="0" err="0"/>
          </a:p>
        </p:txBody>
      </p:sp>
      <p:sp>
        <p:nvSpPr>
          <p:cNvPr id="34" name="after-send-container">
            <a:extLst xmlns:a="http://schemas.openxmlformats.org/drawingml/2006/main">
              <a:ext uri="{FF2B5EF4-FFF2-40B4-BE49-F238E27FC236}">
                <a16:creationId xmlns:a16="http://schemas.microsoft.com/office/drawing/2014/main" id="{C230CE2B-5CDF-4889-9A26-3DA2BA36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5048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35" name="after-send-title">
            <a:extLst xmlns:a="http://schemas.openxmlformats.org/drawingml/2006/main">
              <a:ext uri="{FF2B5EF4-FFF2-40B4-BE49-F238E27FC236}">
                <a16:creationId xmlns:a16="http://schemas.microsoft.com/office/drawing/2014/main" id="{51F75221-5B94-4C2E-9E53-5B61C9B8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0025"/>
            <a:ext cx="4743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2-entry 发送元数据 FIFO</a:t>
            </a:r>
            <a:endParaRPr b="0" noProof="1" lang="zh-CN" altLang="en-US" dirty="0" err="0"/>
          </a:p>
        </p:txBody>
      </p:sp>
      <p:sp>
        <p:nvSpPr>
          <p:cNvPr id="36" name="after-item-a">
            <a:extLst xmlns:a="http://schemas.openxmlformats.org/drawingml/2006/main">
              <a:ext uri="{FF2B5EF4-FFF2-40B4-BE49-F238E27FC236}">
                <a16:creationId xmlns:a16="http://schemas.microsoft.com/office/drawing/2014/main" id="{D6C37734-8191-4652-B9D8-E123B589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71975"/>
            <a:ext cx="22764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37" name="after-item-a-label">
            <a:extLst xmlns:a="http://schemas.openxmlformats.org/drawingml/2006/main">
              <a:ext uri="{FF2B5EF4-FFF2-40B4-BE49-F238E27FC236}">
                <a16:creationId xmlns:a16="http://schemas.microsoft.com/office/drawing/2014/main" id="{3DD2431D-6BA4-44B0-8557-FD6BF80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81500"/>
            <a:ext cx="2124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A：待发送</a:t>
            </a:r>
            <a:endParaRPr b="0" noProof="1" lang="zh-CN" altLang="en-US" dirty="0" err="0"/>
          </a:p>
        </p:txBody>
      </p:sp>
      <p:sp>
        <p:nvSpPr>
          <p:cNvPr id="38" name="after-item-b">
            <a:extLst xmlns:a="http://schemas.openxmlformats.org/drawingml/2006/main">
              <a:ext uri="{FF2B5EF4-FFF2-40B4-BE49-F238E27FC236}">
                <a16:creationId xmlns:a16="http://schemas.microsoft.com/office/drawing/2014/main" id="{60625AA8-1410-48FC-A510-3AC3D099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71975"/>
            <a:ext cx="22764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39" name="after-item-b-label">
            <a:extLst xmlns:a="http://schemas.openxmlformats.org/drawingml/2006/main">
              <a:ext uri="{FF2B5EF4-FFF2-40B4-BE49-F238E27FC236}">
                <a16:creationId xmlns:a16="http://schemas.microsoft.com/office/drawing/2014/main" id="{15524F2B-31D2-4EDA-A06E-72A89DEC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381500"/>
            <a:ext cx="2124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B：可接纳</a:t>
            </a:r>
            <a:endParaRPr b="0" noProof="1" lang="zh-CN" altLang="en-US" dirty="0" err="0"/>
          </a:p>
        </p:txBody>
      </p:sp>
      <p:cxnSp>
        <p:nvCxnSpPr>
          <p:cNvPr id="40" name="before-send">
            <a:extLst xmlns:a="http://schemas.openxmlformats.org/drawingml/2006/main">
              <a:ext uri="{FF2B5EF4-FFF2-40B4-BE49-F238E27FC236}">
                <a16:creationId xmlns:a16="http://schemas.microsoft.com/office/drawing/2014/main" id="{C3B312DA-F987-4B24-87A3-F1F8C8E357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38500" y="48101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6B9FB7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1" name="before-handshake">
            <a:extLst xmlns:a="http://schemas.openxmlformats.org/drawingml/2006/main">
              <a:ext uri="{FF2B5EF4-FFF2-40B4-BE49-F238E27FC236}">
                <a16:creationId xmlns:a16="http://schemas.microsoft.com/office/drawing/2014/main" id="{D80D0E54-FAF2-48ED-B884-ED54EC97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38700"/>
            <a:ext cx="2257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valid / ready 握手</a:t>
            </a:r>
            <a:endParaRPr b="0" noProof="1" lang="zh-CN" altLang="en-US" dirty="0" err="0"/>
          </a:p>
        </p:txBody>
      </p:sp>
      <p:cxnSp>
        <p:nvCxnSpPr>
          <p:cNvPr id="42" name="after-send">
            <a:extLst xmlns:a="http://schemas.openxmlformats.org/drawingml/2006/main">
              <a:ext uri="{FF2B5EF4-FFF2-40B4-BE49-F238E27FC236}">
                <a16:creationId xmlns:a16="http://schemas.microsoft.com/office/drawing/2014/main" id="{20F9381E-EBE1-4708-8EB5-77F66245A2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096375" y="48101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087F83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43" name="after-handshake">
            <a:extLst xmlns:a="http://schemas.openxmlformats.org/drawingml/2006/main">
              <a:ext uri="{FF2B5EF4-FFF2-40B4-BE49-F238E27FC236}">
                <a16:creationId xmlns:a16="http://schemas.microsoft.com/office/drawing/2014/main" id="{25D3881D-C14B-431A-A1E1-64733305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838700"/>
            <a:ext cx="2314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valid / ready 握手</a:t>
            </a:r>
            <a:endParaRPr b="0" noProof="1" lang="zh-CN" altLang="en-US" dirty="0" err="0"/>
          </a:p>
        </p:txBody>
      </p:sp>
      <p:sp>
        <p:nvSpPr>
          <p:cNvPr id="44" name="before-memory">
            <a:extLst xmlns:a="http://schemas.openxmlformats.org/drawingml/2006/main">
              <a:ext uri="{FF2B5EF4-FFF2-40B4-BE49-F238E27FC236}">
                <a16:creationId xmlns:a16="http://schemas.microsoft.com/office/drawing/2014/main" id="{902034F0-E5FC-491E-8596-34089F64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4953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45" name="before-memory-label">
            <a:extLst xmlns:a="http://schemas.openxmlformats.org/drawingml/2006/main">
              <a:ext uri="{FF2B5EF4-FFF2-40B4-BE49-F238E27FC236}">
                <a16:creationId xmlns:a16="http://schemas.microsoft.com/office/drawing/2014/main" id="{473CA3B3-B29C-4CDF-B201-417CC436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800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下一级读请求接口</a:t>
            </a:r>
            <a:endParaRPr b="0" noProof="1" lang="zh-CN" altLang="en-US" dirty="0" err="0"/>
          </a:p>
        </p:txBody>
      </p:sp>
      <p:sp>
        <p:nvSpPr>
          <p:cNvPr id="46" name="after-memory">
            <a:extLst xmlns:a="http://schemas.openxmlformats.org/drawingml/2006/main">
              <a:ext uri="{FF2B5EF4-FFF2-40B4-BE49-F238E27FC236}">
                <a16:creationId xmlns:a16="http://schemas.microsoft.com/office/drawing/2014/main" id="{F43C3EBC-6AC9-49D8-9275-84FAC03E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5048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47" name="after-memory-label">
            <a:extLst xmlns:a="http://schemas.openxmlformats.org/drawingml/2006/main">
              <a:ext uri="{FF2B5EF4-FFF2-40B4-BE49-F238E27FC236}">
                <a16:creationId xmlns:a16="http://schemas.microsoft.com/office/drawing/2014/main" id="{F036937B-0566-42F4-928A-8F18210B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72075"/>
            <a:ext cx="4895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下一级读请求接口</a:t>
            </a:r>
            <a:endParaRPr b="0" noProof="1" lang="zh-CN" altLang="en-US" dirty="0" err="0"/>
          </a:p>
        </p:txBody>
      </p:sp>
      <p:sp>
        <p:nvSpPr>
          <p:cNvPr id="48" name="before-outcome">
            <a:extLst xmlns:a="http://schemas.openxmlformats.org/drawingml/2006/main">
              <a:ext uri="{FF2B5EF4-FFF2-40B4-BE49-F238E27FC236}">
                <a16:creationId xmlns:a16="http://schemas.microsoft.com/office/drawing/2014/main" id="{CF97A215-B09C-45F0-AD48-A2E06AD2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527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A 等待发送时，B 可能进入 RTAB 等待</a:t>
            </a:r>
            <a:endParaRPr b="0" noProof="1" lang="zh-CN" altLang="en-US" dirty="0" err="0"/>
          </a:p>
        </p:txBody>
      </p:sp>
      <p:sp>
        <p:nvSpPr>
          <p:cNvPr id="49" name="after-outcome">
            <a:extLst xmlns:a="http://schemas.openxmlformats.org/drawingml/2006/main">
              <a:ext uri="{FF2B5EF4-FFF2-40B4-BE49-F238E27FC236}">
                <a16:creationId xmlns:a16="http://schemas.microsoft.com/office/drawing/2014/main" id="{37EE0752-E00A-4AA3-B055-E9B9FACC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62625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有信用时可先接纳 B，队列满时仍等待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1331953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9AD52A0A-8287-4E0D-99C7-E4D55D79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改动二：refill 提前授权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56D2656-63B5-42DF-940B-B2604F2D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普通 load hit 完成响应时，同拍完成 refill 授权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0FAF76A-0569-494F-BAD4-DE5043CC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68D079A-0BD9-450F-9B5A-7D8C46D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0E34951-BD81-4B04-A56A-B8D329B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授权拍确认 MSHR，Data 与 Tag 仍分拍写入；store / AMO 等请求沿用原调度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B37929-CCE0-4FF8-9C57-B7D8EF9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b="0" noProof="1" lang="zh-CN" altLang="en-US" dirty="0" err="0"/>
          </a:p>
        </p:txBody>
      </p:sp>
      <p:sp>
        <p:nvSpPr>
          <p:cNvPr id="7" name="mechanism-explanation">
            <a:extLst xmlns:a="http://schemas.openxmlformats.org/drawingml/2006/main">
              <a:ext uri="{FF2B5EF4-FFF2-40B4-BE49-F238E27FC236}">
                <a16:creationId xmlns:a16="http://schemas.microsoft.com/office/drawing/2014/main" id="{23121E04-B911-4A58-B28F-33604481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2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load 的 SRAM 读取已结束，回填写入从授权后的下一拍开始。</a:t>
            </a:r>
            <a:endParaRPr b="0" noProof="1" lang="zh-CN" altLang="en-US" dirty="0" err="0"/>
          </a:p>
        </p:txBody>
      </p:sp>
      <p:sp>
        <p:nvSpPr>
          <p:cNvPr id="8" name="cycle-0">
            <a:extLst xmlns:a="http://schemas.openxmlformats.org/drawingml/2006/main">
              <a:ext uri="{FF2B5EF4-FFF2-40B4-BE49-F238E27FC236}">
                <a16:creationId xmlns:a16="http://schemas.microsoft.com/office/drawing/2014/main" id="{5B71B2FB-2CF5-433A-9AF7-D1742BB9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4795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t</a:t>
            </a:r>
            <a:endParaRPr b="0" noProof="1" lang="zh-CN" altLang="en-US" dirty="0" err="0"/>
          </a:p>
        </p:txBody>
      </p:sp>
      <p:sp>
        <p:nvSpPr>
          <p:cNvPr id="9" name="cycle-1">
            <a:extLst xmlns:a="http://schemas.openxmlformats.org/drawingml/2006/main">
              <a:ext uri="{FF2B5EF4-FFF2-40B4-BE49-F238E27FC236}">
                <a16:creationId xmlns:a16="http://schemas.microsoft.com/office/drawing/2014/main" id="{DC345D24-EE32-4598-A71A-A12534A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t+1</a:t>
            </a:r>
            <a:endParaRPr b="0" noProof="1" lang="zh-CN" altLang="en-US" dirty="0" err="0"/>
          </a:p>
        </p:txBody>
      </p:sp>
      <p:sp>
        <p:nvSpPr>
          <p:cNvPr id="10" name="cycle-2">
            <a:extLst xmlns:a="http://schemas.openxmlformats.org/drawingml/2006/main">
              <a:ext uri="{FF2B5EF4-FFF2-40B4-BE49-F238E27FC236}">
                <a16:creationId xmlns:a16="http://schemas.microsoft.com/office/drawing/2014/main" id="{D0B798AC-FFC2-4886-B767-3B7BB74E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64795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t+2</a:t>
            </a:r>
            <a:endParaRPr b="0" noProof="1" lang="zh-CN" altLang="en-US" dirty="0" err="0"/>
          </a:p>
        </p:txBody>
      </p:sp>
      <p:sp>
        <p:nvSpPr>
          <p:cNvPr id="11" name="cycle-3">
            <a:extLst xmlns:a="http://schemas.openxmlformats.org/drawingml/2006/main">
              <a:ext uri="{FF2B5EF4-FFF2-40B4-BE49-F238E27FC236}">
                <a16:creationId xmlns:a16="http://schemas.microsoft.com/office/drawing/2014/main" id="{E9EDE51D-AC3C-4815-B60C-E7918F8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t+3</a:t>
            </a:r>
            <a:endParaRPr b="0" noProof="1" lang="zh-CN" altLang="en-US" dirty="0" err="0"/>
          </a:p>
        </p:txBody>
      </p:sp>
      <p:sp>
        <p:nvSpPr>
          <p:cNvPr id="12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1734DCC9-E807-413D-B3B7-73C85ACE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44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原调度</a:t>
            </a:r>
            <a:endParaRPr b="0" noProof="1" lang="zh-CN" altLang="en-US" dirty="0" err="0"/>
          </a:p>
        </p:txBody>
      </p:sp>
      <p:sp>
        <p:nvSpPr>
          <p:cNvPr id="13" name="after-label">
            <a:extLst xmlns:a="http://schemas.openxmlformats.org/drawingml/2006/main">
              <a:ext uri="{FF2B5EF4-FFF2-40B4-BE49-F238E27FC236}">
                <a16:creationId xmlns:a16="http://schemas.microsoft.com/office/drawing/2014/main" id="{8909A476-B195-4D9E-9EA6-BD9AA0B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48175"/>
            <a:ext cx="144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提前授权</a:t>
            </a:r>
            <a:endParaRPr b="0" noProof="1" lang="zh-CN" altLang="en-US" dirty="0" err="0"/>
          </a:p>
        </p:txBody>
      </p:sp>
      <p:sp>
        <p:nvSpPr>
          <p:cNvPr id="14" name="before-0">
            <a:extLst xmlns:a="http://schemas.openxmlformats.org/drawingml/2006/main">
              <a:ext uri="{FF2B5EF4-FFF2-40B4-BE49-F238E27FC236}">
                <a16:creationId xmlns:a16="http://schemas.microsoft.com/office/drawing/2014/main" id="{C189A7A5-8E5C-420D-BAEE-92B99D6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7657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9"/>
          </a:solidFill>
          <a:ln xmlns:a="http://schemas.openxmlformats.org/drawingml/2006/main" w="14288">
            <a:solidFill>
              <a:srgbClr val="B66A27"/>
            </a:solidFill>
            <a:prstDash val="solid"/>
          </a:ln>
        </p:spPr>
      </p:sp>
      <p:sp>
        <p:nvSpPr>
          <p:cNvPr id="15" name="before-0-text1">
            <a:extLst xmlns:a="http://schemas.openxmlformats.org/drawingml/2006/main">
              <a:ext uri="{FF2B5EF4-FFF2-40B4-BE49-F238E27FC236}">
                <a16:creationId xmlns:a16="http://schemas.microsoft.com/office/drawing/2014/main" id="{404930D7-4550-4A30-8948-9D3C52B8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62300"/>
            <a:ext cx="2066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Hit 返回</a:t>
            </a:r>
            <a:endParaRPr b="0" noProof="1" lang="zh-CN" altLang="en-US" dirty="0" err="0"/>
          </a:p>
        </p:txBody>
      </p:sp>
      <p:sp>
        <p:nvSpPr>
          <p:cNvPr id="16" name="before-0-text2">
            <a:extLst xmlns:a="http://schemas.openxmlformats.org/drawingml/2006/main">
              <a:ext uri="{FF2B5EF4-FFF2-40B4-BE49-F238E27FC236}">
                <a16:creationId xmlns:a16="http://schemas.microsoft.com/office/drawing/2014/main" id="{3642B0E9-E75D-4BA7-9542-88936C5B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495675"/>
            <a:ext cx="2066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B66A27"/>
                </a:solidFill>
                <a:latin typeface="Noto Sans CJK SC"/>
                <a:ea typeface="Noto Sans CJK SC"/>
                <a:cs typeface="Noto Sans CJK SC"/>
              </a:rPr>
              <a:t>Refill 等待</a:t>
            </a:r>
            <a:endParaRPr b="0" noProof="1" lang="zh-CN" altLang="en-US" dirty="0" err="0"/>
          </a:p>
        </p:txBody>
      </p:sp>
      <p:sp>
        <p:nvSpPr>
          <p:cNvPr id="17" name="before-1">
            <a:extLst xmlns:a="http://schemas.openxmlformats.org/drawingml/2006/main">
              <a:ext uri="{FF2B5EF4-FFF2-40B4-BE49-F238E27FC236}">
                <a16:creationId xmlns:a16="http://schemas.microsoft.com/office/drawing/2014/main" id="{238DDD07-1BE1-4CAA-8A2D-6C25A058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7657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8" name="before-1-text">
            <a:extLst xmlns:a="http://schemas.openxmlformats.org/drawingml/2006/main">
              <a:ext uri="{FF2B5EF4-FFF2-40B4-BE49-F238E27FC236}">
                <a16:creationId xmlns:a16="http://schemas.microsoft.com/office/drawing/2014/main" id="{27FB86EE-3702-4A93-BFCE-0BA83794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Refill 授权</a:t>
            </a:r>
            <a:endParaRPr b="0" noProof="1" lang="zh-CN" altLang="en-US" dirty="0" err="0"/>
          </a:p>
        </p:txBody>
      </p:sp>
      <p:sp>
        <p:nvSpPr>
          <p:cNvPr id="19" name="before-2">
            <a:extLst xmlns:a="http://schemas.openxmlformats.org/drawingml/2006/main">
              <a:ext uri="{FF2B5EF4-FFF2-40B4-BE49-F238E27FC236}">
                <a16:creationId xmlns:a16="http://schemas.microsoft.com/office/drawing/2014/main" id="{E3959C2A-C422-4F5F-AA6A-6458F81B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7657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0" name="before-2-text">
            <a:extLst xmlns:a="http://schemas.openxmlformats.org/drawingml/2006/main">
              <a:ext uri="{FF2B5EF4-FFF2-40B4-BE49-F238E27FC236}">
                <a16:creationId xmlns:a16="http://schemas.microsoft.com/office/drawing/2014/main" id="{316B87E6-2014-4F40-A60A-DCA2581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写 Data</a:t>
            </a:r>
            <a:endParaRPr b="0" noProof="1" lang="zh-CN" altLang="en-US" dirty="0" err="0"/>
          </a:p>
        </p:txBody>
      </p:sp>
      <p:sp>
        <p:nvSpPr>
          <p:cNvPr id="21" name="before-3">
            <a:extLst xmlns:a="http://schemas.openxmlformats.org/drawingml/2006/main">
              <a:ext uri="{FF2B5EF4-FFF2-40B4-BE49-F238E27FC236}">
                <a16:creationId xmlns:a16="http://schemas.microsoft.com/office/drawing/2014/main" id="{018D0ACD-3108-4406-B092-D70D28E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7657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2" name="before-3-text">
            <a:extLst xmlns:a="http://schemas.openxmlformats.org/drawingml/2006/main">
              <a:ext uri="{FF2B5EF4-FFF2-40B4-BE49-F238E27FC236}">
                <a16:creationId xmlns:a16="http://schemas.microsoft.com/office/drawing/2014/main" id="{1EF1666B-DF6B-467A-B753-E85FA8C8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38500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更新 Tag / 目录</a:t>
            </a:r>
            <a:endParaRPr b="0" noProof="1" lang="zh-CN" altLang="en-US" dirty="0" err="0"/>
          </a:p>
        </p:txBody>
      </p:sp>
      <p:sp>
        <p:nvSpPr>
          <p:cNvPr id="23" name="after-0">
            <a:extLst xmlns:a="http://schemas.openxmlformats.org/drawingml/2006/main">
              <a:ext uri="{FF2B5EF4-FFF2-40B4-BE49-F238E27FC236}">
                <a16:creationId xmlns:a16="http://schemas.microsoft.com/office/drawing/2014/main" id="{0F4A692D-4FEB-4F08-A066-13DBC2DC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31482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24" name="after-0-text1">
            <a:extLst xmlns:a="http://schemas.openxmlformats.org/drawingml/2006/main">
              <a:ext uri="{FF2B5EF4-FFF2-40B4-BE49-F238E27FC236}">
                <a16:creationId xmlns:a16="http://schemas.microsoft.com/office/drawing/2014/main" id="{ECE43378-4809-477B-9E97-161C094F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400550"/>
            <a:ext cx="2066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Hit 返回</a:t>
            </a:r>
            <a:endParaRPr b="0" noProof="1" lang="zh-CN" altLang="en-US" dirty="0" err="0"/>
          </a:p>
        </p:txBody>
      </p:sp>
      <p:sp>
        <p:nvSpPr>
          <p:cNvPr id="25" name="after-0-text2">
            <a:extLst xmlns:a="http://schemas.openxmlformats.org/drawingml/2006/main">
              <a:ext uri="{FF2B5EF4-FFF2-40B4-BE49-F238E27FC236}">
                <a16:creationId xmlns:a16="http://schemas.microsoft.com/office/drawing/2014/main" id="{3122E07E-9AA6-4452-81A1-1050B3B2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33925"/>
            <a:ext cx="2066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+ Refill 授权</a:t>
            </a:r>
            <a:endParaRPr b="0" noProof="1" lang="zh-CN" altLang="en-US" dirty="0" err="0"/>
          </a:p>
        </p:txBody>
      </p:sp>
      <p:sp>
        <p:nvSpPr>
          <p:cNvPr id="26" name="after-1">
            <a:extLst xmlns:a="http://schemas.openxmlformats.org/drawingml/2006/main">
              <a:ext uri="{FF2B5EF4-FFF2-40B4-BE49-F238E27FC236}">
                <a16:creationId xmlns:a16="http://schemas.microsoft.com/office/drawing/2014/main" id="{827CC9EE-2D8A-41E5-A822-A14A48FF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1482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7" name="after-1-text">
            <a:extLst xmlns:a="http://schemas.openxmlformats.org/drawingml/2006/main">
              <a:ext uri="{FF2B5EF4-FFF2-40B4-BE49-F238E27FC236}">
                <a16:creationId xmlns:a16="http://schemas.microsoft.com/office/drawing/2014/main" id="{0C27CF13-F813-4B7F-8F1C-E37FBD6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写 Data</a:t>
            </a:r>
            <a:endParaRPr b="0" noProof="1" lang="zh-CN" altLang="en-US" dirty="0" err="0"/>
          </a:p>
        </p:txBody>
      </p:sp>
      <p:sp>
        <p:nvSpPr>
          <p:cNvPr id="28" name="after-2">
            <a:extLst xmlns:a="http://schemas.openxmlformats.org/drawingml/2006/main">
              <a:ext uri="{FF2B5EF4-FFF2-40B4-BE49-F238E27FC236}">
                <a16:creationId xmlns:a16="http://schemas.microsoft.com/office/drawing/2014/main" id="{B77FC2F4-452A-44C7-ABBA-25FD5139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1482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29" name="after-2-text">
            <a:extLst xmlns:a="http://schemas.openxmlformats.org/drawingml/2006/main">
              <a:ext uri="{FF2B5EF4-FFF2-40B4-BE49-F238E27FC236}">
                <a16:creationId xmlns:a16="http://schemas.microsoft.com/office/drawing/2014/main" id="{99266AD2-7406-4367-B002-12B8E7BD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更新 Tag / 目录</a:t>
            </a:r>
            <a:endParaRPr b="0" noProof="1" lang="zh-CN" altLang="en-US" dirty="0" err="0"/>
          </a:p>
        </p:txBody>
      </p:sp>
      <p:sp>
        <p:nvSpPr>
          <p:cNvPr id="30" name="after-3">
            <a:extLst xmlns:a="http://schemas.openxmlformats.org/drawingml/2006/main">
              <a:ext uri="{FF2B5EF4-FFF2-40B4-BE49-F238E27FC236}">
                <a16:creationId xmlns:a16="http://schemas.microsoft.com/office/drawing/2014/main" id="{9DE0F9C9-129C-46F1-937E-3AD2FAD6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314825"/>
            <a:ext cx="22193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2EA"/>
            </a:solidFill>
            <a:prstDash val="solid"/>
          </a:ln>
        </p:spPr>
      </p:sp>
      <p:sp>
        <p:nvSpPr>
          <p:cNvPr id="31" name="after-3-text">
            <a:extLst xmlns:a="http://schemas.openxmlformats.org/drawingml/2006/main">
              <a:ext uri="{FF2B5EF4-FFF2-40B4-BE49-F238E27FC236}">
                <a16:creationId xmlns:a16="http://schemas.microsoft.com/office/drawing/2014/main" id="{25865C04-DD13-468D-A0E3-EF616C1D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76750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可恢复流水线</a:t>
            </a:r>
            <a:endParaRPr b="0" noProof="1" lang="zh-CN" altLang="en-US" dirty="0" err="0"/>
          </a:p>
        </p:txBody>
      </p:sp>
      <p:cxnSp>
        <p:nvCxnSpPr>
          <p:cNvPr id="32" name="time-direction">
            <a:extLst xmlns:a="http://schemas.openxmlformats.org/drawingml/2006/main">
              <a:ext uri="{FF2B5EF4-FFF2-40B4-BE49-F238E27FC236}">
                <a16:creationId xmlns:a16="http://schemas.microsoft.com/office/drawing/2014/main" id="{15102523-9007-4284-9BC7-AD142092F55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19325" y="4105275"/>
            <a:ext cx="9258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D7E2EA"/>
            </a:solidFill>
            <a:prstDash val="solid"/>
            <a:headEnd type="none" w="sm" len="sm"/>
            <a:tailEnd type="triangle" w="sm" len="sm"/>
          </a:ln>
        </p:spPr>
      </p:cxnSp>
      <p:sp>
        <p:nvSpPr>
          <p:cNvPr id="33" name="advance-takeaway">
            <a:extLst xmlns:a="http://schemas.openxmlformats.org/drawingml/2006/main">
              <a:ext uri="{FF2B5EF4-FFF2-40B4-BE49-F238E27FC236}">
                <a16:creationId xmlns:a16="http://schemas.microsoft.com/office/drawing/2014/main" id="{239981BA-B198-46A9-AB6C-5DCEA1C6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760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1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移除一次授权等待，回填提前一拍启动</a:t>
            </a:r>
            <a:endParaRPr b="0" noProof="1" lang="zh-CN" altLang="en-US" dirty="0" err="0"/>
          </a:p>
        </p:txBody>
      </p:sp>
      <p:sp>
        <p:nvSpPr>
          <p:cNvPr id="34" name="example-scope">
            <a:extLst xmlns:a="http://schemas.openxmlformats.org/drawingml/2006/main">
              <a:ext uri="{FF2B5EF4-FFF2-40B4-BE49-F238E27FC236}">
                <a16:creationId xmlns:a16="http://schemas.microsoft.com/office/drawing/2014/main" id="{864AFEB3-4CDC-47FF-8A7F-62125092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00675"/>
            <a:ext cx="3152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满足重叠条件的时序示例</a:t>
            </a:r>
            <a:endParaRPr b="0" noProof="1" lang="zh-CN" altLang="en-US" dirty="0" err="0"/>
          </a:p>
        </p:txBody>
      </p:sp>
      <p:sp>
        <p:nvSpPr>
          <p:cNvPr id="35" name="safety">
            <a:extLst xmlns:a="http://schemas.openxmlformats.org/drawingml/2006/main">
              <a:ext uri="{FF2B5EF4-FFF2-40B4-BE49-F238E27FC236}">
                <a16:creationId xmlns:a16="http://schemas.microsoft.com/office/drawing/2014/main" id="{F4725452-633F-46AB-B8DC-ED69492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2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条件：load hit 本拍完成，无遗留 S2 工作；授权拍不接收新 S0 请求。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17119665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">
            <a:extLst xmlns:a="http://schemas.openxmlformats.org/drawingml/2006/main">
              <a:ext uri="{FF2B5EF4-FFF2-40B4-BE49-F238E27FC236}">
                <a16:creationId xmlns:a16="http://schemas.microsoft.com/office/drawing/2014/main" id="{0B705A47-5019-4D53-8A32-1D385012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改动三：Tag / Data 交错调度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E39A4B-D785-43E0-A672-E3716236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回填占用一类阵列时，让独立 load 使用另一类阵列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4C51ED6-2335-46FC-9827-35AEFFE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3705D36-1774-4EBD-93A4-F3CC7456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886D79D-1D87-4C5D-A0F5-3D52EC34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复用既有 S1，新增 pending 状态与地址选择；不增加 Cache 容量和 SRAM 端口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4D8236-086A-472B-B703-9AE92D1A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b="0" noProof="1" lang="zh-CN" altLang="en-US" dirty="0" err="0"/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02AAF387-5BC8-4381-B1A5-11A29D4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38350"/>
            <a:ext cx="1333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ay-schedule-title">
            <a:extLst xmlns:a="http://schemas.openxmlformats.org/drawingml/2006/main">
              <a:ext uri="{FF2B5EF4-FFF2-40B4-BE49-F238E27FC236}">
                <a16:creationId xmlns:a16="http://schemas.microsoft.com/office/drawing/2014/main" id="{B070C384-A7C2-4598-9951-7FABE82E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723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改动后：两拍交错使用阵列</a:t>
            </a:r>
            <a:endParaRPr b="0" noProof="1" lang="zh-CN" altLang="en-US" dirty="0" err="0"/>
          </a:p>
        </p:txBody>
      </p:sp>
      <p:sp>
        <p:nvSpPr>
          <p:cNvPr id="9" name="cycle-a">
            <a:extLst xmlns:a="http://schemas.openxmlformats.org/drawingml/2006/main">
              <a:ext uri="{FF2B5EF4-FFF2-40B4-BE49-F238E27FC236}">
                <a16:creationId xmlns:a16="http://schemas.microsoft.com/office/drawing/2014/main" id="{AF3EEAAA-BB78-476D-A441-7FE89AE3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90800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t：回填 DATA 拍</a:t>
            </a:r>
            <a:endParaRPr b="0" noProof="1" lang="zh-CN" altLang="en-US" dirty="0" err="0"/>
          </a:p>
        </p:txBody>
      </p:sp>
      <p:sp>
        <p:nvSpPr>
          <p:cNvPr id="10" name="cycle-b">
            <a:extLst xmlns:a="http://schemas.openxmlformats.org/drawingml/2006/main">
              <a:ext uri="{FF2B5EF4-FFF2-40B4-BE49-F238E27FC236}">
                <a16:creationId xmlns:a16="http://schemas.microsoft.com/office/drawing/2014/main" id="{3EEFE5A8-BA9C-42ED-BC5C-B6A026C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90800"/>
            <a:ext cx="2514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t+1：回填 DIR 拍</a:t>
            </a:r>
            <a:endParaRPr b="0" noProof="1" lang="zh-CN" altLang="en-US" dirty="0" err="0"/>
          </a:p>
        </p:txBody>
      </p:sp>
      <p:sp>
        <p:nvSpPr>
          <p:cNvPr id="11" name="tag-resource">
            <a:extLst xmlns:a="http://schemas.openxmlformats.org/drawingml/2006/main">
              <a:ext uri="{FF2B5EF4-FFF2-40B4-BE49-F238E27FC236}">
                <a16:creationId xmlns:a16="http://schemas.microsoft.com/office/drawing/2014/main" id="{D08AB23C-FB75-40E7-879D-634E0241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Tag / 目录</a:t>
            </a:r>
            <a:endParaRPr b="0" noProof="1" lang="zh-CN" altLang="en-US" dirty="0" err="0"/>
          </a:p>
        </p:txBody>
      </p:sp>
      <p:sp>
        <p:nvSpPr>
          <p:cNvPr id="12" name="data-resource">
            <a:extLst xmlns:a="http://schemas.openxmlformats.org/drawingml/2006/main">
              <a:ext uri="{FF2B5EF4-FFF2-40B4-BE49-F238E27FC236}">
                <a16:creationId xmlns:a16="http://schemas.microsoft.com/office/drawing/2014/main" id="{2DF0DCD1-6B2A-4096-8AE5-2D10A8A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Data</a:t>
            </a:r>
            <a:endParaRPr b="0" noProof="1" lang="zh-CN" altLang="en-US" dirty="0" err="0"/>
          </a:p>
        </p:txBody>
      </p:sp>
      <p:sp>
        <p:nvSpPr>
          <p:cNvPr id="13" name="read-b-tag">
            <a:extLst xmlns:a="http://schemas.openxmlformats.org/drawingml/2006/main">
              <a:ext uri="{FF2B5EF4-FFF2-40B4-BE49-F238E27FC236}">
                <a16:creationId xmlns:a16="http://schemas.microsoft.com/office/drawing/2014/main" id="{DF57512B-5970-4048-B310-2EFB8A92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76575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14" name="read-b-tag-label">
            <a:extLst xmlns:a="http://schemas.openxmlformats.org/drawingml/2006/main">
              <a:ext uri="{FF2B5EF4-FFF2-40B4-BE49-F238E27FC236}">
                <a16:creationId xmlns:a16="http://schemas.microsoft.com/office/drawing/2014/main" id="{720192C4-36F4-4332-8F8D-AEAAF347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读 B 的 Tag</a:t>
            </a:r>
            <a:endParaRPr b="0" noProof="1" lang="zh-CN" altLang="en-US" dirty="0" err="0"/>
          </a:p>
        </p:txBody>
      </p:sp>
      <p:sp>
        <p:nvSpPr>
          <p:cNvPr id="15" name="write-a-tag">
            <a:extLst xmlns:a="http://schemas.openxmlformats.org/drawingml/2006/main">
              <a:ext uri="{FF2B5EF4-FFF2-40B4-BE49-F238E27FC236}">
                <a16:creationId xmlns:a16="http://schemas.microsoft.com/office/drawing/2014/main" id="{B1316BF2-AAB1-458D-BF8F-A4255462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76575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6" name="write-a-tag-label">
            <a:extLst xmlns:a="http://schemas.openxmlformats.org/drawingml/2006/main">
              <a:ext uri="{FF2B5EF4-FFF2-40B4-BE49-F238E27FC236}">
                <a16:creationId xmlns:a16="http://schemas.microsoft.com/office/drawing/2014/main" id="{1658472E-5871-4CA1-BDA6-6F7848CB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写 A 的目录</a:t>
            </a:r>
            <a:endParaRPr b="0" noProof="1" lang="zh-CN" altLang="en-US" dirty="0" err="0"/>
          </a:p>
        </p:txBody>
      </p:sp>
      <p:sp>
        <p:nvSpPr>
          <p:cNvPr id="17" name="write-a-data">
            <a:extLst xmlns:a="http://schemas.openxmlformats.org/drawingml/2006/main">
              <a:ext uri="{FF2B5EF4-FFF2-40B4-BE49-F238E27FC236}">
                <a16:creationId xmlns:a16="http://schemas.microsoft.com/office/drawing/2014/main" id="{D1F8140A-D5ED-47CE-AED4-3B52D334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962400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14288">
            <a:solidFill>
              <a:srgbClr val="6B9FB7"/>
            </a:solidFill>
            <a:prstDash val="solid"/>
          </a:ln>
        </p:spPr>
      </p:sp>
      <p:sp>
        <p:nvSpPr>
          <p:cNvPr id="18" name="write-a-data-label">
            <a:extLst xmlns:a="http://schemas.openxmlformats.org/drawingml/2006/main">
              <a:ext uri="{FF2B5EF4-FFF2-40B4-BE49-F238E27FC236}">
                <a16:creationId xmlns:a16="http://schemas.microsoft.com/office/drawing/2014/main" id="{4DC26E1A-0DEA-4F00-848F-7BFB26E2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71925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写 A 的 Data</a:t>
            </a:r>
            <a:endParaRPr b="0" noProof="1" lang="zh-CN" altLang="en-US" dirty="0" err="0"/>
          </a:p>
        </p:txBody>
      </p:sp>
      <p:sp>
        <p:nvSpPr>
          <p:cNvPr id="19" name="read-b-data">
            <a:extLst xmlns:a="http://schemas.openxmlformats.org/drawingml/2006/main">
              <a:ext uri="{FF2B5EF4-FFF2-40B4-BE49-F238E27FC236}">
                <a16:creationId xmlns:a16="http://schemas.microsoft.com/office/drawing/2014/main" id="{83CB626B-2B97-45C0-9540-8D28B819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62400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3"/>
          </a:solidFill>
          <a:ln xmlns:a="http://schemas.openxmlformats.org/drawingml/2006/main" w="14288">
            <a:solidFill>
              <a:srgbClr val="087F83"/>
            </a:solidFill>
            <a:prstDash val="solid"/>
          </a:ln>
        </p:spPr>
      </p:sp>
      <p:sp>
        <p:nvSpPr>
          <p:cNvPr id="20" name="read-b-data-label">
            <a:extLst xmlns:a="http://schemas.openxmlformats.org/drawingml/2006/main">
              <a:ext uri="{FF2B5EF4-FFF2-40B4-BE49-F238E27FC236}">
                <a16:creationId xmlns:a16="http://schemas.microsoft.com/office/drawing/2014/main" id="{574B4D0D-567A-442F-ACA7-A311313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71925"/>
            <a:ext cx="2362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025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读 B 的 Data</a:t>
            </a:r>
            <a:endParaRPr b="0" noProof="1" lang="zh-CN" altLang="en-US" dirty="0" err="0"/>
          </a:p>
        </p:txBody>
      </p:sp>
      <p:sp>
        <p:nvSpPr>
          <p:cNvPr id="21" name="b-title">
            <a:extLst xmlns:a="http://schemas.openxmlformats.org/drawingml/2006/main">
              <a:ext uri="{FF2B5EF4-FFF2-40B4-BE49-F238E27FC236}">
                <a16:creationId xmlns:a16="http://schemas.microsoft.com/office/drawing/2014/main" id="{924D54AA-A09D-4D34-9704-F14C49E6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019300"/>
            <a:ext cx="3305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B 的执行过程</a:t>
            </a:r>
            <a:endParaRPr b="0" noProof="1" lang="zh-CN" altLang="en-US" dirty="0" err="0"/>
          </a:p>
        </p:txBody>
      </p:sp>
      <p:sp>
        <p:nvSpPr>
          <p:cNvPr id="22" name="legend-a">
            <a:extLst xmlns:a="http://schemas.openxmlformats.org/drawingml/2006/main">
              <a:ext uri="{FF2B5EF4-FFF2-40B4-BE49-F238E27FC236}">
                <a16:creationId xmlns:a16="http://schemas.microsoft.com/office/drawing/2014/main" id="{1A7DB577-0C4F-4EF2-B719-F88A036A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57450"/>
            <a:ext cx="3305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A：正在回填的请求</a:t>
            </a:r>
            <a:endParaRPr b="0" noProof="1" lang="zh-CN" altLang="en-US" dirty="0" err="0"/>
          </a:p>
        </p:txBody>
      </p:sp>
      <p:sp>
        <p:nvSpPr>
          <p:cNvPr id="23" name="legend-b">
            <a:extLst xmlns:a="http://schemas.openxmlformats.org/drawingml/2006/main">
              <a:ext uri="{FF2B5EF4-FFF2-40B4-BE49-F238E27FC236}">
                <a16:creationId xmlns:a16="http://schemas.microsoft.com/office/drawing/2014/main" id="{B902688E-E2A6-469A-9555-3634F07E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90825"/>
            <a:ext cx="3305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 noProof="1" lang="zh-CN" altLang="en-US" dirty="0" err="0">
                <a:solidFill>
                  <a:srgbClr val="087F83"/>
                </a:solidFill>
                <a:latin typeface="Noto Sans CJK SC"/>
                <a:ea typeface="Noto Sans CJK SC"/>
                <a:cs typeface="Noto Sans CJK SC"/>
              </a:rPr>
              <a:t>B：新来的普通 load</a:t>
            </a:r>
            <a:endParaRPr b="0" noProof="1" lang="zh-CN" altLang="en-US" dirty="0" err="0"/>
          </a:p>
        </p:txBody>
      </p:sp>
      <p:sp>
        <p:nvSpPr>
          <p:cNvPr id="24" name="b-step0">
            <a:extLst xmlns:a="http://schemas.openxmlformats.org/drawingml/2006/main">
              <a:ext uri="{FF2B5EF4-FFF2-40B4-BE49-F238E27FC236}">
                <a16:creationId xmlns:a16="http://schemas.microsoft.com/office/drawing/2014/main" id="{9CAA885D-F0E2-460A-ABCC-C7B9BF27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05175"/>
            <a:ext cx="3305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t：接纳 B，保存到 S1</a:t>
            </a:r>
            <a:endParaRPr b="0" noProof="1" lang="zh-CN" altLang="en-US" dirty="0" err="0"/>
          </a:p>
        </p:txBody>
      </p:sp>
      <p:sp>
        <p:nvSpPr>
          <p:cNvPr id="25" name="b-step1">
            <a:extLst xmlns:a="http://schemas.openxmlformats.org/drawingml/2006/main">
              <a:ext uri="{FF2B5EF4-FFF2-40B4-BE49-F238E27FC236}">
                <a16:creationId xmlns:a16="http://schemas.microsoft.com/office/drawing/2014/main" id="{5CB92269-30AC-4E1A-88FF-E0C0225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705225"/>
            <a:ext cx="3305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t+1：保持 B，读取 Data</a:t>
            </a:r>
            <a:endParaRPr b="0" noProof="1" lang="zh-CN" altLang="en-US" dirty="0" err="0"/>
          </a:p>
        </p:txBody>
      </p:sp>
      <p:sp>
        <p:nvSpPr>
          <p:cNvPr id="26" name="b-step2">
            <a:extLst xmlns:a="http://schemas.openxmlformats.org/drawingml/2006/main">
              <a:ext uri="{FF2B5EF4-FFF2-40B4-BE49-F238E27FC236}">
                <a16:creationId xmlns:a16="http://schemas.microsoft.com/office/drawing/2014/main" id="{0A087F3A-9548-4D69-B000-2F15338A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105275"/>
            <a:ext cx="3305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t+2：原 S1 处理 B</a:t>
            </a:r>
            <a:endParaRPr b="0" noProof="1" lang="zh-CN" altLang="en-US" dirty="0" err="0"/>
          </a:p>
        </p:txBody>
      </p:sp>
      <p:sp>
        <p:nvSpPr>
          <p:cNvPr id="27" name="b-hit-miss">
            <a:extLst xmlns:a="http://schemas.openxmlformats.org/drawingml/2006/main">
              <a:ext uri="{FF2B5EF4-FFF2-40B4-BE49-F238E27FC236}">
                <a16:creationId xmlns:a16="http://schemas.microsoft.com/office/drawing/2014/main" id="{17AB11BA-A0BA-4F56-A003-CC68F71D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457700"/>
            <a:ext cx="3305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命中返回，或走 miss / RTAB</a:t>
            </a:r>
            <a:endParaRPr b="0" noProof="1" lang="zh-CN" altLang="en-US" dirty="0" err="0"/>
          </a:p>
        </p:txBody>
      </p:sp>
      <p:sp>
        <p:nvSpPr>
          <p:cNvPr id="28" name="safety">
            <a:extLst xmlns:a="http://schemas.openxmlformats.org/drawingml/2006/main">
              <a:ext uri="{FF2B5EF4-FFF2-40B4-BE49-F238E27FC236}">
                <a16:creationId xmlns:a16="http://schemas.microsoft.com/office/drawing/2014/main" id="{203829E0-4E53-463B-9BA7-BD5EE27B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2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准入条件：跨 set 的普通 load，RTAB 为空且 S1 / S2 空闲；冲突时沿用原调度。</a:t>
            </a:r>
            <a:endParaRPr b="0" noProof="1" lang="zh-CN" altLang="en-US" dirty="0" err="0"/>
          </a:p>
        </p:txBody>
      </p:sp>
      <p:sp>
        <p:nvSpPr>
          <p:cNvPr id="29" name="takeaway-rule">
            <a:extLst xmlns:a="http://schemas.openxmlformats.org/drawingml/2006/main">
              <a:ext uri="{FF2B5EF4-FFF2-40B4-BE49-F238E27FC236}">
                <a16:creationId xmlns:a16="http://schemas.microsoft.com/office/drawing/2014/main" id="{0E7FA8AA-590A-4EC5-9E2B-E68147E6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seline-timing">
            <a:extLst xmlns:a="http://schemas.openxmlformats.org/drawingml/2006/main">
              <a:ext uri="{FF2B5EF4-FFF2-40B4-BE49-F238E27FC236}">
                <a16:creationId xmlns:a16="http://schemas.microsoft.com/office/drawing/2014/main" id="{6AD02DC7-1EAE-43AC-AB8C-04AF92BE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102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原调度：B 在 t+2 接纳，t+3 处理。</a:t>
            </a:r>
            <a:endParaRPr b="0" noProof="1" lang="zh-CN" altLang="en-US" dirty="0" err="0"/>
          </a:p>
        </p:txBody>
      </p:sp>
      <p:sp>
        <p:nvSpPr>
          <p:cNvPr id="31" name="new-timing">
            <a:extLst xmlns:a="http://schemas.openxmlformats.org/drawingml/2006/main">
              <a:ext uri="{FF2B5EF4-FFF2-40B4-BE49-F238E27FC236}">
                <a16:creationId xmlns:a16="http://schemas.microsoft.com/office/drawing/2014/main" id="{7A6A043E-7322-4A59-B563-43E095C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2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交错后：B 在 t 接纳，t+2 处理；本例提前一拍进入正常 S1 处理。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694165247"/>
      </p:ext>
    </p:extLst>
  </p:cSld>
</p:sld>
</file>

<file path=ppt/theme/theme1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2026-10-26T07:30:45.2530000Z</dcterms:created>
  <dcterms:modified xsi:type="dcterms:W3CDTF">2026-10-26T07:30:45.2530000Z</dcterms:modified>
</coreProperties>
</file>