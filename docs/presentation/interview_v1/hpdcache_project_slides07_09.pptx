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3d336a8fb44ead" /><Relationship Type="http://schemas.openxmlformats.org/officeDocument/2006/relationships/extended-properties" Target="/docProps/app.xml" Id="R6ed3b14e68d24c4a" /><Relationship Type="http://schemas.openxmlformats.org/officeDocument/2006/relationships/officeDocument" Target="/ppt/presentation.xml" Id="R86939dc845e24e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4d537d89784448"/>
  </p:sldMasterIdLst>
  <p:notesMasterIdLst>
    <p:notesMasterId xmlns:r="http://schemas.openxmlformats.org/officeDocument/2006/relationships" r:id="R133660f75e954d71"/>
  </p:notesMasterIdLst>
  <p:sldIdLst>
    <p:sldId xmlns:r="http://schemas.openxmlformats.org/officeDocument/2006/relationships" id="256" r:id="R3715f1abc2fd44f2"/>
    <p:sldId xmlns:r="http://schemas.openxmlformats.org/officeDocument/2006/relationships" id="257" r:id="Ra44e131a8cb045af"/>
    <p:sldId xmlns:r="http://schemas.openxmlformats.org/officeDocument/2006/relationships" id="258" r:id="R1f078669ed2443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300a8dedc54d14" /><Relationship Type="http://schemas.openxmlformats.org/officeDocument/2006/relationships/slideMaster" Target="/ppt/slideMasters/slideMaster1.xml" Id="Rdc4d537d89784448" /><Relationship Type="http://schemas.openxmlformats.org/officeDocument/2006/relationships/notesMaster" Target="/ppt/notesMasters/notesMaster1.xml" Id="R133660f75e954d71" /><Relationship Type="http://schemas.openxmlformats.org/officeDocument/2006/relationships/presProps" Target="/ppt/presProps.xml" Id="R7e9bf6dd98d54611" /><Relationship Type="http://schemas.openxmlformats.org/officeDocument/2006/relationships/tableStyles" Target="/ppt/tableStyles.xml" Id="Rc6cf94338ac84a5d" /><Relationship Type="http://schemas.openxmlformats.org/officeDocument/2006/relationships/slide" Target="/ppt/slides/slide1.xml" Id="R3715f1abc2fd44f2" /><Relationship Type="http://schemas.openxmlformats.org/officeDocument/2006/relationships/slide" Target="/ppt/slides/slide2.xml" Id="Ra44e131a8cb045af" /><Relationship Type="http://schemas.openxmlformats.org/officeDocument/2006/relationships/slide" Target="/ppt/slides/slide3.xml" Id="R1f078669ed2443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57742a7e0246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0" noProof="1" lang="zh-CN" altLang="en-US" dirty="0" err="0"/>
          </a:p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0" noProof="1" lang="zh-CN" altLang="en-US" dirty="0" err="0"/>
          </a:p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0" noProof="1" lang="zh-CN" altLang="en-US" dirty="0" err="0"/>
          </a:p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0" noProof="1" lang="zh-CN" altLang="en-US" dirty="0" err="0"/>
          </a:p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0" noProof="1" lang="zh-CN" altLang="en-US" dirty="0" err="0"/>
          </a:p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0" noProof="1" lang="zh-CN" altLang="en-US" dirty="0" err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 noProof="1" lang="zh-CN" altLang="en-US" dirty="0" err="0" b="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HPDcache Navy and Teal">
      <a:dk1>
        <a:srgbClr val="0D2234"/>
      </a:dk1>
      <a:lt1>
        <a:srgbClr val="FFFFFF"/>
      </a:lt1>
      <a:dk2>
        <a:srgbClr val="17324D"/>
      </a:dk2>
      <a:lt2>
        <a:srgbClr val="D7E2EA"/>
      </a:lt2>
      <a:accent1>
        <a:srgbClr val="17324D"/>
      </a:accent1>
      <a:accent2>
        <a:srgbClr val="087F83"/>
      </a:accent2>
      <a:accent3>
        <a:srgbClr val="B66A27"/>
      </a:accent3>
      <a:accent4>
        <a:srgbClr val="647C92"/>
      </a:accent4>
      <a:accent5>
        <a:srgbClr val="96B5C3"/>
      </a:accent5>
      <a:accent6>
        <a:srgbClr val="D7E2EA"/>
      </a:accent6>
      <a:hlink>
        <a:srgbClr val="087F83"/>
      </a:hlink>
      <a:folHlink>
        <a:srgbClr val="526D82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HPDcache Navy and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16934320c64b71" /><Relationship Type="http://schemas.openxmlformats.org/officeDocument/2006/relationships/notesMaster" Target="/ppt/notesMasters/notesMaster1.xml" Id="R383fa27ef35442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d85c58284b458b" /><Relationship Type="http://schemas.openxmlformats.org/officeDocument/2006/relationships/notesMaster" Target="/ppt/notesMasters/notesMaster1.xml" Id="R11fd6ba1189541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a3ad5464c0424e" /><Relationship Type="http://schemas.openxmlformats.org/officeDocument/2006/relationships/notesMaster" Target="/ppt/notesMasters/notesMaster1.xml" Id="R0c2a08d22f1c4b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调度改变后，不能只看程序能否跑完。我按控制层、完整Cache和应用层核查正确性，再用逐拍审计确认新的重叠路径实际执行。</a:t>
            </a:r>
            <a:endParaRPr b="0" noProof="1" lang="zh-CN" altLang="en-US" dirty="0" err="0"/>
          </a:p>
          <a:p xmlns:a="http://schemas.openxmlformats.org/drawingml/2006/main">
            <a:r>
              <a:t>本页数字以第三项Tag/Data交错调度最终验证为主：off和on都已经开启发送解耦、refill提前授权，仅切换交错调度。它验证这一最终增量，不表示全部8种功能组合均已测试。</a:t>
            </a:r>
            <a:endParaRPr b="0" noProof="1" lang="zh-CN" altLang="en-US" dirty="0" err="0"/>
          </a:p>
          <a:p xmlns:a="http://schemas.openxmlformats.org/drawingml/2006/main">
            <a:r>
              <a:t>控制器PE覆盖44个场景、859项检查，包含7组off/on配置、每组全部153端口连接，检查准入、DIR期间不能提前响应/分配、配置不支持时回退。PE不能替代实际SRAM数据验证。</a:t>
            </a:r>
            <a:endParaRPr b="0" noProof="1" lang="zh-CN" altLang="en-US" dirty="0" err="0"/>
          </a:p>
          <a:p xmlns:a="http://schemas.openxmlformats.org/drawingml/2006/main">
            <a:r>
              <a:t>完整Cache定向bench包含15个场景各运行off/on，合计30个场景执行、11286项检查。覆盖跨set hit/cold miss，同set/同line拒绝，RTAB非空，回填错误，store/uncached/非物理/AMO回退，WT/WB转换，脏数据局部写入和后续refill。</a:t>
            </a:r>
            <a:endParaRPr b="0" noProof="1" lang="zh-CN" altLang="en-US" dirty="0" err="0"/>
          </a:p>
          <a:p xmlns:a="http://schemas.openxmlformats.org/drawingml/2006/main">
            <a:r>
              <a:t>请求握手后故意改变无效上游payload，确认延后Data读取使用保存在S1的B请求。两版本合计4次真实编码SRAM位的单bit故障注入，包含Data和目录纠错。</a:t>
            </a:r>
            <a:endParaRPr b="0" noProof="1" lang="zh-CN" altLang="en-US" dirty="0" err="0"/>
          </a:p>
          <a:p xmlns:a="http://schemas.openxmlformats.org/drawingml/2006/main">
            <a:r>
              <a:t>另有30次原有混合/定向回归通过；不与本表15×off/on混为同一组，也不将这些次数相加包装成独立应用数量。</a:t>
            </a:r>
            <a:endParaRPr b="0" noProof="1" lang="zh-CN" altLang="en-US" dirty="0" err="0"/>
          </a:p>
          <a:p xmlns:a="http://schemas.openxmlformats.org/drawingml/2006/main">
            <a:r>
              <a:t>CSR-SpMV应用为67对、134次仿真。Python math.fsum提供独立数值参考，同时有Cache字节级scoreboard、事务ID和计数、输出读回以及最终fence后外存结果检查。对每行、每非零元的请求与响应工作量合同也已核对。</a:t>
            </a:r>
            <a:endParaRPr b="0" noProof="1" lang="zh-CN" altLang="en-US" dirty="0" err="0"/>
          </a:p>
          <a:p xmlns:a="http://schemas.openxmlformats.org/drawingml/2006/main">
            <a:r>
              <a:t>olm1000逐拍审计追踪1526笔交错请求，其中1277笔hit、249笔miss；3052次payload保持检查和完整运行14989个响应ID检查通过。两种独立负例分别篡改返回TID和保存的B TID，审计器都正确拒绝。</a:t>
            </a:r>
            <a:endParaRPr b="0" noProof="1" lang="zh-CN" altLang="en-US" dirty="0" err="0"/>
          </a:p>
          <a:p xmlns:a="http://schemas.openxmlformats.org/drawingml/2006/main">
            <a:r>
              <a:t>此前发送队列单元测试检查243次有序传输及100拍强制反压；提前授权PE另有37场景、353项检查。这些是补充证据，不将各阶段134次应用仿真累加称为402个独立应用。</a:t>
            </a:r>
            <a:endParaRPr b="0" noProof="1" lang="zh-CN" altLang="en-US" dirty="0" err="0"/>
          </a:p>
          <a:p xmlns:a="http://schemas.openxmlformats.org/drawingml/2006/main">
            <a:r>
              <a:t>功能回归和定向注入不等同于形式化证明、完整一致性验证或所有ECC故障覆盖。目标物理SRAM还需确认写入时保持此前读输出的实现合同。</a:t>
            </a:r>
            <a:endParaRPr b="0" noProof="1" lang="zh-CN" altLang="en-US" dirty="0" err="0"/>
          </a:p>
          <a:p xmlns:a="http://schemas.openxmlformats.org/drawingml/2006/main">
            <a:r>
              <a:t/>
            </a:r>
            <a:endParaRPr b="0" noProof="1" lang="zh-CN" altLang="en-US" dirty="0" err="0"/>
          </a:p>
          <a:p xmlns:a="http://schemas.openxmlformats.org/drawingml/2006/main">
            <a:r>
              <a:t>主要来源：rtl/tb/tests/miss_issue_research/REFILL_LOAD_OVERLAP_RESULTS.md:95–138。</a:t>
            </a:r>
            <a:endParaRPr b="0" noProof="1" lang="zh-CN" altLang="en-US" dirty="0" err="0"/>
          </a:p>
          <a:p xmlns:a="http://schemas.openxmlformats.org/drawingml/2006/main">
            <a:r>
              <a:t>独立参考与字节核查：rtl/tb/tests/miss_issue_research/real/RESULTS.md:36–43。</a:t>
            </a:r>
            <a:endParaRPr b="0" noProof="1" lang="zh-CN" altLang="en-US" dirty="0" err="0"/>
          </a:p>
          <a:p xmlns:a="http://schemas.openxmlformats.org/drawingml/2006/main">
            <a:r>
              <a:t>此前验证：rtl/tb/tests/miss_issue_research/EARLY_GRANT_RESULTS.md:90–96；rtl/syn/refill_direct/MISS_ISSUE_RESULTS.md:20–26。</a:t>
            </a:r>
            <a:endParaRPr b="0" noProof="1" lang="zh-CN" altLang="en-US" dirty="0" err="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0" noProof="1" lang="zh-CN" altLang="en-US" dirty="0" err="0"/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这一页汇报三项全开相对全关的累计应用性能，位序依次为发送解耦、提前授权、Tag/Data交错。000全关，111全开；缓存容量、MSHR和RTAB固定。</a:t>
            </a:r>
            <a:endParaRPr b="0" noProof="1" lang="zh-CN" altLang="en-US" dirty="0" err="0"/>
          </a:p>
          <a:p xmlns:a="http://schemas.openxmlformats.org/drawingml/2006/main">
            <a:r>
              <a:t>以最早发送解耦实验的off作为000，最终交错调度实验的on作为111。逐键核对67组输入和工作量，并验证发送解耦on与提前授权off、提前授权on与交错off的全部统计字段完全相同。</a:t>
            </a:r>
            <a:endParaRPr b="0" noProof="1" lang="zh-CN" altLang="en-US" dirty="0" err="0"/>
          </a:p>
          <a:p xmlns:a="http://schemas.openxmlformats.org/drawingml/2006/main">
            <a:r>
              <a:t>这是由已完成仿真的精确端点周期重新计算的汇总，不是新增仿真，也没有将各阶段舍入百分比相加。每种子比值为cycles000/cycles111，再对三个比值取几何均值并减1。</a:t>
            </a:r>
            <a:endParaRPr b="0" noProof="1" lang="zh-CN" altLang="en-US" dirty="0" err="0"/>
          </a:p>
          <a:p xmlns:a="http://schemas.openxmlformats.org/drawingml/2006/main">
            <a:r>
              <a:t>五个柱值分别为impcol_a +6.976736%；olm1000 +10.689320%；bcsstk13 +16.745607%；karate +7.098148%；n1024-l1 +10.720532%。</a:t>
            </a:r>
            <a:endParaRPr b="0" noProof="1" lang="zh-CN" altLang="en-US" dirty="0" err="0"/>
          </a:p>
          <a:p xmlns:a="http://schemas.openxmlformats.org/drawingml/2006/main">
            <a:r>
              <a:t>各组实际种子范围为impcol_a +6.739243%至+7.403599%；olm1000 +10.642161%至+10.765535%；bcsstk13 +16.718340%至+16.799807%；karate +6.298655%至+8.529214%；n1024-l1 +10.451856%至+10.874175%。这只是三个种子的实际范围，不是置信区间。</a:t>
            </a:r>
            <a:endParaRPr b="0" noProof="1" lang="zh-CN" altLang="en-US" dirty="0" err="0"/>
          </a:p>
          <a:p xmlns:a="http://schemas.openxmlformats.org/drawingml/2006/main">
            <a:r>
              <a:t>配置为16KiB，128sets×4ways×32B，8MSHR，4RTAB，ECC、lowLatency、MSHR regbank、refill feedthrough；SystemC行为加速器8行并行，共享请求口，单MAC流水线默认latency2。</a:t>
            </a:r>
            <a:endParaRPr b="0" noProof="1" lang="zh-CN" altLang="en-US" dirty="0" err="0"/>
          </a:p>
          <a:p xmlns:a="http://schemas.openxmlformats.org/drawingml/2006/main">
            <a:r>
              <a:t>吞吐使用整数SB.NB_CYCLES，包含冷启动、输出检查和最终fence，输入预装不计时。外存为三种服务时序分布，不是周期精确DRAM/NoC模型。</a:t>
            </a:r>
            <a:endParaRPr b="0" noProof="1" lang="zh-CN" altLang="en-US" dirty="0" err="0"/>
          </a:p>
          <a:p xmlns:a="http://schemas.openxmlformats.org/drawingml/2006/main">
            <a:r>
              <a:t>四个真实矩阵为impcol_a、olm1000、bcsstk13、karate，n1024-l1为公开合成稀疏DNN矩阵，仅执行其SpMV。不能外推为完整AI网络或完整加速器RTL的速度。</a:t>
            </a:r>
            <a:endParaRPr b="0" noProof="1" lang="zh-CN" altLang="en-US" dirty="0" err="0"/>
          </a:p>
          <a:p xmlns:a="http://schemas.openxmlformats.org/drawingml/2006/main">
            <a:r>
              <a:t>同一olm1000/r8/profile0/seed23依次35044、34394、33221、31638周期，累计同频吞吐+10.7655%，周期减少9.7192%。这里的单种子结果与图中三种子几何均值+10.6893%不同。</a:t>
            </a:r>
            <a:endParaRPr b="0" noProof="1" lang="zh-CN" altLang="en-US" dirty="0" err="0"/>
          </a:p>
          <a:p xmlns:a="http://schemas.openxmlformats.org/drawingml/2006/main">
            <a:r>
              <a:t>边界统一使用000到111：默认时序1行并行seed23，五矩阵只提升1.01%至1.69%；响应受限karate三种子均值-0.998454%，最差单例seed11约-1.49%。olm1000在响应受限仍有约+2.99%，不能声称全部无效。</a:t>
            </a:r>
            <a:endParaRPr b="0" noProof="1" lang="zh-CN" altLang="en-US" dirty="0" err="0"/>
          </a:p>
          <a:p xmlns:a="http://schemas.openxmlformats.org/drawingml/2006/main">
            <a:r>
              <a:t>全部67个端点比较最差为合成all_empty/r8/profile1/seed47，427到437周期，吞吐-2.28833%。全空矩阵没有非零元，不对它使用每非零元能量指标。</a:t>
            </a:r>
            <a:endParaRPr b="0" noProof="1" lang="zh-CN" altLang="en-US" dirty="0" err="0"/>
          </a:p>
          <a:p xmlns:a="http://schemas.openxmlformats.org/drawingml/2006/main">
            <a:r>
              <a:t>当前只验证000、100、110、111，尚缺010、001、101、011。不能据此认定111全局最优；后续需八组合消融。</a:t>
            </a:r>
            <a:endParaRPr b="0" noProof="1" lang="zh-CN" altLang="en-US" dirty="0" err="0"/>
          </a:p>
          <a:p xmlns:a="http://schemas.openxmlformats.org/drawingml/2006/main">
            <a:r>
              <a:t/>
            </a:r>
            <a:endParaRPr b="0" noProof="1" lang="zh-CN" altLang="en-US" dirty="0" err="0"/>
          </a:p>
          <a:p xmlns:a="http://schemas.openxmlformats.org/drawingml/2006/main">
            <a:r>
              <a:t>端点/桥接数据：/workspace/hpdcache-env/miss-issue-real/results/results.json；SHA256 ec1e93df7256b1df30ec0c7bfc4e20fcbe8bd594082c16b292e1f976e2424bec</a:t>
            </a:r>
            <a:endParaRPr b="0" noProof="1" lang="zh-CN" altLang="en-US" dirty="0" err="0"/>
          </a:p>
          <a:p xmlns:a="http://schemas.openxmlformats.org/drawingml/2006/main">
            <a:r>
              <a:t>端点/桥接数据：/workspace/hpdcache-env/early-grant/real/results.json；SHA256 75726c6ffc0929155fba974a992d93e48a0ce51d64e3faa644a056cdfce2235f</a:t>
            </a:r>
            <a:endParaRPr b="0" noProof="1" lang="zh-CN" altLang="en-US" dirty="0" err="0"/>
          </a:p>
          <a:p xmlns:a="http://schemas.openxmlformats.org/drawingml/2006/main">
            <a:r>
              <a:t>端点/桥接数据：/workspace/hpdcache-env/load-overlap/real/results.json；SHA256 1885dc6c29f67f0902eed69a204199a99f02530fca3f13dca1ba6e0f91eea3d8</a:t>
            </a:r>
            <a:endParaRPr b="0" noProof="1" lang="zh-CN" altLang="en-US" dirty="0" err="0"/>
          </a:p>
          <a:p xmlns:a="http://schemas.openxmlformats.org/drawingml/2006/main">
            <a:r>
              <a:t>重新计算及审计记录：/workspace/hpdcache-env/ppt-slides07-09-20261026/.build/derived-data.json。</a:t>
            </a:r>
            <a:endParaRPr b="0" noProof="1" lang="zh-CN" altLang="en-US" dirty="0" err="0"/>
          </a:p>
          <a:p xmlns:a="http://schemas.openxmlformats.org/drawingml/2006/main">
            <a:r>
              <a:t>配置/度量来源：rtl/tb/tests/miss_issue_research/REFILL_LOAD_OVERLAP_RESULTS.md:20–37；real/RESULTS.md:45–54；docs/PROJECT_HANDOFF.md:189–207。</a:t>
            </a:r>
            <a:endParaRPr b="0" noProof="1" lang="zh-CN" altLang="en-US" dirty="0" err="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0" noProof="1" lang="zh-CN" altLang="en-US" dirty="0" err="0"/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PPA必须与性能使用匹配配置、匹配应用和匹配波形。这里三行都是同一olm1000/r8/profile0/seed23应用样本、200MHz，但每行分别来自该阶段独立匹配的off/on综合与功耗。</a:t>
            </a:r>
            <a:endParaRPr b="0" noProof="1" lang="zh-CN" altLang="en-US" dirty="0" err="0"/>
          </a:p>
          <a:p xmlns:a="http://schemas.openxmlformats.org/drawingml/2006/main">
            <a:r>
              <a:t>三位开关位序依次为发送解耦、提前授权、Tag/Data交错；表中顺序为000到100、100到110、110到111。</a:t>
            </a:r>
            <a:endParaRPr b="0" noProof="1" lang="zh-CN" altLang="en-US" dirty="0" err="0"/>
          </a:p>
          <a:p xmlns:a="http://schemas.openxmlformats.org/drawingml/2006/main">
            <a:r>
              <a:t>第一项发送解耦：吞吐+1.89%，逻辑面积+1.39%，时钟预算-1.28%，平均Cache功耗+0.354%，能量/非零元-1.51%；吞吐/逻辑面积仅+0.49%，收益余量较小。</a:t>
            </a:r>
            <a:endParaRPr b="0" noProof="1" lang="zh-CN" altLang="en-US" dirty="0" err="0"/>
          </a:p>
          <a:p xmlns:a="http://schemas.openxmlformats.org/drawingml/2006/main">
            <a:r>
              <a:t>第二项提前授权：吞吐+3.53%，逻辑面积+0.44%，时钟预算-0.24%，平均Cache功耗+0.313%，能量/非零元-3.11%；吞吐/逻辑面积+3.08%。新增S1决策到MSHR/refill FSM的局部路径约增加1.1ns，本次没有成为全局关键路径。</a:t>
            </a:r>
            <a:endParaRPr b="0" noProof="1" lang="zh-CN" altLang="en-US" dirty="0" err="0"/>
          </a:p>
          <a:p xmlns:a="http://schemas.openxmlformats.org/drawingml/2006/main">
            <a:r>
              <a:t>第三项交错调度：吞吐+5.00%，逻辑面积-0.21%，时钟预算+0.39%，平均Cache功耗+0.270%，能量/非零元-4.51%；吞吐/逻辑面积+5.23%。新增1个flop及地址选择等逻辑，小幅面积下降包含综合映射变化，不能说新增逻辑本身节省面积。</a:t>
            </a:r>
            <a:endParaRPr b="0" noProof="1" lang="zh-CN" altLang="en-US" dirty="0" err="0"/>
          </a:p>
          <a:p xmlns:a="http://schemas.openxmlformats.org/drawingml/2006/main">
            <a:r>
              <a:t>含相同56个抽象SRAM宏的总面积增量依次约+0.373%、+0.119%、-0.058%，没有将逻辑面积与含SRAM总面积混用。</a:t>
            </a:r>
            <a:endParaRPr b="0" noProof="1" lang="zh-CN" altLang="en-US" dirty="0" err="0"/>
          </a:p>
          <a:p xmlns:a="http://schemas.openxmlformats.org/drawingml/2006/main">
            <a:r>
              <a:t>时钟预算越小越好，负值表示该次映射的预算减小。小幅变化不能直接当作架构Fmax改善。所有吞吐和功耗均按固定200MHz比较，未把时钟预算变化代入功耗估算。</a:t>
            </a:r>
            <a:endParaRPr b="0" noProof="1" lang="zh-CN" altLang="en-US" dirty="0" err="0"/>
          </a:p>
          <a:p xmlns:a="http://schemas.openxmlformats.org/drawingml/2006/main">
            <a:r>
              <a:t>三项平均Cache功耗均小幅上升，能量/非零元下降主要来自相同工作量更快完成。不能把-4.51%说成功耗下降。能量活动积分窗口排除reset/setup，不包含加速器、NoC和外存。</a:t>
            </a:r>
            <a:endParaRPr b="0" noProof="1" lang="zh-CN" altLang="en-US" dirty="0" err="0"/>
          </a:p>
          <a:p xmlns:a="http://schemas.openxmlformats.org/drawingml/2006/main">
            <a:r>
              <a:t>各行源快照与综合映射的基线不同，不能相加或连乘成最终000到111面积、功耗或能量变化。当前尚无统一最终源码下000与111的总匹配PPA，不能把上一页累计吞吐与拼接PPA一起报告成总收益。</a:t>
            </a:r>
            <a:endParaRPr b="0" noProof="1" lang="zh-CN" altLang="en-US" dirty="0" err="0"/>
          </a:p>
          <a:p xmlns:a="http://schemas.openxmlformats.org/drawingml/2006/main">
            <a:r>
              <a:t>工具Yosys+Slang、OpenSTA，Nangate45 typical、理想时钟、零互连、5ns参考周期、0.1ns uncertainty、0.5ns I/O delay。SRAM为抽象宏，无布局布线、CTS和glitch，不是物理签核结论。</a:t>
            </a:r>
            <a:endParaRPr b="0" noProof="1" lang="zh-CN" altLang="en-US" dirty="0" err="0"/>
          </a:p>
          <a:p xmlns:a="http://schemas.openxmlformats.org/drawingml/2006/main">
            <a:r>
              <a:t>三项保留为可选机制，参数默认关闭。当前只测000、100、110、111四组合；目标应用配置应在补齐八组合与目标工艺验证后选择。交错调度还需目标SRAM满足写入时保持读输出的合同。</a:t>
            </a:r>
            <a:endParaRPr b="0" noProof="1" lang="zh-CN" altLang="en-US" dirty="0" err="0"/>
          </a:p>
          <a:p xmlns:a="http://schemas.openxmlformats.org/drawingml/2006/main">
            <a:r>
              <a:t/>
            </a:r>
            <a:endParaRPr b="0" noProof="1" lang="zh-CN" altLang="en-US" dirty="0" err="0"/>
          </a:p>
          <a:p xmlns:a="http://schemas.openxmlformats.org/drawingml/2006/main">
            <a:r>
              <a:t>发送解耦：rtl/tb/tests/miss_issue_research/real/RESULTS.md:87–110；时钟预算来自rtl/syn/refill_direct/MISS_ISSUE_RESULTS.md:43–78，采用真实olm1000功耗而非早期压力回放功耗。</a:t>
            </a:r>
            <a:endParaRPr b="0" noProof="1" lang="zh-CN" altLang="en-US" dirty="0" err="0"/>
          </a:p>
          <a:p xmlns:a="http://schemas.openxmlformats.org/drawingml/2006/main">
            <a:r>
              <a:t>提前授权：rtl/syn/refill_direct/EARLY_GRANT_PPA.md:7–34、65–76。</a:t>
            </a:r>
            <a:endParaRPr b="0" noProof="1" lang="zh-CN" altLang="en-US" dirty="0" err="0"/>
          </a:p>
          <a:p xmlns:a="http://schemas.openxmlformats.org/drawingml/2006/main">
            <a:r>
              <a:t>交错调度：rtl/syn/refill_direct/LOAD_OVERLAP_PPA.md:9–50、74–85。</a:t>
            </a:r>
            <a:endParaRPr b="0" noProof="1" lang="zh-CN" altLang="en-US" dirty="0" err="0"/>
          </a:p>
          <a:p xmlns:a="http://schemas.openxmlformats.org/drawingml/2006/main">
            <a:r>
              <a:t>组合与总PPA边界：docs/PROJECT_HANDOFF.md:187–207。</a:t>
            </a:r>
            <a:endParaRPr b="0" noProof="1" lang="zh-CN" altLang="en-US" dirty="0" err="0"/>
          </a:p>
          <a:p xmlns:a="http://schemas.openxmlformats.org/drawingml/2006/main">
            <a:r>
              <a:t>表格比值由匹配的原始表值重新计算，详见derived-data.json；展示百分比保留两位小数。</a:t>
            </a:r>
            <a:endParaRPr b="0" noProof="1" lang="zh-CN" altLang="en-US" dirty="0" err="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0" noProof="1" lang="zh-CN" altLang="en-US" dirty="0" err="0"/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cad683ca8c421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d134916445494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ed6a3c74f34ac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72b9000cc84ed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b4544de7ce418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0dc43d85a94a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D9FC4EB-5411-4C8B-9540-10E8A8EC4E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0" noProof="1" lang="zh-CN" altLang="en-US" dirty="0" err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>
            <a:endParaRPr b="0" noProof="1" lang="zh-CN" altLang="en-US" dirty="0" err="0"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379D9C8-F902-448A-9A61-1DFC505CDEB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 noProof="1" lang="zh-CN" altLang="en-US" dirty="0" err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>
            <a:endParaRPr b="0" noProof="1" lang="zh-CN" altLang="en-US" dirty="0" err="0"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15BE0EB-73C7-4E21-B910-5B78B641C6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0" noProof="1" lang="zh-CN" altLang="en-US" dirty="0" err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>
            <a:endParaRPr b="0" noProof="1" lang="zh-CN" altLang="en-US" dirty="0" err="0"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FE864E-D8D2-417A-8F98-0E9D07AD73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0" noProof="1" lang="zh-CN" altLang="en-US" dirty="0" err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>
            <a:endParaRPr b="0" noProof="1" lang="zh-CN" altLang="en-US" dirty="0" err="0"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B5F2B2B-AF0E-4AD9-AF57-4E096B268F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 noProof="1" lang="zh-CN" altLang="en-US" dirty="0" err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>
            <a:endParaRPr b="0" noProof="1" lang="zh-CN" altLang="en-US" dirty="0" err="0"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6D2A0AA-6CB7-45B1-B647-C53176C195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0" noProof="1" lang="zh-CN" altLang="en-US" dirty="0" err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>
            <a:endParaRPr b="0" noProof="1" lang="zh-CN" altLang="en-US" dirty="0" err="0"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775DBB2-AEE1-4DC8-AB84-44A6A9738E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 noProof="1" lang="zh-CN" altLang="en-US" dirty="0" err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>
            <a:endParaRPr b="0" noProof="1" lang="zh-CN" altLang="en-US" dirty="0" err="0"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22CF151-1F6B-42DD-9C72-55B6EB357AA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 noProof="1" lang="zh-CN" altLang="en-US" dirty="0" err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>
            <a:endParaRPr b="0" noProof="1" lang="zh-CN" altLang="en-US" dirty="0" err="0"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23A1A98-897C-4287-A0C0-90AC715F4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0" noProof="1" lang="zh-CN" altLang="en-US" dirty="0" err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>
            <a:endParaRPr b="0" noProof="1" lang="zh-CN" altLang="en-US" dirty="0" err="0"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D2C822B-BFBC-4E73-B455-147D83EF28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 noProof="1" lang="zh-CN" altLang="en-US" dirty="0" err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>
            <a:endParaRPr b="0" noProof="1" lang="zh-CN" altLang="en-US" dirty="0" err="0"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46be2bfafd4e2d" /><Relationship Type="http://schemas.openxmlformats.org/officeDocument/2006/relationships/slideLayout" Target="/ppt/slideLayouts/slideLayout1.xml" Id="Re2a22cd7c71a43ad" /><Relationship Type="http://schemas.openxmlformats.org/officeDocument/2006/relationships/slideLayout" Target="/ppt/slideLayouts/slideLayout2.xml" Id="R7c550f0a39774734" /><Relationship Type="http://schemas.openxmlformats.org/officeDocument/2006/relationships/slideLayout" Target="/ppt/slideLayouts/slideLayout3.xml" Id="Rbce8f91acb4d4bed" /><Relationship Type="http://schemas.openxmlformats.org/officeDocument/2006/relationships/slideLayout" Target="/ppt/slideLayouts/slideLayout4.xml" Id="Rb2fc832653a3436f" /><Relationship Type="http://schemas.openxmlformats.org/officeDocument/2006/relationships/slideLayout" Target="/ppt/slideLayouts/slideLayout5.xml" Id="R7872a4a89a4b42b5" /><Relationship Type="http://schemas.openxmlformats.org/officeDocument/2006/relationships/slideLayout" Target="/ppt/slideLayouts/slideLayout6.xml" Id="R7e938463f2c14e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a22cd7c71a43ad"/>
    <p:sldLayoutId xmlns:r="http://schemas.openxmlformats.org/officeDocument/2006/relationships" id="2147483650" r:id="R7c550f0a39774734"/>
    <p:sldLayoutId xmlns:r="http://schemas.openxmlformats.org/officeDocument/2006/relationships" id="2147483651" r:id="Rbce8f91acb4d4bed"/>
    <p:sldLayoutId xmlns:r="http://schemas.openxmlformats.org/officeDocument/2006/relationships" id="2147483652" r:id="Rb2fc832653a3436f"/>
    <p:sldLayoutId xmlns:r="http://schemas.openxmlformats.org/officeDocument/2006/relationships" id="2147483653" r:id="R7872a4a89a4b42b5"/>
    <p:sldLayoutId xmlns:r="http://schemas.openxmlformats.org/officeDocument/2006/relationships" id="2147483654" r:id="R7e938463f2c14e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 noProof="1" lang="zh-CN" altLang="en-US" dirty="0" err="0" b="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HPDcache Navy and Teal">
      <a:dk1>
        <a:srgbClr val="0D2234"/>
      </a:dk1>
      <a:lt1>
        <a:srgbClr val="FFFFFF"/>
      </a:lt1>
      <a:dk2>
        <a:srgbClr val="17324D"/>
      </a:dk2>
      <a:lt2>
        <a:srgbClr val="D7E2EA"/>
      </a:lt2>
      <a:accent1>
        <a:srgbClr val="17324D"/>
      </a:accent1>
      <a:accent2>
        <a:srgbClr val="087F83"/>
      </a:accent2>
      <a:accent3>
        <a:srgbClr val="B66A27"/>
      </a:accent3>
      <a:accent4>
        <a:srgbClr val="647C92"/>
      </a:accent4>
      <a:accent5>
        <a:srgbClr val="96B5C3"/>
      </a:accent5>
      <a:accent6>
        <a:srgbClr val="D7E2EA"/>
      </a:accent6>
      <a:hlink>
        <a:srgbClr val="087F83"/>
      </a:hlink>
      <a:folHlink>
        <a:srgbClr val="526D82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HPDcache Navy and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574bd6b7dc4ab6" /><Relationship Type="http://schemas.openxmlformats.org/officeDocument/2006/relationships/notesSlide" Target="/ppt/notesSlides/notesSlide1.xml" Id="R2ba3c31f87e749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88256ad8e64261" /><Relationship Type="http://schemas.openxmlformats.org/officeDocument/2006/relationships/chart" Target="/ppt/slides/charts/chart1.xml" Id="Re166b939b7ab42b2" /><Relationship Type="http://schemas.openxmlformats.org/officeDocument/2006/relationships/notesSlide" Target="/ppt/notesSlides/notesSlide2.xml" Id="Rc3c2f8fe93f34b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6b112dfd954ecc" /><Relationship Type="http://schemas.openxmlformats.org/officeDocument/2006/relationships/notesSlide" Target="/ppt/notesSlides/notesSlide3.xml" Id="R5440448c169843a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 b="1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同频吞吐提升：8 行并行，默认外存</a:t>
            </a:r>
            <a:endParaRPr b="0" noProof="1" lang="zh-CN" altLang="en-US" dirty="0" err="0"/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 b="0" noProof="1" lang="zh-CN" altLang="en-US" dirty="0" err="0">
              <a:solidFill>
                <a:srgbClr val="17324D"/>
              </a:solidFill>
              <a:latin typeface="Noto Sans CJK SC"/>
              <a:ea typeface="Noto Sans CJK SC"/>
              <a:cs typeface="Noto Sans CJK SC"/>
            </a:defRPr>
          </a:pPr>
          <a:endParaRPr b="0" noProof="1" lang="zh-CN" altLang="en-US" dirty="0" err="0"/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三项全开相对全关的吞吐增幅</c:v>
          </c:tx>
          <c:spPr>
            <a:solidFill xmlns:a="http://schemas.openxmlformats.org/drawingml/2006/main">
              <a:srgbClr val="087F83"/>
            </a:solidFill>
            <a:ln xmlns:a="http://schemas.openxmlformats.org/drawingml/2006/main" w="0">
              <a:noFill/>
              <a:prstDash val="solid"/>
            </a:ln>
          </c:spPr>
          <c:invertIfNegative val="0"/>
          <c:cat>
            <c:strRef>
              <c:f>'Chart Data'!$A$2:$A$6</c:f>
              <c:strCache>
                <c:ptCount val="5"/>
                <c:pt idx="0">
                  <c:v>n1024-l1</c:v>
                </c:pt>
                <c:pt idx="1">
                  <c:v>karate</c:v>
                </c:pt>
                <c:pt idx="2">
                  <c:v>bcsstk13</c:v>
                </c:pt>
                <c:pt idx="3">
                  <c:v>olm1000</c:v>
                </c:pt>
                <c:pt idx="4">
                  <c:v>impcol_a</c:v>
                </c:pt>
              </c:strCache>
            </c:strRef>
          </c:cat>
          <c:val>
            <c:numRef>
              <c:f>'Chart Data'!$B$2:$B$6</c:f>
              <c:numCache>
                <c:formatCode>0.00%</c:formatCode>
                <c:ptCount val="5"/>
                <c:pt idx="0">
                  <c:v>0.107205320317813</c:v>
                </c:pt>
                <c:pt idx="1">
                  <c:v>0.070981480132706</c:v>
                </c:pt>
                <c:pt idx="2">
                  <c:v>0.167456067649765</c:v>
                </c:pt>
                <c:pt idx="3">
                  <c:v>0.106893202712408</c:v>
                </c:pt>
                <c:pt idx="4">
                  <c:v>0.0697673628294533</c:v>
                </c:pt>
              </c:numCache>
            </c:numRef>
          </c:val>
        </c:ser>
        <c:dLbls>
          <c:numFmt formatCode="+0.00%;-0.00%;0.0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0" noProof="1" lang="zh-CN" altLang="en-US" dirty="0" err="0">
                  <a:solidFill>
                    <a:srgbClr val="087F83"/>
                  </a:solidFill>
                  <a:latin typeface="Noto Sans CJK SC"/>
                  <a:ea typeface="Noto Sans CJK SC"/>
                  <a:cs typeface="Noto Sans CJK SC"/>
                </a:defRPr>
              </a:pPr>
              <a:endParaRPr b="0" noProof="1" lang="zh-CN" altLang="en-US" dirty="0" err="0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 noProof="1" lang="zh-CN" altLang="en-US" dirty="0" err="0" b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defRPr>
            </a:pPr>
            <a:endParaRPr b="0" noProof="1" lang="zh-CN" altLang="en-US" dirty="0" err="0"/>
          </a:p>
        </c:txPr>
        <c:crossAx val="48672768"/>
      </c:catAx>
      <c:valAx>
        <c:axId val="48672768"/>
        <c:scaling>
          <c:orientation val="minMax"/>
          <c:max val="0.2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7E2EA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E2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 noProof="1" lang="zh-CN" altLang="en-US" dirty="0" err="0" b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endParaRPr b="0" noProof="1" lang="zh-CN" altLang="en-US" dirty="0" err="0"/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61C2FC17-8A4A-4969-B86A-147E1782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15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正确性验证：从控制到应用</a:t>
            </a:r>
            <a:endParaRPr b="0" noProof="1" lang="zh-CN" altLang="en-US" dirty="0" err="0"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B8F96AA-6068-4303-9738-E11E99C9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33475"/>
            <a:ext cx="1102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检查调度改变后，请求身份、数据结果和安全回退是否保持正确</a:t>
            </a:r>
            <a:endParaRPr b="0" noProof="1" lang="zh-CN" altLang="en-US" dirty="0" err="0"/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2815FCC9-B7CE-4663-97AE-43FFBB89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9F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30605D9-9511-4240-B59C-8A0BCA06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722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2A4F9E7-9C5D-41EC-9633-767300BE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1051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仿真、断言与定向故障注入覆盖已测配置和场景；不等同于形式化证明</a:t>
            </a:r>
            <a:endParaRPr b="0" noProof="1" lang="zh-CN" altLang="en-US" dirty="0" err="0"/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6B2B658-CA98-4C58-8227-DEB68E8B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63246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5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07</a:t>
            </a:r>
            <a:endParaRPr b="0" noProof="1" lang="zh-CN" altLang="en-US" dirty="0" err="0"/>
          </a:p>
        </p:txBody>
      </p:sp>
      <p:sp>
        <p:nvSpPr>
          <p:cNvPr id="7" name="validation-context">
            <a:extLst xmlns:a="http://schemas.openxmlformats.org/drawingml/2006/main">
              <a:ext uri="{FF2B5EF4-FFF2-40B4-BE49-F238E27FC236}">
                <a16:creationId xmlns:a16="http://schemas.microsoft.com/office/drawing/2014/main" id="{309558C4-4EA0-4645-AC95-501776BF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28825"/>
            <a:ext cx="1102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以下为第三项改动的验证规模：off / on 两版均开启前两项优化。</a:t>
            </a:r>
            <a:endParaRPr b="0" noProof="1" lang="zh-CN" altLang="en-US" dirty="0" err="0"/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FC8C9E-0E85-4443-BF2A-A18BFE5D6C45}"/>
              </a:ext>
            </a:extLst>
          </p:cNvPr>
          <p:cNvGraphicFramePr/>
          <p:nvPr/>
        </p:nvGraphicFramePr>
        <p:xfrm>
          <a:off xmlns:a="http://schemas.openxmlformats.org/drawingml/2006/main" x="571500" y="2562225"/>
          <a:ext xmlns:a="http://schemas.openxmlformats.org/drawingml/2006/main" cx="11049000" cy="28003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143125"/>
                <a:gridCol w="5334000"/>
                <a:gridCol w="3571875"/>
              </a:tblGrid>
              <a:tr h="457200"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725" b="1" noProof="1" lang="zh-CN" altLang="en-US" dirty="0" err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验证层次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L w="9525">
                      <a:solidFill>
                        <a:srgbClr val="D7E2EA"/>
                      </a:solidFill>
                      <a:prstDash val="solid"/>
                    </a:lnL>
                    <a:lnR w="9525">
                      <a:solidFill>
                        <a:srgbClr val="D7E2EA"/>
                      </a:solidFill>
                      <a:prstDash val="solid"/>
                    </a:lnR>
                    <a:lnT w="9525">
                      <a:solidFill>
                        <a:srgbClr val="D7E2EA"/>
                      </a:solidFill>
                      <a:prstDash val="solid"/>
                    </a:lnT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087F83"/>
                    </a:solidFill>
                  </a:tcPr>
                </a:tc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725" b="1" noProof="1" lang="zh-CN" altLang="en-US" dirty="0" err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关键检查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R w="9525">
                      <a:solidFill>
                        <a:srgbClr val="D7E2EA"/>
                      </a:solidFill>
                      <a:prstDash val="solid"/>
                    </a:lnR>
                    <a:lnT w="9525">
                      <a:solidFill>
                        <a:srgbClr val="D7E2EA"/>
                      </a:solidFill>
                      <a:prstDash val="solid"/>
                    </a:lnT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087F83"/>
                    </a:solidFill>
                  </a:tcPr>
                </a:tc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ctr"/>
                      <a:r>
                        <a:rPr sz="1725" b="1" noProof="1" lang="zh-CN" altLang="en-US" dirty="0" err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已完成证据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R w="9525">
                      <a:solidFill>
                        <a:srgbClr val="D7E2EA"/>
                      </a:solidFill>
                      <a:prstDash val="solid"/>
                    </a:lnR>
                    <a:lnT w="9525">
                      <a:solidFill>
                        <a:srgbClr val="D7E2EA"/>
                      </a:solidFill>
                      <a:prstDash val="solid"/>
                    </a:lnT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087F83"/>
                    </a:solidFill>
                  </a:tcPr>
                </a:tc>
              </a:tr>
              <a:tr h="781050"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800" b="0" noProof="1" lang="zh-CN" altLang="en-US" dirty="0" err="0">
                          <a:solidFill>
                            <a:srgbClr val="243B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控制逻辑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L w="9525">
                      <a:solidFill>
                        <a:srgbClr val="D7E2EA"/>
                      </a:solidFill>
                      <a:prstDash val="solid"/>
                    </a:lnL>
                    <a:lnR w="9525">
                      <a:solidFill>
                        <a:srgbClr val="D7E2EA"/>
                      </a:solidFill>
                      <a:prstDash val="solid"/>
                    </a:lnR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800" b="0" noProof="1" lang="zh-CN" altLang="en-US" dirty="0" err="0">
                          <a:solidFill>
                            <a:srgbClr val="243B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准入互斥、DIR 阶段副作用隔离</a:t>
                      </a:r>
                      <a:endParaRPr b="0" noProof="1" lang="zh-CN" altLang="en-US" dirty="0" err="0"/>
                    </a:p>
                    <a:p>
                      <a:pPr algn="l"/>
                      <a:r>
                        <a:rPr sz="1800" b="0" noProof="1" lang="zh-CN" altLang="en-US" dirty="0" err="0">
                          <a:solidFill>
                            <a:srgbClr val="243B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不支持配置的安全回退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R w="9525">
                      <a:solidFill>
                        <a:srgbClr val="D7E2EA"/>
                      </a:solidFill>
                      <a:prstDash val="solid"/>
                    </a:lnR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ctr"/>
                      <a:r>
                        <a:rPr sz="1800" b="0" noProof="1" lang="zh-CN" altLang="en-US" dirty="0" err="0">
                          <a:solidFill>
                            <a:srgbClr val="243B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44 个场景</a:t>
                      </a:r>
                      <a:endParaRPr b="0" noProof="1" lang="zh-CN" altLang="en-US" dirty="0" err="0"/>
                    </a:p>
                    <a:p>
                      <a:pPr algn="ctr"/>
                      <a:r>
                        <a:rPr sz="1800" b="0" noProof="1" lang="zh-CN" altLang="en-US" dirty="0" err="0">
                          <a:solidFill>
                            <a:srgbClr val="243B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859 项检查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R w="9525">
                      <a:solidFill>
                        <a:srgbClr val="D7E2EA"/>
                      </a:solidFill>
                      <a:prstDash val="solid"/>
                    </a:lnR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800" b="0" noProof="1" lang="zh-CN" altLang="en-US" dirty="0" err="0">
                          <a:solidFill>
                            <a:srgbClr val="243B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完整 Cache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L w="9525">
                      <a:solidFill>
                        <a:srgbClr val="D7E2EA"/>
                      </a:solidFill>
                      <a:prstDash val="solid"/>
                    </a:lnL>
                    <a:lnR w="9525">
                      <a:solidFill>
                        <a:srgbClr val="D7E2EA"/>
                      </a:solidFill>
                      <a:prstDash val="solid"/>
                    </a:lnR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800" b="0" noProof="1" lang="zh-CN" altLang="en-US" dirty="0" err="0">
                          <a:solidFill>
                            <a:srgbClr val="243B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真实数据、地址与 ID</a:t>
                      </a:r>
                      <a:endParaRPr b="0" noProof="1" lang="zh-CN" altLang="en-US" dirty="0" err="0"/>
                    </a:p>
                    <a:p>
                      <a:pPr algn="l"/>
                      <a:r>
                        <a:rPr sz="1800" b="0" noProof="1" lang="zh-CN" altLang="en-US" dirty="0" err="0">
                          <a:solidFill>
                            <a:srgbClr val="243B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局部写入、策略切换及异常回退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R w="9525">
                      <a:solidFill>
                        <a:srgbClr val="D7E2EA"/>
                      </a:solidFill>
                      <a:prstDash val="solid"/>
                    </a:lnR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ctr"/>
                      <a:r>
                        <a:rPr sz="1800" b="0" noProof="1" lang="zh-CN" altLang="en-US" dirty="0" err="0">
                          <a:solidFill>
                            <a:srgbClr val="243B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15 场景 × off / on</a:t>
                      </a:r>
                      <a:endParaRPr b="0" noProof="1" lang="zh-CN" altLang="en-US" dirty="0" err="0"/>
                    </a:p>
                    <a:p>
                      <a:pPr algn="ctr"/>
                      <a:r>
                        <a:rPr sz="1800" b="0" noProof="1" lang="zh-CN" altLang="en-US" dirty="0" err="0">
                          <a:solidFill>
                            <a:srgbClr val="243B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11286 项检查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R w="9525">
                      <a:solidFill>
                        <a:srgbClr val="D7E2EA"/>
                      </a:solidFill>
                      <a:prstDash val="solid"/>
                    </a:lnR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</a:tr>
              <a:tr h="781050"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800" b="0" noProof="1" lang="zh-CN" altLang="en-US" dirty="0" err="0">
                          <a:solidFill>
                            <a:srgbClr val="243B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CSR-SpMV 应用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L w="9525">
                      <a:solidFill>
                        <a:srgbClr val="D7E2EA"/>
                      </a:solidFill>
                      <a:prstDash val="solid"/>
                    </a:lnL>
                    <a:lnR w="9525">
                      <a:solidFill>
                        <a:srgbClr val="D7E2EA"/>
                      </a:solidFill>
                      <a:prstDash val="solid"/>
                    </a:lnR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800" b="0" noProof="1" lang="zh-CN" altLang="en-US" dirty="0" err="0">
                          <a:solidFill>
                            <a:srgbClr val="243B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独立数值参考、输出读回</a:t>
                      </a:r>
                      <a:endParaRPr b="0" noProof="1" lang="zh-CN" altLang="en-US" dirty="0" err="0"/>
                    </a:p>
                    <a:p>
                      <a:pPr algn="l"/>
                      <a:r>
                        <a:rPr sz="1800" b="0" noProof="1" lang="zh-CN" altLang="en-US" dirty="0" err="0">
                          <a:solidFill>
                            <a:srgbClr val="243B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最终 fence 后的外存结果核对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R w="9525">
                      <a:solidFill>
                        <a:srgbClr val="D7E2EA"/>
                      </a:solidFill>
                      <a:prstDash val="solid"/>
                    </a:lnR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ctr"/>
                      <a:r>
                        <a:rPr sz="1800" b="0" noProof="1" lang="zh-CN" altLang="en-US" dirty="0" err="0">
                          <a:solidFill>
                            <a:srgbClr val="243B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67 对比较</a:t>
                      </a:r>
                      <a:endParaRPr b="0" noProof="1" lang="zh-CN" altLang="en-US" dirty="0" err="0"/>
                    </a:p>
                    <a:p>
                      <a:pPr algn="ctr"/>
                      <a:r>
                        <a:rPr sz="1800" b="0" noProof="1" lang="zh-CN" altLang="en-US" dirty="0" err="0">
                          <a:solidFill>
                            <a:srgbClr val="243B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134 次仿真通过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R w="9525">
                      <a:solidFill>
                        <a:srgbClr val="D7E2EA"/>
                      </a:solidFill>
                      <a:prstDash val="solid"/>
                    </a:lnR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wave-proof">
            <a:extLst xmlns:a="http://schemas.openxmlformats.org/drawingml/2006/main">
              <a:ext uri="{FF2B5EF4-FFF2-40B4-BE49-F238E27FC236}">
                <a16:creationId xmlns:a16="http://schemas.microsoft.com/office/drawing/2014/main" id="{692117AA-6391-41FC-98EA-1EA057AB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14975"/>
            <a:ext cx="11029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逐拍审计：1526 笔交错请求，从准入追踪到正确响应。</a:t>
            </a:r>
            <a:endParaRPr b="0" noProof="1" lang="zh-CN" altLang="en-US" dirty="0" err="0"/>
          </a:p>
        </p:txBody>
      </p:sp>
      <p:sp>
        <p:nvSpPr>
          <p:cNvPr id="10" name="fault-proof">
            <a:extLst xmlns:a="http://schemas.openxmlformats.org/drawingml/2006/main">
              <a:ext uri="{FF2B5EF4-FFF2-40B4-BE49-F238E27FC236}">
                <a16:creationId xmlns:a16="http://schemas.microsoft.com/office/drawing/2014/main" id="{C3CC54B4-0A63-4907-AE52-48EBA280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11029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rPr>
              <a:t>故障注入：4 次真实 SRAM 单 bit ECC 注入；两种身份篡改负例均被审计器拒绝。</a:t>
            </a:r>
            <a:endParaRPr b="0" noProof="1" lang="zh-CN" altLang="en-US" dirty="0" err="0"/>
          </a:p>
        </p:txBody>
      </p:sp>
    </p:spTree>
    <p:extLst>
      <p:ext uri="{BB962C8B-B14F-4D97-AF65-F5344CB8AC3E}">
        <p14:creationId xmlns:p14="http://schemas.microsoft.com/office/powerpoint/2010/main" val="9319045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">
            <a:extLst xmlns:a="http://schemas.openxmlformats.org/drawingml/2006/main">
              <a:ext uri="{FF2B5EF4-FFF2-40B4-BE49-F238E27FC236}">
                <a16:creationId xmlns:a16="http://schemas.microsoft.com/office/drawing/2014/main" id="{226F3295-1418-41C4-87F4-42D51419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15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应用性能与适用边界</a:t>
            </a:r>
            <a:endParaRPr b="0" noProof="1" lang="zh-CN" altLang="en-US" dirty="0" err="0"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9D08999-463C-48B1-82E0-67F55A97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33475"/>
            <a:ext cx="1102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三项全开相对全关，比较相同 CSR-SpMV 工作量的完成周期</a:t>
            </a:r>
            <a:endParaRPr b="0" noProof="1" lang="zh-CN" altLang="en-US" dirty="0" err="0"/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841DFDBB-95F3-4E24-B9A6-1B796199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9F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43923A5-7101-44CD-924B-EAF84066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722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B6C13C8-CCEA-4DEA-BDE5-EADE7527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1051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n1024-l1 为公开合成 DNN 矩阵，仅执行 SpMV；外存使用服务时序模型</a:t>
            </a:r>
            <a:endParaRPr b="0" noProof="1" lang="zh-CN" altLang="en-US" dirty="0" err="0"/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A4B5D4C-2054-4579-8043-F7496894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63246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5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08</a:t>
            </a:r>
            <a:endParaRPr b="0" noProof="1" lang="zh-CN" altLang="en-US" dirty="0" err="0"/>
          </a:p>
        </p:txBody>
      </p:sp>
      <p:sp>
        <p:nvSpPr>
          <p:cNvPr id="7" name="column-rule">
            <a:extLst xmlns:a="http://schemas.openxmlformats.org/drawingml/2006/main">
              <a:ext uri="{FF2B5EF4-FFF2-40B4-BE49-F238E27FC236}">
                <a16:creationId xmlns:a16="http://schemas.microsoft.com/office/drawing/2014/main" id="{05EB1FED-CFD7-4424-A6F8-8D45CEFD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38350"/>
            <a:ext cx="13335" cy="3419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8D1A62BC-7D26-4CC8-9911-F81C7B1AFF55}"/>
              </a:ext>
            </a:extLst>
          </p:cNvPr>
          <p:cNvGraphicFramePr/>
          <p:nvPr/>
        </p:nvGraphicFramePr>
        <p:xfrm>
          <a:off xmlns:a="http://schemas.openxmlformats.org/drawingml/2006/main" x="571500" y="2009775"/>
          <a:ext xmlns:a="http://schemas.openxmlformats.org/drawingml/2006/main" cx="7191375" cy="34194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166b939b7ab42b2"/>
          </a:graphicData>
        </a:graphic>
      </p:graphicFrame>
      <p:sp>
        <p:nvSpPr>
          <p:cNvPr id="9" name="limits-title">
            <a:extLst xmlns:a="http://schemas.openxmlformats.org/drawingml/2006/main">
              <a:ext uri="{FF2B5EF4-FFF2-40B4-BE49-F238E27FC236}">
                <a16:creationId xmlns:a16="http://schemas.microsoft.com/office/drawing/2014/main" id="{EC036FB7-E252-47B7-9232-30DD8727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019300"/>
            <a:ext cx="33051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收益受并发与时序影响</a:t>
            </a:r>
            <a:endParaRPr b="0" noProof="1" lang="zh-CN" altLang="en-US" dirty="0" err="0"/>
          </a:p>
        </p:txBody>
      </p:sp>
      <p:sp>
        <p:nvSpPr>
          <p:cNvPr id="10" name="low-concurrency-title">
            <a:extLst xmlns:a="http://schemas.openxmlformats.org/drawingml/2006/main">
              <a:ext uri="{FF2B5EF4-FFF2-40B4-BE49-F238E27FC236}">
                <a16:creationId xmlns:a16="http://schemas.microsoft.com/office/drawing/2014/main" id="{488D1EBA-52A2-4D50-88E0-D305A64D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619375"/>
            <a:ext cx="3305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低并行度</a:t>
            </a:r>
            <a:endParaRPr b="0" noProof="1" lang="zh-CN" altLang="en-US" dirty="0" err="0"/>
          </a:p>
        </p:txBody>
      </p:sp>
      <p:sp>
        <p:nvSpPr>
          <p:cNvPr id="11" name="low-concurrency-value">
            <a:extLst xmlns:a="http://schemas.openxmlformats.org/drawingml/2006/main">
              <a:ext uri="{FF2B5EF4-FFF2-40B4-BE49-F238E27FC236}">
                <a16:creationId xmlns:a16="http://schemas.microsoft.com/office/drawing/2014/main" id="{F43E3631-6E4E-43B1-91DC-A776FFB3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000375"/>
            <a:ext cx="3305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rPr>
              <a:t>1 行：+1.01%～+1.69%</a:t>
            </a:r>
            <a:endParaRPr b="0" noProof="1" lang="zh-CN" altLang="en-US" dirty="0" err="0"/>
          </a:p>
        </p:txBody>
      </p:sp>
      <p:sp>
        <p:nvSpPr>
          <p:cNvPr id="12" name="low-concurrency-scope">
            <a:extLst xmlns:a="http://schemas.openxmlformats.org/drawingml/2006/main">
              <a:ext uri="{FF2B5EF4-FFF2-40B4-BE49-F238E27FC236}">
                <a16:creationId xmlns:a16="http://schemas.microsoft.com/office/drawing/2014/main" id="{AF18042A-6BF5-46D3-A028-6CCBD31A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362325"/>
            <a:ext cx="33051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五个矩阵，默认时序，seed 23</a:t>
            </a:r>
            <a:endParaRPr b="0" noProof="1" lang="zh-CN" altLang="en-US" dirty="0" err="0"/>
          </a:p>
        </p:txBody>
      </p:sp>
      <p:sp>
        <p:nvSpPr>
          <p:cNvPr id="13" name="slow-response-title">
            <a:extLst xmlns:a="http://schemas.openxmlformats.org/drawingml/2006/main">
              <a:ext uri="{FF2B5EF4-FFF2-40B4-BE49-F238E27FC236}">
                <a16:creationId xmlns:a16="http://schemas.microsoft.com/office/drawing/2014/main" id="{684BC61C-EB9F-4DAB-A329-463FAE50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943350"/>
            <a:ext cx="3305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 noProof="1" lang="zh-CN" altLang="en-US" dirty="0" err="0">
                <a:solidFill>
                  <a:srgbClr val="B66A27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 noProof="1" lang="zh-CN" altLang="en-US" dirty="0" err="0">
                <a:solidFill>
                  <a:srgbClr val="B66A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noProof="1" lang="zh-CN" altLang="en-US" dirty="0" err="0">
                <a:solidFill>
                  <a:srgbClr val="B66A27"/>
                </a:solidFill>
                <a:latin typeface="Noto Sans CJK SC"/>
                <a:ea typeface="Noto Sans CJK SC"/>
                <a:cs typeface="Noto Sans CJK SC"/>
              </a:rPr>
              <a:t>响应受限</a:t>
            </a:r>
            <a:endParaRPr b="0" noProof="1" lang="zh-CN" altLang="en-US" dirty="0" err="0"/>
          </a:p>
        </p:txBody>
      </p:sp>
      <p:sp>
        <p:nvSpPr>
          <p:cNvPr id="14" name="slow-response-value">
            <a:extLst xmlns:a="http://schemas.openxmlformats.org/drawingml/2006/main">
              <a:ext uri="{FF2B5EF4-FFF2-40B4-BE49-F238E27FC236}">
                <a16:creationId xmlns:a16="http://schemas.microsoft.com/office/drawing/2014/main" id="{071CFE2F-D512-48D1-AEAD-B621F46C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324350"/>
            <a:ext cx="3305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 noProof="1" lang="zh-CN" altLang="en-US" dirty="0" err="0">
                <a:solidFill>
                  <a:srgbClr val="B66A27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 noProof="1" lang="zh-CN" altLang="en-US" dirty="0" err="0">
                <a:solidFill>
                  <a:srgbClr val="B66A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 noProof="1" lang="zh-CN" altLang="en-US" dirty="0" err="0">
                <a:solidFill>
                  <a:srgbClr val="B66A27"/>
                </a:solidFill>
                <a:latin typeface="Noto Sans CJK SC"/>
                <a:ea typeface="Noto Sans CJK SC"/>
                <a:cs typeface="Noto Sans CJK SC"/>
              </a:rPr>
              <a:t>karate：−1.00%</a:t>
            </a:r>
            <a:endParaRPr b="0" noProof="1" lang="zh-CN" altLang="en-US" dirty="0" err="0"/>
          </a:p>
        </p:txBody>
      </p:sp>
      <p:sp>
        <p:nvSpPr>
          <p:cNvPr id="15" name="slow-response-scope">
            <a:extLst xmlns:a="http://schemas.openxmlformats.org/drawingml/2006/main">
              <a:ext uri="{FF2B5EF4-FFF2-40B4-BE49-F238E27FC236}">
                <a16:creationId xmlns:a16="http://schemas.microsoft.com/office/drawing/2014/main" id="{5BBE0E6E-3022-45E8-BAD7-9CBC19A6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695825"/>
            <a:ext cx="33051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8 行，三个种子的几何均值</a:t>
            </a:r>
            <a:endParaRPr b="0" noProof="1" lang="zh-CN" altLang="en-US" dirty="0" err="0"/>
          </a:p>
        </p:txBody>
      </p:sp>
      <p:sp>
        <p:nvSpPr>
          <p:cNvPr id="16" name="slow-response-meaning">
            <a:extLst xmlns:a="http://schemas.openxmlformats.org/drawingml/2006/main">
              <a:ext uri="{FF2B5EF4-FFF2-40B4-BE49-F238E27FC236}">
                <a16:creationId xmlns:a16="http://schemas.microsoft.com/office/drawing/2014/main" id="{4F50131B-7240-4257-830C-02C30600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5105400"/>
            <a:ext cx="3305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rPr>
              <a:t>收益可能接近零，也可能退化</a:t>
            </a:r>
            <a:endParaRPr b="0" noProof="1" lang="zh-CN" altLang="en-US" dirty="0" err="0"/>
          </a:p>
        </p:txBody>
      </p:sp>
      <p:sp>
        <p:nvSpPr>
          <p:cNvPr id="17" name="measurement-context">
            <a:extLst xmlns:a="http://schemas.openxmlformats.org/drawingml/2006/main">
              <a:ext uri="{FF2B5EF4-FFF2-40B4-BE49-F238E27FC236}">
                <a16:creationId xmlns:a16="http://schemas.microsoft.com/office/drawing/2014/main" id="{2200A703-CE9B-407F-A19A-7AED8479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11029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65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柱值：种子 11 / 23 / 47 的吞吐比几何均值；16 KiB，8 MSHR，4 RTAB。</a:t>
            </a:r>
            <a:endParaRPr b="0" noProof="1" lang="zh-CN" altLang="en-US" dirty="0" err="0"/>
          </a:p>
        </p:txBody>
      </p:sp>
      <p:sp>
        <p:nvSpPr>
          <p:cNvPr id="18" name="combination-boundary">
            <a:extLst xmlns:a="http://schemas.openxmlformats.org/drawingml/2006/main">
              <a:ext uri="{FF2B5EF4-FFF2-40B4-BE49-F238E27FC236}">
                <a16:creationId xmlns:a16="http://schemas.microsoft.com/office/drawing/2014/main" id="{6C7F5A50-FC3B-4591-8CF0-7A7CA8AD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48350"/>
            <a:ext cx="11029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已测 000 / 100 / 110 / 111，尚不能认定三项全开在所有条件下最优。</a:t>
            </a:r>
            <a:endParaRPr b="0" noProof="1" lang="zh-CN" altLang="en-US" dirty="0" err="0"/>
          </a:p>
        </p:txBody>
      </p:sp>
    </p:spTree>
    <p:extLst>
      <p:ext uri="{BB962C8B-B14F-4D97-AF65-F5344CB8AC3E}">
        <p14:creationId xmlns:p14="http://schemas.microsoft.com/office/powerpoint/2010/main" val="2717938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C99F8FD3-E459-4BDC-9FA0-06C8AE6E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15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PPA 与方案取舍</a:t>
            </a:r>
            <a:endParaRPr b="0" noProof="1" lang="zh-CN" altLang="en-US" dirty="0" err="0"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E8ED585-AA95-4A42-8A9D-C204D412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33475"/>
            <a:ext cx="1102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各阶段分别匹配综合与波形，增量结果不能拼接成总 PPA</a:t>
            </a:r>
            <a:endParaRPr b="0" noProof="1" lang="zh-CN" altLang="en-US" dirty="0" err="0"/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7A83411C-FDC0-406D-BAFF-8DA27781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9F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621B7A6-EF45-4A5A-B526-5BD3EA80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722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2B0F020-F0C6-4C11-8EA5-33A79398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1051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Nangate45 typical，抽象 SRAM、理想时钟；Cache 级布局前估算，不含计算单元 / NoC / DRAM</a:t>
            </a:r>
            <a:endParaRPr b="0" noProof="1" lang="zh-CN" altLang="en-US" dirty="0" err="0"/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77CDAD9-2103-495D-AC86-B3DCCE0B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63246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5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09</a:t>
            </a:r>
            <a:endParaRPr b="0" noProof="1" lang="zh-CN" altLang="en-US" dirty="0" err="0"/>
          </a:p>
        </p:txBody>
      </p:sp>
      <p:sp>
        <p:nvSpPr>
          <p:cNvPr id="7" name="ppa-context">
            <a:extLst xmlns:a="http://schemas.openxmlformats.org/drawingml/2006/main">
              <a:ext uri="{FF2B5EF4-FFF2-40B4-BE49-F238E27FC236}">
                <a16:creationId xmlns:a16="http://schemas.microsoft.com/office/drawing/2014/main" id="{341B821D-EF84-4B7A-B510-0C713138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11029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同一代表负载：olm1000，8 行并行，默认外存，seed 23，固定 200 MHz</a:t>
            </a:r>
            <a:endParaRPr b="0" noProof="1" lang="zh-CN" altLang="en-US" dirty="0" err="0"/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37B245-19C8-4AA7-A907-99981D5B0056}"/>
              </a:ext>
            </a:extLst>
          </p:cNvPr>
          <p:cNvGraphicFramePr/>
          <p:nvPr/>
        </p:nvGraphicFramePr>
        <p:xfrm>
          <a:off xmlns:a="http://schemas.openxmlformats.org/drawingml/2006/main" x="571500" y="2590800"/>
          <a:ext xmlns:a="http://schemas.openxmlformats.org/drawingml/2006/main" cx="11049000" cy="25146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857500"/>
                <a:gridCol w="1428750"/>
                <a:gridCol w="1428750"/>
                <a:gridCol w="1619250"/>
                <a:gridCol w="1619250"/>
                <a:gridCol w="2095500"/>
              </a:tblGrid>
              <a:tr h="457200"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725" b="1" noProof="1" lang="zh-CN" altLang="en-US" dirty="0" err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增量比较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L w="9525">
                      <a:solidFill>
                        <a:srgbClr val="D7E2EA"/>
                      </a:solidFill>
                      <a:prstDash val="solid"/>
                    </a:lnL>
                    <a:lnR w="9525">
                      <a:solidFill>
                        <a:srgbClr val="D7E2EA"/>
                      </a:solidFill>
                      <a:prstDash val="solid"/>
                    </a:lnR>
                    <a:lnT w="9525">
                      <a:solidFill>
                        <a:srgbClr val="D7E2EA"/>
                      </a:solidFill>
                      <a:prstDash val="solid"/>
                    </a:lnT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087F83"/>
                    </a:solidFill>
                  </a:tcPr>
                </a:tc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ctr"/>
                      <a:r>
                        <a:rPr sz="1725" b="1" noProof="1" lang="zh-CN" altLang="en-US" dirty="0" err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同频吞吐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R w="9525">
                      <a:solidFill>
                        <a:srgbClr val="D7E2EA"/>
                      </a:solidFill>
                      <a:prstDash val="solid"/>
                    </a:lnR>
                    <a:lnT w="9525">
                      <a:solidFill>
                        <a:srgbClr val="D7E2EA"/>
                      </a:solidFill>
                      <a:prstDash val="solid"/>
                    </a:lnT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087F83"/>
                    </a:solidFill>
                  </a:tcPr>
                </a:tc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ctr"/>
                      <a:r>
                        <a:rPr sz="1725" b="1" noProof="1" lang="zh-CN" altLang="en-US" dirty="0" err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逻辑面积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R w="9525">
                      <a:solidFill>
                        <a:srgbClr val="D7E2EA"/>
                      </a:solidFill>
                      <a:prstDash val="solid"/>
                    </a:lnR>
                    <a:lnT w="9525">
                      <a:solidFill>
                        <a:srgbClr val="D7E2EA"/>
                      </a:solidFill>
                      <a:prstDash val="solid"/>
                    </a:lnT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087F83"/>
                    </a:solidFill>
                  </a:tcPr>
                </a:tc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ctr"/>
                      <a:r>
                        <a:rPr sz="1725" b="1" noProof="1" lang="zh-CN" altLang="en-US" dirty="0" err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时钟预算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R w="9525">
                      <a:solidFill>
                        <a:srgbClr val="D7E2EA"/>
                      </a:solidFill>
                      <a:prstDash val="solid"/>
                    </a:lnR>
                    <a:lnT w="9525">
                      <a:solidFill>
                        <a:srgbClr val="D7E2EA"/>
                      </a:solidFill>
                      <a:prstDash val="solid"/>
                    </a:lnT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087F83"/>
                    </a:solidFill>
                  </a:tcPr>
                </a:tc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ctr"/>
                      <a:r>
                        <a:rPr sz="1725" b="1" noProof="1" lang="zh-CN" altLang="en-US" dirty="0" err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Cache 功耗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R w="9525">
                      <a:solidFill>
                        <a:srgbClr val="D7E2EA"/>
                      </a:solidFill>
                      <a:prstDash val="solid"/>
                    </a:lnR>
                    <a:lnT w="9525">
                      <a:solidFill>
                        <a:srgbClr val="D7E2EA"/>
                      </a:solidFill>
                      <a:prstDash val="solid"/>
                    </a:lnT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087F83"/>
                    </a:solidFill>
                  </a:tcPr>
                </a:tc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ctr"/>
                      <a:r>
                        <a:rPr sz="1725" b="1" noProof="1" lang="zh-CN" altLang="en-US" dirty="0" err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能量 / 非零元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R w="9525">
                      <a:solidFill>
                        <a:srgbClr val="D7E2EA"/>
                      </a:solidFill>
                      <a:prstDash val="solid"/>
                    </a:lnR>
                    <a:lnT w="9525">
                      <a:solidFill>
                        <a:srgbClr val="D7E2EA"/>
                      </a:solidFill>
                      <a:prstDash val="solid"/>
                    </a:lnT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087F83"/>
                    </a:solidFill>
                  </a:tcPr>
                </a:tc>
              </a:tr>
              <a:tr h="685800"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800" b="0" noProof="1" lang="zh-CN" altLang="en-US" dirty="0" err="0">
                          <a:solidFill>
                            <a:srgbClr val="243B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① 发送解耦</a:t>
                      </a:r>
                      <a:endParaRPr b="0" noProof="1" lang="zh-CN" altLang="en-US" dirty="0" err="0"/>
                    </a:p>
                    <a:p>
                      <a:pPr algn="l"/>
                      <a:r>
                        <a:rPr sz="1800" b="0" noProof="1" lang="zh-CN" altLang="en-US" dirty="0" err="0">
                          <a:solidFill>
                            <a:srgbClr val="243B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000 → 100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L w="9525">
                      <a:solidFill>
                        <a:srgbClr val="D7E2EA"/>
                      </a:solidFill>
                      <a:prstDash val="solid"/>
                    </a:lnL>
                    <a:lnR w="9525">
                      <a:solidFill>
                        <a:srgbClr val="D7E2EA"/>
                      </a:solidFill>
                      <a:prstDash val="solid"/>
                    </a:lnR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ctr"/>
                      <a:r>
                        <a:rPr sz="1800" b="0" noProof="1" lang="zh-CN" altLang="en-US" dirty="0" err="0">
                          <a:solidFill>
                            <a:srgbClr val="087F8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+1.89%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R w="9525">
                      <a:solidFill>
                        <a:srgbClr val="D7E2EA"/>
                      </a:solidFill>
                      <a:prstDash val="solid"/>
                    </a:lnR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ctr"/>
                      <a:r>
                        <a:rPr sz="1800" b="0" noProof="1" lang="zh-CN" altLang="en-US" dirty="0" err="0">
                          <a:solidFill>
                            <a:srgbClr val="243B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+1.39%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R w="9525">
                      <a:solidFill>
                        <a:srgbClr val="D7E2EA"/>
                      </a:solidFill>
                      <a:prstDash val="solid"/>
                    </a:lnR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ctr"/>
                      <a:r>
                        <a:rPr sz="1800" b="0" noProof="1" lang="zh-CN" altLang="en-US" dirty="0" err="0">
                          <a:solidFill>
                            <a:srgbClr val="243B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−1.28%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R w="9525">
                      <a:solidFill>
                        <a:srgbClr val="D7E2EA"/>
                      </a:solidFill>
                      <a:prstDash val="solid"/>
                    </a:lnR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ctr"/>
                      <a:r>
                        <a:rPr sz="1800" b="0" noProof="1" lang="zh-CN" altLang="en-US" dirty="0" err="0">
                          <a:solidFill>
                            <a:srgbClr val="243B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+0.35%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R w="9525">
                      <a:solidFill>
                        <a:srgbClr val="D7E2EA"/>
                      </a:solidFill>
                      <a:prstDash val="solid"/>
                    </a:lnR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ctr"/>
                      <a:r>
                        <a:rPr sz="1800" b="0" noProof="1" lang="zh-CN" altLang="en-US" dirty="0" err="0">
                          <a:solidFill>
                            <a:srgbClr val="087F8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−1.51%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R w="9525">
                      <a:solidFill>
                        <a:srgbClr val="D7E2EA"/>
                      </a:solidFill>
                      <a:prstDash val="solid"/>
                    </a:lnR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800" b="0" noProof="1" lang="zh-CN" altLang="en-US" dirty="0" err="0">
                          <a:solidFill>
                            <a:srgbClr val="243B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② 提前授权</a:t>
                      </a:r>
                      <a:endParaRPr b="0" noProof="1" lang="zh-CN" altLang="en-US" dirty="0" err="0"/>
                    </a:p>
                    <a:p>
                      <a:pPr algn="l"/>
                      <a:r>
                        <a:rPr sz="1800" b="0" noProof="1" lang="zh-CN" altLang="en-US" dirty="0" err="0">
                          <a:solidFill>
                            <a:srgbClr val="243B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100 → 110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L w="9525">
                      <a:solidFill>
                        <a:srgbClr val="D7E2EA"/>
                      </a:solidFill>
                      <a:prstDash val="solid"/>
                    </a:lnL>
                    <a:lnR w="9525">
                      <a:solidFill>
                        <a:srgbClr val="D7E2EA"/>
                      </a:solidFill>
                      <a:prstDash val="solid"/>
                    </a:lnR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ctr"/>
                      <a:r>
                        <a:rPr sz="1800" b="0" noProof="1" lang="zh-CN" altLang="en-US" dirty="0" err="0">
                          <a:solidFill>
                            <a:srgbClr val="087F8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+3.53%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R w="9525">
                      <a:solidFill>
                        <a:srgbClr val="D7E2EA"/>
                      </a:solidFill>
                      <a:prstDash val="solid"/>
                    </a:lnR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ctr"/>
                      <a:r>
                        <a:rPr sz="1800" b="0" noProof="1" lang="zh-CN" altLang="en-US" dirty="0" err="0">
                          <a:solidFill>
                            <a:srgbClr val="243B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+0.44%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R w="9525">
                      <a:solidFill>
                        <a:srgbClr val="D7E2EA"/>
                      </a:solidFill>
                      <a:prstDash val="solid"/>
                    </a:lnR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ctr"/>
                      <a:r>
                        <a:rPr sz="1800" b="0" noProof="1" lang="zh-CN" altLang="en-US" dirty="0" err="0">
                          <a:solidFill>
                            <a:srgbClr val="243B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−0.24%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R w="9525">
                      <a:solidFill>
                        <a:srgbClr val="D7E2EA"/>
                      </a:solidFill>
                      <a:prstDash val="solid"/>
                    </a:lnR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ctr"/>
                      <a:r>
                        <a:rPr sz="1800" b="0" noProof="1" lang="zh-CN" altLang="en-US" dirty="0" err="0">
                          <a:solidFill>
                            <a:srgbClr val="243B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+0.31%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R w="9525">
                      <a:solidFill>
                        <a:srgbClr val="D7E2EA"/>
                      </a:solidFill>
                      <a:prstDash val="solid"/>
                    </a:lnR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ctr"/>
                      <a:r>
                        <a:rPr sz="1800" b="0" noProof="1" lang="zh-CN" altLang="en-US" dirty="0" err="0">
                          <a:solidFill>
                            <a:srgbClr val="087F8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−3.11%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R w="9525">
                      <a:solidFill>
                        <a:srgbClr val="D7E2EA"/>
                      </a:solidFill>
                      <a:prstDash val="solid"/>
                    </a:lnR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</a:tr>
              <a:tr h="685800"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800" b="0" noProof="1" lang="zh-CN" altLang="en-US" dirty="0" err="0">
                          <a:solidFill>
                            <a:srgbClr val="243B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③ Tag/Data 交错</a:t>
                      </a:r>
                      <a:endParaRPr b="0" noProof="1" lang="zh-CN" altLang="en-US" dirty="0" err="0"/>
                    </a:p>
                    <a:p>
                      <a:pPr algn="l"/>
                      <a:r>
                        <a:rPr sz="1800" b="0" noProof="1" lang="zh-CN" altLang="en-US" dirty="0" err="0">
                          <a:solidFill>
                            <a:srgbClr val="243B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110 → 111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L w="9525">
                      <a:solidFill>
                        <a:srgbClr val="D7E2EA"/>
                      </a:solidFill>
                      <a:prstDash val="solid"/>
                    </a:lnL>
                    <a:lnR w="9525">
                      <a:solidFill>
                        <a:srgbClr val="D7E2EA"/>
                      </a:solidFill>
                      <a:prstDash val="solid"/>
                    </a:lnR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ctr"/>
                      <a:r>
                        <a:rPr sz="1800" b="0" noProof="1" lang="zh-CN" altLang="en-US" dirty="0" err="0">
                          <a:solidFill>
                            <a:srgbClr val="087F8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+5.00%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R w="9525">
                      <a:solidFill>
                        <a:srgbClr val="D7E2EA"/>
                      </a:solidFill>
                      <a:prstDash val="solid"/>
                    </a:lnR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ctr"/>
                      <a:r>
                        <a:rPr sz="1800" b="0" noProof="1" lang="zh-CN" altLang="en-US" dirty="0" err="0">
                          <a:solidFill>
                            <a:srgbClr val="243B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−0.21%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R w="9525">
                      <a:solidFill>
                        <a:srgbClr val="D7E2EA"/>
                      </a:solidFill>
                      <a:prstDash val="solid"/>
                    </a:lnR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ctr"/>
                      <a:r>
                        <a:rPr sz="1800" b="0" noProof="1" lang="zh-CN" altLang="en-US" dirty="0" err="0">
                          <a:solidFill>
                            <a:srgbClr val="243B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+0.39%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R w="9525">
                      <a:solidFill>
                        <a:srgbClr val="D7E2EA"/>
                      </a:solidFill>
                      <a:prstDash val="solid"/>
                    </a:lnR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ctr"/>
                      <a:r>
                        <a:rPr sz="1800" b="0" noProof="1" lang="zh-CN" altLang="en-US" dirty="0" err="0">
                          <a:solidFill>
                            <a:srgbClr val="243B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+0.27%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R w="9525">
                      <a:solidFill>
                        <a:srgbClr val="D7E2EA"/>
                      </a:solidFill>
                      <a:prstDash val="solid"/>
                    </a:lnR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ctr"/>
                      <a:r>
                        <a:rPr sz="1800" b="0" noProof="1" lang="zh-CN" altLang="en-US" dirty="0" err="0">
                          <a:solidFill>
                            <a:srgbClr val="087F8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−4.51%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R w="9525">
                      <a:solidFill>
                        <a:srgbClr val="D7E2EA"/>
                      </a:solidFill>
                      <a:prstDash val="solid"/>
                    </a:lnR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mapping-note">
            <a:extLst xmlns:a="http://schemas.openxmlformats.org/drawingml/2006/main">
              <a:ext uri="{FF2B5EF4-FFF2-40B4-BE49-F238E27FC236}">
                <a16:creationId xmlns:a16="http://schemas.microsoft.com/office/drawing/2014/main" id="{865789EF-0236-45A9-A540-0AC88AE2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91125"/>
            <a:ext cx="11029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小幅面积 / 时序变化包含映射波动；时钟预算越小越好。能量下降来自运行时间缩短。</a:t>
            </a:r>
            <a:endParaRPr b="0" noProof="1" lang="zh-CN" altLang="en-US" dirty="0" err="0"/>
          </a:p>
        </p:txBody>
      </p:sp>
      <p:sp>
        <p:nvSpPr>
          <p:cNvPr id="10" name="decision">
            <a:extLst xmlns:a="http://schemas.openxmlformats.org/drawingml/2006/main">
              <a:ext uri="{FF2B5EF4-FFF2-40B4-BE49-F238E27FC236}">
                <a16:creationId xmlns:a16="http://schemas.microsoft.com/office/drawing/2014/main" id="{7F72A64D-F54A-4840-A199-80806AC8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05450"/>
            <a:ext cx="11029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保留为可选机制：发送解耦收益余量较小，后两项的增量效率更好。</a:t>
            </a:r>
            <a:endParaRPr b="0" noProof="1" lang="zh-CN" altLang="en-US" dirty="0" err="0"/>
          </a:p>
        </p:txBody>
      </p:sp>
      <p:sp>
        <p:nvSpPr>
          <p:cNvPr id="11" name="next-validation">
            <a:extLst xmlns:a="http://schemas.openxmlformats.org/drawingml/2006/main">
              <a:ext uri="{FF2B5EF4-FFF2-40B4-BE49-F238E27FC236}">
                <a16:creationId xmlns:a16="http://schemas.microsoft.com/office/drawing/2014/main" id="{E651ADF7-A84D-47DB-B9E5-D65E34FA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11029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rPr>
              <a:t>开关默认关闭；最终配置仍需八组合消融、统一基线总 PPA 与目标工艺验证。</a:t>
            </a:r>
            <a:endParaRPr b="0" noProof="1" lang="zh-CN" altLang="en-US" dirty="0" err="0"/>
          </a:p>
        </p:txBody>
      </p:sp>
    </p:spTree>
    <p:extLst>
      <p:ext uri="{BB962C8B-B14F-4D97-AF65-F5344CB8AC3E}">
        <p14:creationId xmlns:p14="http://schemas.microsoft.com/office/powerpoint/2010/main" val="464817271"/>
      </p:ext>
    </p:extLst>
  </p:cSld>
</p:sld>
</file>

<file path=ppt/theme/theme1.xml><?xml version="1.0" encoding="utf-8"?>
<a:theme xmlns:a="http://schemas.openxmlformats.org/drawingml/2006/main" name="ChatGPT">
  <a:themeElements>
    <a:clrScheme name="HPDcache Navy and Teal">
      <a:dk1>
        <a:srgbClr val="0D2234"/>
      </a:dk1>
      <a:lt1>
        <a:srgbClr val="FFFFFF"/>
      </a:lt1>
      <a:dk2>
        <a:srgbClr val="17324D"/>
      </a:dk2>
      <a:lt2>
        <a:srgbClr val="D7E2EA"/>
      </a:lt2>
      <a:accent1>
        <a:srgbClr val="17324D"/>
      </a:accent1>
      <a:accent2>
        <a:srgbClr val="087F83"/>
      </a:accent2>
      <a:accent3>
        <a:srgbClr val="B66A27"/>
      </a:accent3>
      <a:accent4>
        <a:srgbClr val="647C92"/>
      </a:accent4>
      <a:accent5>
        <a:srgbClr val="96B5C3"/>
      </a:accent5>
      <a:accent6>
        <a:srgbClr val="D7E2EA"/>
      </a:accent6>
      <a:hlink>
        <a:srgbClr val="087F83"/>
      </a:hlink>
      <a:folHlink>
        <a:srgbClr val="526D82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HPDcache Navy and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2026-10-26T08:02:26.6540000Z</dcterms:created>
  <dcterms:modified xsi:type="dcterms:W3CDTF">2026-10-26T08:02:26.6550000Z</dcterms:modified>
</coreProperties>
</file>