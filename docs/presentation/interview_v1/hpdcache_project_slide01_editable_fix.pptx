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 noProof="1" altLang="en-US" dirty="0" err="0" b="0"/>
    </a:defPPr>
    <a:lvl1pPr marL="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 noProof="1" lang="zh-CN" altLang="en-US" dirty="0" err="0" b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92"/>
    <p:restoredTop sz="94690"/>
  </p:normalViewPr>
  <p:slideViewPr>
    <p:cSldViewPr snapToGrid="0">
      <p:cViewPr varScale="1">
        <p:scale>
          <a:sx n="130" d="100"/>
          <a:sy n="130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-22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noProof="1" lang="zh-CN" altLang="en-US" dirty="0" err="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noProof="1" lang="zh-CN" altLang="en-US" dirty="0" err="0" b="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 noProof="1" dirty="0" err="0" b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0" noProof="1" lang="zh-CN" altLang="en-US" b="0"/>
              <a:t>这个项目关注稀疏计算中的供数效率。我以多行并行的稀疏矩阵乘向量作为代表负载</a:t>
            </a:r>
            <a:r>
              <a:rPr dirty="0" noProof="1" lang="zh-CN" altLang="en-US" err="0" b="0"/>
              <a:t>，</a:t>
            </a:r>
            <a:endParaRPr noProof="1" lang="zh-CN" altLang="en-US" dirty="0" err="0" b="0"/>
          </a:p>
          <a:p>
            <a:r>
              <a:rPr dirty="0" err="0" noProof="1" lang="zh-CN" altLang="en-US" b="0"/>
              <a:t>它既有连续读取，也有根据索引确定地址的间接访问。虽然</a:t>
            </a:r>
            <a:r>
              <a:rPr dirty="0" noProof="1" lang="zh-CN" altLang="en-US" err="0" b="0"/>
              <a:t> </a:t>
            </a:r>
            <a:r>
              <a:rPr dirty="0" err="0" noProof="1" lang="zh-CN" altLang="en-US" b="0"/>
              <a:t>HPDcache</a:t>
            </a:r>
            <a:r>
              <a:rPr dirty="0" noProof="1" lang="zh-CN" altLang="en-US" err="0" b="0"/>
              <a:t> </a:t>
            </a:r>
            <a:r>
              <a:rPr dirty="0" err="0" noProof="1" lang="zh-CN" altLang="en-US" b="0"/>
              <a:t>已经支持多个</a:t>
            </a:r>
            <a:endParaRPr dirty="0" noProof="1" lang="zh-CN" altLang="en-US" err="0" b="0"/>
          </a:p>
          <a:p>
            <a:r>
              <a:rPr dirty="0" err="0" noProof="1" lang="zh-CN" altLang="en-US" b="0"/>
              <a:t>未完成请求，但发送和回填阶段仍可能让后续访问等待。我基于这个开源项目完成了</a:t>
            </a:r>
            <a:endParaRPr dirty="0" noProof="1" lang="zh-CN" altLang="en-US" err="0" b="0"/>
          </a:p>
          <a:p>
            <a:r>
              <a:rPr dirty="0" err="0" noProof="1" lang="zh-CN" altLang="en-US" b="0"/>
              <a:t>负载建模、瓶颈定位和控制器</a:t>
            </a:r>
            <a:r>
              <a:rPr dirty="0" noProof="1" lang="zh-CN" altLang="en-US" err="0" b="0"/>
              <a:t> RTL </a:t>
            </a:r>
            <a:r>
              <a:rPr dirty="0" err="0" noProof="1" lang="zh-CN" altLang="en-US" b="0"/>
              <a:t>改造，并通过功能验证、应用性能以及</a:t>
            </a:r>
            <a:r>
              <a:rPr dirty="0" noProof="1" lang="zh-CN" altLang="en-US" err="0" b="0"/>
              <a:t> PPA </a:t>
            </a:r>
            <a:r>
              <a:rPr dirty="0" err="0" noProof="1" lang="zh-CN" altLang="en-US" b="0"/>
              <a:t>来判断</a:t>
            </a:r>
            <a:endParaRPr dirty="0" noProof="1" lang="zh-CN" altLang="en-US" err="0" b="0"/>
          </a:p>
          <a:p>
            <a:r>
              <a:rPr dirty="0" err="0" noProof="1" lang="zh-CN" altLang="en-US" b="0"/>
              <a:t>改动是否值得。接下来先介绍这个负载是怎样产生访存请求的</a:t>
            </a:r>
            <a:r>
              <a:rPr dirty="0" noProof="1" lang="zh-CN" altLang="en-US" err="0" b="0"/>
              <a:t>。</a:t>
            </a:r>
            <a:endParaRPr noProof="1" lang="zh-CN" altLang="en-US" dirty="0" err="0" b="0"/>
          </a:p>
          <a:p>
            <a:endParaRPr dirty="0" noProof="1" lang="zh-CN" altLang="en-US" err="0" b="0"/>
          </a:p>
          <a:p>
            <a:r>
              <a:rPr dirty="0" noProof="1" lang="zh-CN" altLang="en-US" err="0" b="0"/>
              <a:t>来源：用户提供《HPDcache优化_项目讲解.pptx》第1页（项目标题与经历日期）；</a:t>
            </a:r>
            <a:endParaRPr noProof="1" lang="zh-CN" altLang="en-US" dirty="0" err="0" b="0"/>
          </a:p>
          <a:p>
            <a:r>
              <a:rPr dirty="0" err="0" noProof="1" lang="zh-CN" altLang="en-US" b="0"/>
              <a:t>项目证据：rtl</a:t>
            </a:r>
            <a:r>
              <a:rPr dirty="0" noProof="1" lang="zh-CN" altLang="en-US" err="0" b="0"/>
              <a:t>/tb/tests/</a:t>
            </a:r>
            <a:r>
              <a:rPr dirty="0" err="0" noProof="1" lang="zh-CN" altLang="en-US" b="0"/>
              <a:t>miss_issue_research</a:t>
            </a:r>
            <a:r>
              <a:rPr dirty="0" noProof="1" lang="zh-CN" altLang="en-US" err="0" b="0"/>
              <a:t>/real/</a:t>
            </a:r>
            <a:r>
              <a:rPr dirty="0" err="0" noProof="1" lang="zh-CN" altLang="en-US" b="0"/>
              <a:t>README.md</a:t>
            </a:r>
            <a:r>
              <a:rPr dirty="0" noProof="1" lang="zh-CN" altLang="en-US" err="0" b="0"/>
              <a:t>；</a:t>
            </a:r>
            <a:endParaRPr noProof="1" lang="zh-CN" altLang="en-US" dirty="0" err="0" b="0"/>
          </a:p>
          <a:p>
            <a:r>
              <a:rPr dirty="0" err="0" noProof="1" lang="zh-CN" altLang="en-US" b="0"/>
              <a:t>rtl</a:t>
            </a:r>
            <a:r>
              <a:rPr dirty="0" noProof="1" lang="zh-CN" altLang="en-US" err="0" b="0"/>
              <a:t>/tb/tests/</a:t>
            </a:r>
            <a:r>
              <a:rPr dirty="0" err="0" noProof="1" lang="zh-CN" altLang="en-US" b="0"/>
              <a:t>miss_issue_research</a:t>
            </a:r>
            <a:r>
              <a:rPr dirty="0" noProof="1" lang="zh-CN" altLang="en-US" err="0" b="0"/>
              <a:t>/real/</a:t>
            </a:r>
            <a:r>
              <a:rPr dirty="0" err="0" noProof="1" lang="zh-CN" altLang="en-US" b="0"/>
              <a:t>RESULTS.md</a:t>
            </a:r>
            <a:r>
              <a:rPr dirty="0" noProof="1" lang="zh-CN" altLang="en-US" err="0" b="0"/>
              <a:t>；</a:t>
            </a:r>
            <a:endParaRPr noProof="1" lang="zh-CN" altLang="en-US" dirty="0" err="0" b="0"/>
          </a:p>
          <a:p>
            <a:r>
              <a:rPr dirty="0" err="0" noProof="1" lang="zh-CN" altLang="en-US" b="0"/>
              <a:t>rtl</a:t>
            </a:r>
            <a:r>
              <a:rPr dirty="0" noProof="1" lang="zh-CN" altLang="en-US" err="0" b="0"/>
              <a:t>/tb/tests/</a:t>
            </a:r>
            <a:r>
              <a:rPr dirty="0" err="0" noProof="1" lang="zh-CN" altLang="en-US" b="0"/>
              <a:t>miss_issue_research</a:t>
            </a:r>
            <a:r>
              <a:rPr dirty="0" noProof="1" lang="zh-CN" altLang="en-US" err="0" b="0"/>
              <a:t>/</a:t>
            </a:r>
            <a:r>
              <a:rPr dirty="0" err="0" noProof="1" lang="zh-CN" altLang="en-US" b="0"/>
              <a:t>EARLY_GRANT_RESULTS.md</a:t>
            </a:r>
            <a:r>
              <a:rPr dirty="0" noProof="1" lang="zh-CN" altLang="en-US" err="0" b="0"/>
              <a:t>；</a:t>
            </a:r>
            <a:endParaRPr noProof="1" lang="zh-CN" altLang="en-US" dirty="0" err="0" b="0"/>
          </a:p>
          <a:p>
            <a:r>
              <a:rPr dirty="0" err="0" noProof="1" lang="zh-CN" altLang="en-US" b="0"/>
              <a:t>rtl</a:t>
            </a:r>
            <a:r>
              <a:rPr dirty="0" noProof="1" lang="zh-CN" altLang="en-US" err="0" b="0"/>
              <a:t>/tb/tests/</a:t>
            </a:r>
            <a:r>
              <a:rPr dirty="0" err="0" noProof="1" lang="zh-CN" altLang="en-US" b="0"/>
              <a:t>miss_issue_research</a:t>
            </a:r>
            <a:r>
              <a:rPr dirty="0" noProof="1" lang="zh-CN" altLang="en-US" err="0" b="0"/>
              <a:t>/</a:t>
            </a:r>
            <a:r>
              <a:rPr dirty="0" err="0" noProof="1" lang="zh-CN" altLang="en-US" b="0"/>
              <a:t>REFILL_LOAD_OVERLAP_RESULTS.md</a:t>
            </a:r>
            <a:r>
              <a:rPr dirty="0" noProof="1" lang="zh-CN" altLang="en-US" err="0" b="0"/>
              <a:t>。</a:t>
            </a:r>
            <a:endParaRPr noProof="1" lang="zh-CN" altLang="en-US" dirty="0" err="0" b="0"/>
          </a:p>
          <a:p>
            <a:r>
              <a:rPr dirty="0" err="0" noProof="1" lang="zh-CN" altLang="en-US" b="0"/>
              <a:t>上游：HPDcache</a:t>
            </a:r>
            <a:r>
              <a:rPr dirty="0" noProof="1" lang="zh-CN" altLang="en-US" err="0" b="0"/>
              <a:t> User Guide, Architecture, https://</a:t>
            </a:r>
            <a:r>
              <a:rPr dirty="0" err="0" noProof="1" lang="zh-CN" altLang="en-US" b="0"/>
              <a:t>openhw</a:t>
            </a:r>
            <a:r>
              <a:rPr dirty="0" noProof="1" lang="zh-CN" altLang="en-US" err="0" b="0"/>
              <a:t>-group-cv-</a:t>
            </a:r>
            <a:r>
              <a:rPr dirty="0" err="0" noProof="1" lang="zh-CN" altLang="en-US" b="0"/>
              <a:t>hpdcache.readthedocs</a:t>
            </a:r>
            <a:r>
              <a:rPr dirty="0" noProof="1" lang="zh-CN" altLang="en-US" err="0" b="0"/>
              <a:t>-</a:t>
            </a:r>
            <a:r>
              <a:rPr dirty="0" err="0" noProof="1" lang="zh-CN" altLang="en-US" b="0"/>
              <a:t>hosted.com</a:t>
            </a:r>
            <a:r>
              <a:rPr dirty="0" noProof="1" lang="zh-CN" altLang="en-US" err="0" b="0"/>
              <a:t>/</a:t>
            </a:r>
            <a:endParaRPr noProof="1" lang="zh-CN" altLang="en-US" dirty="0" err="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noProof="1" lang="zh-CN" altLang="en-US" dirty="0" err="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94B81C6-EE4D-4D91-B55E-53FBC083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FE448D0-1CFD-454E-B058-B3F447880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733E48A2-E454-4F4B-B868-F5DF950D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02E5A56-2637-4F6B-B69C-3F70EEC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89A4CFC-E1A9-4AC6-9C96-BDEF98D4A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 noProof="1" lang="zh-CN" altLang="en-US" dirty="0" err="0" b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3B01C50-3DE7-4617-9094-330C4AD2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798DF6-5ACF-4ABD-8A3D-171D5184D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 noProof="1" lang="zh-CN" altLang="en-US" dirty="0" err="0" b="0"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5FF65CC-57AA-4DFB-9027-8FCF2F57EE1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 noProof="1" lang="zh-CN" altLang="en-US" dirty="0" err="0" b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618896-1D6B-41AD-B0D0-E1B1778D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 noProof="1" lang="zh-CN" altLang="en-US" dirty="0" err="0" b="0"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A2B27B-9179-4AEB-A478-D37FC4D2A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 noProof="1" lang="zh-CN" altLang="en-US" dirty="0" err="0" b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 noProof="1" lang="zh-CN" altLang="en-US" dirty="0" err="0" b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roject-title">
            <a:extLst>
              <a:ext uri="{FF2B5EF4-FFF2-40B4-BE49-F238E27FC236}">
                <a16:creationId xmlns:a16="http://schemas.microsoft.com/office/drawing/2014/main" id="{2ECE8853-D9B4-430D-B768-D09FB5E76692}"/>
              </a:ext>
            </a:extLst>
          </p:cNvPr>
          <p:cNvSpPr>
            <a:spLocks noGrp="1"/>
          </p:cNvSpPr>
          <p:nvPr/>
        </p:nvSpPr>
        <p:spPr>
          <a:xfrm>
            <a:off x="571500" y="466725"/>
            <a:ext cx="914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3150" b="1" dirty="0" noProof="1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面向 </a:t>
            </a:r>
            <a:r>
              <a:rPr lang="zh-CN" sz="3150" b="1" dirty="0" err="0" noProof="1" altLang="en-US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稀疏计算</a:t>
            </a:r>
            <a:r>
              <a:rPr lang="zh-CN" sz="3150" b="1" dirty="0" noProof="1" altLang="en-US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zh-CN" altLang="en-US" sz="3150" b="1" dirty="0" noProof="1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的 </a:t>
            </a:r>
            <a:r>
              <a:rPr lang="zh-CN" sz="3150" b="1" dirty="0" noProof="1" altLang="en-US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Cache </a:t>
            </a:r>
            <a:r>
              <a:rPr lang="zh-CN" altLang="en-US" sz="3150" b="1" dirty="0" noProof="1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控制器微架构优化</a:t>
            </a:r>
            <a:endParaRPr sz="3150" b="0" dirty="0" noProof="1" lang="zh-CN" altLang="en-US" err="0">
              <a:solidFill>
                <a:srgbClr val="1732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project-date">
            <a:extLst>
              <a:ext uri="{FF2B5EF4-FFF2-40B4-BE49-F238E27FC236}">
                <a16:creationId xmlns:a16="http://schemas.microsoft.com/office/drawing/2014/main" id="{C20129FC-3D8B-48DF-B83B-BAF82C8C8821}"/>
              </a:ext>
            </a:extLst>
          </p:cNvPr>
          <p:cNvSpPr>
            <a:spLocks noGrp="1"/>
          </p:cNvSpPr>
          <p:nvPr/>
        </p:nvSpPr>
        <p:spPr>
          <a:xfrm>
            <a:off x="9982200" y="590550"/>
            <a:ext cx="1638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2026.9 – 至今</a:t>
            </a:r>
            <a:endParaRPr noProof="1" lang="zh-CN" altLang="en-US" dirty="0" err="0" b="0"/>
          </a:p>
        </p:txBody>
      </p:sp>
      <p:sp>
        <p:nvSpPr>
          <p:cNvPr id="3" name="project-subtitle">
            <a:extLst>
              <a:ext uri="{FF2B5EF4-FFF2-40B4-BE49-F238E27FC236}">
                <a16:creationId xmlns:a16="http://schemas.microsoft.com/office/drawing/2014/main" id="{7AFCE89D-1382-41D1-888D-906000979AE3}"/>
              </a:ext>
            </a:extLst>
          </p:cNvPr>
          <p:cNvSpPr>
            <a:spLocks noGrp="1"/>
          </p:cNvSpPr>
          <p:nvPr/>
        </p:nvSpPr>
        <p:spPr>
          <a:xfrm>
            <a:off x="590550" y="1133475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基于 </a:t>
            </a: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CV-</a:t>
            </a:r>
            <a:r>
              <a:rPr lang="zh-CN" altLang="en-US" sz="1875" b="0" dirty="0" err="0" noProof="1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HPDcache</a:t>
            </a: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，</a:t>
            </a: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以多行并行 </a:t>
            </a:r>
            <a:r>
              <a:rPr lang="zh-CN" altLang="en-US" sz="1875" b="0" dirty="0" err="0" noProof="1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SpMV</a:t>
            </a: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lang="zh-CN" altLang="en-US" sz="1875" b="0" dirty="0" noProof="1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为代表负载</a:t>
            </a:r>
            <a:endParaRPr sz="1875" b="0" dirty="0" noProof="1" lang="zh-CN" altLang="en-US" err="0">
              <a:solidFill>
                <a:srgbClr val="5A6C7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header-divider">
            <a:extLst>
              <a:ext uri="{FF2B5EF4-FFF2-40B4-BE49-F238E27FC236}">
                <a16:creationId xmlns:a16="http://schemas.microsoft.com/office/drawing/2014/main" id="{0103049E-221D-4EF9-8889-D43F50ADEA16}"/>
              </a:ext>
            </a:extLst>
          </p:cNvPr>
          <p:cNvSpPr>
            <a:spLocks noGrp="1"/>
          </p:cNvSpPr>
          <p:nvPr/>
        </p:nvSpPr>
        <p:spPr>
          <a:xfrm>
            <a:off x="571500" y="1666875"/>
            <a:ext cx="11049000" cy="19050"/>
          </a:xfrm>
          <a:prstGeom prst="rect">
            <a:avLst/>
          </a:prstGeom>
          <a:solidFill>
            <a:srgbClr val="6B9FB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noProof="1" dirty="0" err="0" b="0"/>
          </a:p>
        </p:txBody>
      </p:sp>
      <p:sp>
        <p:nvSpPr>
          <p:cNvPr id="5" name="column-divider">
            <a:extLst>
              <a:ext uri="{FF2B5EF4-FFF2-40B4-BE49-F238E27FC236}">
                <a16:creationId xmlns:a16="http://schemas.microsoft.com/office/drawing/2014/main" id="{0A6E0DDC-89DD-4F77-B9A0-C23D95C41482}"/>
              </a:ext>
            </a:extLst>
          </p:cNvPr>
          <p:cNvSpPr>
            <a:spLocks noGrp="1"/>
          </p:cNvSpPr>
          <p:nvPr/>
        </p:nvSpPr>
        <p:spPr>
          <a:xfrm>
            <a:off x="7820025" y="2105025"/>
            <a:ext cx="13335" cy="3533775"/>
          </a:xfrm>
          <a:prstGeom prst="rect">
            <a:avLst/>
          </a:prstGeom>
          <a:solidFill>
            <a:srgbClr val="D7E2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noProof="1" dirty="0" err="0" b="0"/>
          </a:p>
        </p:txBody>
      </p:sp>
      <p:sp>
        <p:nvSpPr>
          <p:cNvPr id="6" name="workload-label">
            <a:extLst>
              <a:ext uri="{FF2B5EF4-FFF2-40B4-BE49-F238E27FC236}">
                <a16:creationId xmlns:a16="http://schemas.microsoft.com/office/drawing/2014/main" id="{722A52A4-0D3D-459C-A231-1740F203D7C0}"/>
              </a:ext>
            </a:extLst>
          </p:cNvPr>
          <p:cNvSpPr>
            <a:spLocks noGrp="1"/>
          </p:cNvSpPr>
          <p:nvPr/>
        </p:nvSpPr>
        <p:spPr>
          <a:xfrm>
            <a:off x="581025" y="332613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0" noProof="1" lang="zh-CN" altLang="en-US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研究场景</a:t>
            </a:r>
            <a:endParaRPr sz="1800" b="0" dirty="0" noProof="1" lang="zh-CN" altLang="en-US" err="0">
              <a:solidFill>
                <a:srgbClr val="087F8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workload-title">
            <a:extLst>
              <a:ext uri="{FF2B5EF4-FFF2-40B4-BE49-F238E27FC236}">
                <a16:creationId xmlns:a16="http://schemas.microsoft.com/office/drawing/2014/main" id="{B97AD85B-E776-4CB5-9BBE-04DA591750DC}"/>
              </a:ext>
            </a:extLst>
          </p:cNvPr>
          <p:cNvSpPr>
            <a:spLocks noGrp="1"/>
          </p:cNvSpPr>
          <p:nvPr/>
        </p:nvSpPr>
        <p:spPr>
          <a:xfrm>
            <a:off x="581026" y="3811905"/>
            <a:ext cx="455486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dirty="0" err="0" noProof="1" lang="zh-CN" altLang="en-US" b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CJK SC"/>
              </a:rPr>
              <a:t>多行并行稀疏矩阵乘向量（SpMV</a:t>
            </a:r>
            <a:r>
              <a:rPr sz="2325" dirty="0" noProof="1" lang="zh-CN" altLang="en-US" err="0" b="0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Noto Sans CJK SC"/>
              </a:rPr>
              <a:t>）</a:t>
            </a:r>
            <a:endParaRPr noProof="1" lang="zh-CN" altLang="en-US" dirty="0" err="0" b="0"/>
          </a:p>
        </p:txBody>
      </p:sp>
      <p:sp>
        <p:nvSpPr>
          <p:cNvPr id="9" name="problem-label">
            <a:extLst>
              <a:ext uri="{FF2B5EF4-FFF2-40B4-BE49-F238E27FC236}">
                <a16:creationId xmlns:a16="http://schemas.microsoft.com/office/drawing/2014/main" id="{3CB6A6B4-3151-4E0C-9C08-B5AD9570B0D7}"/>
              </a:ext>
            </a:extLst>
          </p:cNvPr>
          <p:cNvSpPr>
            <a:spLocks noGrp="1"/>
          </p:cNvSpPr>
          <p:nvPr/>
        </p:nvSpPr>
        <p:spPr>
          <a:xfrm>
            <a:off x="590550" y="460248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核心问题</a:t>
            </a:r>
            <a:endParaRPr noProof="1" lang="zh-CN" altLang="en-US" dirty="0" err="0" b="0"/>
          </a:p>
        </p:txBody>
      </p:sp>
      <p:sp>
        <p:nvSpPr>
          <p:cNvPr id="10" name="problem-line-1">
            <a:extLst>
              <a:ext uri="{FF2B5EF4-FFF2-40B4-BE49-F238E27FC236}">
                <a16:creationId xmlns:a16="http://schemas.microsoft.com/office/drawing/2014/main" id="{38C576D8-4623-45E3-BC9F-3A387E013E27}"/>
              </a:ext>
            </a:extLst>
          </p:cNvPr>
          <p:cNvSpPr>
            <a:spLocks noGrp="1"/>
          </p:cNvSpPr>
          <p:nvPr/>
        </p:nvSpPr>
        <p:spPr>
          <a:xfrm>
            <a:off x="590551" y="5097780"/>
            <a:ext cx="4461522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dirty="0" err="0" noProof="1" lang="zh-CN" altLang="en-US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支持多个未完成请求</a:t>
            </a:r>
            <a:r>
              <a:rPr sz="2325" dirty="0" noProof="1" lang="zh-CN" altLang="en-US" err="0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，</a:t>
            </a:r>
            <a:endParaRPr noProof="1" lang="zh-CN" altLang="en-US" dirty="0" err="0" b="0"/>
          </a:p>
        </p:txBody>
      </p:sp>
      <p:sp>
        <p:nvSpPr>
          <p:cNvPr id="11" name="problem-line-2">
            <a:extLst>
              <a:ext uri="{FF2B5EF4-FFF2-40B4-BE49-F238E27FC236}">
                <a16:creationId xmlns:a16="http://schemas.microsoft.com/office/drawing/2014/main" id="{2BC58552-053E-404C-B7BD-7E7518E90109}"/>
              </a:ext>
            </a:extLst>
          </p:cNvPr>
          <p:cNvSpPr>
            <a:spLocks noGrp="1"/>
          </p:cNvSpPr>
          <p:nvPr/>
        </p:nvSpPr>
        <p:spPr>
          <a:xfrm>
            <a:off x="590551" y="5554980"/>
            <a:ext cx="4786886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dirty="0" err="0" noProof="1" lang="zh-CN" altLang="en-US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发送与回填仍可能让后续访问等待</a:t>
            </a:r>
            <a:endParaRPr sz="2325" dirty="0" noProof="1" lang="zh-CN" altLang="en-US" err="0" b="0">
              <a:solidFill>
                <a:srgbClr val="1732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2" name="goal-label">
            <a:extLst>
              <a:ext uri="{FF2B5EF4-FFF2-40B4-BE49-F238E27FC236}">
                <a16:creationId xmlns:a16="http://schemas.microsoft.com/office/drawing/2014/main" id="{9950F267-59B5-41EF-91B7-FEE29C81874E}"/>
              </a:ext>
            </a:extLst>
          </p:cNvPr>
          <p:cNvSpPr>
            <a:spLocks noGrp="1"/>
          </p:cNvSpPr>
          <p:nvPr/>
        </p:nvSpPr>
        <p:spPr>
          <a:xfrm>
            <a:off x="8296275" y="2105025"/>
            <a:ext cx="331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0" noProof="1" lang="zh-CN" altLang="en-US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项目目标</a:t>
            </a:r>
            <a:endParaRPr sz="1800" b="0" dirty="0" noProof="1" lang="zh-CN" altLang="en-US" err="0">
              <a:solidFill>
                <a:srgbClr val="087F8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goal-title">
            <a:extLst>
              <a:ext uri="{FF2B5EF4-FFF2-40B4-BE49-F238E27FC236}">
                <a16:creationId xmlns:a16="http://schemas.microsoft.com/office/drawing/2014/main" id="{ED95E9E8-E4ED-4842-9F55-3D24D156F760}"/>
              </a:ext>
            </a:extLst>
          </p:cNvPr>
          <p:cNvSpPr>
            <a:spLocks noGrp="1"/>
          </p:cNvSpPr>
          <p:nvPr/>
        </p:nvSpPr>
        <p:spPr>
          <a:xfrm>
            <a:off x="8277225" y="2600325"/>
            <a:ext cx="335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5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35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 dirty="0" err="0" noProof="1" lang="zh-CN" altLang="en-US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提高</a:t>
            </a:r>
            <a:r>
              <a:rPr sz="3525" dirty="0" err="0" noProof="1" lang="zh-CN" altLang="en-US" b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应用</a:t>
            </a:r>
            <a:r>
              <a:rPr sz="3525" b="1" dirty="0" err="0" noProof="1" lang="zh-CN" altLang="en-US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吞吐</a:t>
            </a:r>
            <a:endParaRPr sz="3525" b="0" dirty="0" noProof="1" lang="zh-CN" altLang="en-US" err="0">
              <a:solidFill>
                <a:srgbClr val="17324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goal-description">
            <a:extLst>
              <a:ext uri="{FF2B5EF4-FFF2-40B4-BE49-F238E27FC236}">
                <a16:creationId xmlns:a16="http://schemas.microsoft.com/office/drawing/2014/main" id="{4558F08A-F4C2-4DE5-876D-E1FCFFAEE544}"/>
              </a:ext>
            </a:extLst>
          </p:cNvPr>
          <p:cNvSpPr>
            <a:spLocks noGrp="1"/>
          </p:cNvSpPr>
          <p:nvPr/>
        </p:nvSpPr>
        <p:spPr>
          <a:xfrm>
            <a:off x="8296275" y="3333750"/>
            <a:ext cx="3314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以 PPA 判断收益是否值得</a:t>
            </a:r>
            <a:endParaRPr noProof="1" lang="zh-CN" altLang="en-US" dirty="0" err="0" b="0"/>
          </a:p>
        </p:txBody>
      </p:sp>
      <p:sp>
        <p:nvSpPr>
          <p:cNvPr id="15" name="contribution-label">
            <a:extLst>
              <a:ext uri="{FF2B5EF4-FFF2-40B4-BE49-F238E27FC236}">
                <a16:creationId xmlns:a16="http://schemas.microsoft.com/office/drawing/2014/main" id="{534CE3D5-F970-4008-8F3B-402FCC615589}"/>
              </a:ext>
            </a:extLst>
          </p:cNvPr>
          <p:cNvSpPr>
            <a:spLocks noGrp="1"/>
          </p:cNvSpPr>
          <p:nvPr/>
        </p:nvSpPr>
        <p:spPr>
          <a:xfrm>
            <a:off x="8296275" y="3990975"/>
            <a:ext cx="3314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个人工作</a:t>
            </a:r>
            <a:endParaRPr noProof="1" lang="zh-CN" altLang="en-US" dirty="0" err="0" b="0"/>
          </a:p>
        </p:txBody>
      </p:sp>
      <p:sp>
        <p:nvSpPr>
          <p:cNvPr id="16" name="contribution-1">
            <a:extLst>
              <a:ext uri="{FF2B5EF4-FFF2-40B4-BE49-F238E27FC236}">
                <a16:creationId xmlns:a16="http://schemas.microsoft.com/office/drawing/2014/main" id="{0328D514-F0AD-44B4-AC72-D3DEBFC89F02}"/>
              </a:ext>
            </a:extLst>
          </p:cNvPr>
          <p:cNvSpPr>
            <a:spLocks noGrp="1"/>
          </p:cNvSpPr>
          <p:nvPr/>
        </p:nvSpPr>
        <p:spPr>
          <a:xfrm>
            <a:off x="8296275" y="4514850"/>
            <a:ext cx="3314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dirty="0" err="0" noProof="1" lang="zh-CN" altLang="en-US" b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负载建模与瓶颈定位</a:t>
            </a:r>
            <a:endParaRPr sz="1950" dirty="0" noProof="1" lang="zh-CN" altLang="en-US" err="0" b="0">
              <a:solidFill>
                <a:srgbClr val="243B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contribution-2">
            <a:extLst>
              <a:ext uri="{FF2B5EF4-FFF2-40B4-BE49-F238E27FC236}">
                <a16:creationId xmlns:a16="http://schemas.microsoft.com/office/drawing/2014/main" id="{31854007-DCB0-476B-A7AC-F880972D8C84}"/>
              </a:ext>
            </a:extLst>
          </p:cNvPr>
          <p:cNvSpPr>
            <a:spLocks noGrp="1"/>
          </p:cNvSpPr>
          <p:nvPr/>
        </p:nvSpPr>
        <p:spPr>
          <a:xfrm>
            <a:off x="8296275" y="4943475"/>
            <a:ext cx="3314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控制器 RTL 改造与验证</a:t>
            </a:r>
            <a:endParaRPr noProof="1" lang="zh-CN" altLang="en-US" dirty="0" err="0" b="0"/>
          </a:p>
        </p:txBody>
      </p:sp>
      <p:sp>
        <p:nvSpPr>
          <p:cNvPr id="18" name="contribution-3">
            <a:extLst>
              <a:ext uri="{FF2B5EF4-FFF2-40B4-BE49-F238E27FC236}">
                <a16:creationId xmlns:a16="http://schemas.microsoft.com/office/drawing/2014/main" id="{75F6256C-DEAD-4325-9385-A43F65401F13}"/>
              </a:ext>
            </a:extLst>
          </p:cNvPr>
          <p:cNvSpPr>
            <a:spLocks noGrp="1"/>
          </p:cNvSpPr>
          <p:nvPr/>
        </p:nvSpPr>
        <p:spPr>
          <a:xfrm>
            <a:off x="8296275" y="5372100"/>
            <a:ext cx="3314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应用性能与 PPA 评估</a:t>
            </a:r>
            <a:endParaRPr noProof="1" lang="zh-CN" altLang="en-US" dirty="0" err="0" b="0"/>
          </a:p>
        </p:txBody>
      </p:sp>
      <p:sp>
        <p:nvSpPr>
          <p:cNvPr id="19" name="footer-divider">
            <a:extLst>
              <a:ext uri="{FF2B5EF4-FFF2-40B4-BE49-F238E27FC236}">
                <a16:creationId xmlns:a16="http://schemas.microsoft.com/office/drawing/2014/main" id="{1A16DC17-6398-46C2-829B-B81B8E65525D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11049000" cy="9525"/>
          </a:xfrm>
          <a:prstGeom prst="rect">
            <a:avLst/>
          </a:prstGeom>
          <a:solidFill>
            <a:srgbClr val="D7E2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noProof="1" dirty="0" err="0" b="0"/>
          </a:p>
        </p:txBody>
      </p:sp>
      <p:sp>
        <p:nvSpPr>
          <p:cNvPr id="20" name="implementation-scope">
            <a:extLst>
              <a:ext uri="{FF2B5EF4-FFF2-40B4-BE49-F238E27FC236}">
                <a16:creationId xmlns:a16="http://schemas.microsoft.com/office/drawing/2014/main" id="{17282FAC-68EE-4E0A-9D1F-41B803AB53FB}"/>
              </a:ext>
            </a:extLst>
          </p:cNvPr>
          <p:cNvSpPr>
            <a:spLocks noGrp="1"/>
          </p:cNvSpPr>
          <p:nvPr/>
        </p:nvSpPr>
        <p:spPr>
          <a:xfrm>
            <a:off x="590550" y="63436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Cache：SystemVerilog RTL   ·   SpMV：SystemC 行为模型   ·   PPA：Cache 级布局前估算</a:t>
            </a:r>
            <a:endParaRPr noProof="1" lang="zh-CN" altLang="en-US" dirty="0" err="0" b="0"/>
          </a:p>
        </p:txBody>
      </p:sp>
      <p:sp>
        <p:nvSpPr>
          <p:cNvPr id="21" name="page-number">
            <a:extLst>
              <a:ext uri="{FF2B5EF4-FFF2-40B4-BE49-F238E27FC236}">
                <a16:creationId xmlns:a16="http://schemas.microsoft.com/office/drawing/2014/main" id="{208EAA19-9123-4FAE-930D-04AD04BA46B5}"/>
              </a:ext>
            </a:extLst>
          </p:cNvPr>
          <p:cNvSpPr>
            <a:spLocks noGrp="1"/>
          </p:cNvSpPr>
          <p:nvPr/>
        </p:nvSpPr>
        <p:spPr>
          <a:xfrm>
            <a:off x="11210925" y="6324600"/>
            <a:ext cx="400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noProof="1" lang="zh-CN" altLang="en-US" dirty="0" err="0" b="0"/>
          </a:p>
        </p:txBody>
      </p:sp>
      <p:sp>
        <p:nvSpPr>
          <p:cNvPr id="23" name="workload-label">
            <a:extLst>
              <a:ext uri="{FF2B5EF4-FFF2-40B4-BE49-F238E27FC236}">
                <a16:creationId xmlns:a16="http://schemas.microsoft.com/office/drawing/2014/main" id="{2A1D3619-C600-90BE-7F18-0F2B4CCE95DF}"/>
              </a:ext>
            </a:extLst>
          </p:cNvPr>
          <p:cNvSpPr>
            <a:spLocks noGrp="1"/>
          </p:cNvSpPr>
          <p:nvPr/>
        </p:nvSpPr>
        <p:spPr>
          <a:xfrm>
            <a:off x="590550" y="176784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800" b="1" dirty="0" noProof="1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项目背</a:t>
            </a:r>
            <a:r>
              <a:rPr sz="1800" b="1" dirty="0" err="0" noProof="1" lang="zh-CN" altLang="en-US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景</a:t>
            </a:r>
            <a:endParaRPr sz="1800" b="0" dirty="0" noProof="1" lang="zh-CN" altLang="en-US" err="0">
              <a:solidFill>
                <a:srgbClr val="087F8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workload-title">
            <a:extLst>
              <a:ext uri="{FF2B5EF4-FFF2-40B4-BE49-F238E27FC236}">
                <a16:creationId xmlns:a16="http://schemas.microsoft.com/office/drawing/2014/main" id="{E6AFD910-C843-7B69-1F8A-E5499AB3EC96}"/>
              </a:ext>
            </a:extLst>
          </p:cNvPr>
          <p:cNvSpPr>
            <a:spLocks noGrp="1"/>
          </p:cNvSpPr>
          <p:nvPr/>
        </p:nvSpPr>
        <p:spPr>
          <a:xfrm>
            <a:off x="590550" y="2253615"/>
            <a:ext cx="61052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325" dirty="0" noProof="1" err="0" b="0">
                <a:solidFill>
                  <a:srgbClr val="17324D"/>
                </a:solidFill>
                <a:cs typeface="Noto Sans CJK SC"/>
              </a:rPr>
              <a:t>稀疏计算通过只存储和处理非零元素减少开销</a:t>
            </a:r>
            <a:r>
              <a:rPr lang="zh-CN" altLang="en-US" sz="2325" dirty="0" noProof="1" err="0" b="0">
                <a:solidFill>
                  <a:srgbClr val="17324D"/>
                </a:solidFill>
                <a:latin typeface="Noto Sans CJK SC"/>
                <a:cs typeface="Noto Sans CJK SC"/>
              </a:rPr>
              <a:t>，</a:t>
            </a:r>
            <a:endParaRPr sz="2325" dirty="0" noProof="1" lang="zh-CN" altLang="en-US" err="0" b="0">
              <a:solidFill>
                <a:srgbClr val="17324D"/>
              </a:solidFill>
              <a:latin typeface="Noto Sans CJK SC"/>
              <a:cs typeface="Noto Sans CJK SC"/>
            </a:endParaRPr>
          </a:p>
        </p:txBody>
      </p:sp>
      <p:sp>
        <p:nvSpPr>
          <p:cNvPr id="26" name="workload-title">
            <a:extLst>
              <a:ext uri="{FF2B5EF4-FFF2-40B4-BE49-F238E27FC236}">
                <a16:creationId xmlns:a16="http://schemas.microsoft.com/office/drawing/2014/main" id="{A4A75F88-5BF6-DA81-D952-3E09CA0016F6}"/>
              </a:ext>
            </a:extLst>
          </p:cNvPr>
          <p:cNvSpPr>
            <a:spLocks noGrp="1"/>
          </p:cNvSpPr>
          <p:nvPr/>
        </p:nvSpPr>
        <p:spPr>
          <a:xfrm>
            <a:off x="590550" y="2682239"/>
            <a:ext cx="691779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23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330" dirty="0" noProof="1" err="0" b="0"/>
              <a:t>但索引驱动的间接访存可能限制数据供给与计算吞吐。</a:t>
            </a:r>
            <a:endParaRPr sz="2330" dirty="0" noProof="1" lang="zh-CN" altLang="en-US" err="0" b="0">
              <a:solidFill>
                <a:srgbClr val="17324D"/>
              </a:solidFill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3876180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HPDcache Project —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Project —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HPDcache Project —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Project —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Macintosh PowerPoint</Application>
  <DocSecurity>0</DocSecurity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Noto Sans CJK SC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LIU Ruizi</cp:lastModifiedBy>
  <cp:revision>1</cp:revision>
  <dcterms:created xsi:type="dcterms:W3CDTF">2026-10-26T05:48:43Z</dcterms:created>
  <dcterms:modified xsi:type="dcterms:W3CDTF">2026-10-26T06:26:47Z</dcterms:modified>
</cp:coreProperties>
</file>