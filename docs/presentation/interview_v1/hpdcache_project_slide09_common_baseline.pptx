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e1bc3d7eb542ef" /><Relationship Type="http://schemas.openxmlformats.org/officeDocument/2006/relationships/extended-properties" Target="/docProps/app.xml" Id="R04e466ed4c264df6" /><Relationship Type="http://schemas.openxmlformats.org/officeDocument/2006/relationships/officeDocument" Target="/ppt/presentation.xml" Id="R5de75f5d1f94470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e71236d44e4b43"/>
  </p:sldMasterIdLst>
  <p:notesMasterIdLst>
    <p:notesMasterId xmlns:r="http://schemas.openxmlformats.org/officeDocument/2006/relationships" r:id="R50e83c55fbce48ed"/>
  </p:notesMasterIdLst>
  <p:sldIdLst>
    <p:sldId xmlns:r="http://schemas.openxmlformats.org/officeDocument/2006/relationships" id="256" r:id="R2dbe8c947b5f4c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c6d3cdd31f4a5d" /><Relationship Type="http://schemas.openxmlformats.org/officeDocument/2006/relationships/slideMaster" Target="/ppt/slideMasters/slideMaster1.xml" Id="R9ce71236d44e4b43" /><Relationship Type="http://schemas.openxmlformats.org/officeDocument/2006/relationships/notesMaster" Target="/ppt/notesMasters/notesMaster1.xml" Id="R50e83c55fbce48ed" /><Relationship Type="http://schemas.openxmlformats.org/officeDocument/2006/relationships/presProps" Target="/ppt/presProps.xml" Id="R9ae36e579a1041ef" /><Relationship Type="http://schemas.openxmlformats.org/officeDocument/2006/relationships/tableStyles" Target="/ppt/tableStyles.xml" Id="R245721eed292454c" /><Relationship Type="http://schemas.openxmlformats.org/officeDocument/2006/relationships/slide" Target="/ppt/slides/slide1.xml" Id="R2dbe8c947b5f4c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8c9563a57a4a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0" noProof="1" lang="zh-CN" altLang="en-US" dirty="0" err="0"/>
          </a:p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0" noProof="1" lang="zh-CN" altLang="en-US" dirty="0" err="0"/>
          </a:p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0" noProof="1" lang="zh-CN" altLang="en-US" dirty="0" err="0"/>
          </a:p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0" noProof="1" lang="zh-CN" altLang="en-US" dirty="0" err="0"/>
          </a:p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0" noProof="1" lang="zh-CN" altLang="en-US" dirty="0" err="0"/>
          </a:p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0" noProof="1" lang="zh-CN" altLang="en-US" dirty="0" err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 noProof="1" lang="zh-CN" altLang="en-US" dirty="0" err="0" b="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HPDcache Navy and Teal">
      <a:dk1>
        <a:srgbClr val="0D2234"/>
      </a:dk1>
      <a:lt1>
        <a:srgbClr val="FFFFFF"/>
      </a:lt1>
      <a:dk2>
        <a:srgbClr val="17324D"/>
      </a:dk2>
      <a:lt2>
        <a:srgbClr val="D7E2EA"/>
      </a:lt2>
      <a:accent1>
        <a:srgbClr val="17324D"/>
      </a:accent1>
      <a:accent2>
        <a:srgbClr val="087F83"/>
      </a:accent2>
      <a:accent3>
        <a:srgbClr val="B66A27"/>
      </a:accent3>
      <a:accent4>
        <a:srgbClr val="647C92"/>
      </a:accent4>
      <a:accent5>
        <a:srgbClr val="96B5C3"/>
      </a:accent5>
      <a:accent6>
        <a:srgbClr val="D7E2EA"/>
      </a:accent6>
      <a:hlink>
        <a:srgbClr val="087F83"/>
      </a:hlink>
      <a:folHlink>
        <a:srgbClr val="526D82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HPDcache Navy and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9f68f7cf15473a" /><Relationship Type="http://schemas.openxmlformats.org/officeDocument/2006/relationships/notesMaster" Target="/ppt/notesMasters/notesMaster1.xml" Id="Rd4fcb04236614f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本页三行使用统一基线000，展示累计配置相对三项全关的整体收益与代价。</a:t>
            </a:r>
            <a:endParaRPr b="0" noProof="1" lang="zh-CN" altLang="en-US" dirty="0" err="0"/>
          </a:p>
          <a:p xmlns:a="http://schemas.openxmlformats.org/drawingml/2006/main">
            <a:r>
              <a:t>位序依次为发送解耦、refill提前授权、Tag/Data交错。100仅开启发送解耦，110开启前两项，111三项全开；每行分母始终是000。</a:t>
            </a:r>
            <a:endParaRPr b="0" noProof="1" lang="zh-CN" altLang="en-US" dirty="0" err="0"/>
          </a:p>
          <a:p xmlns:a="http://schemas.openxmlformats.org/drawingml/2006/main">
            <a:r>
              <a:t>四版从同一份RTL源码快照构建，使用相同工艺库、综合流程和时序约束。每版均有匹配的应用活动波形；本页数值不是将历史增量百分比相加或连乘。</a:t>
            </a:r>
            <a:endParaRPr b="0" noProof="1" lang="zh-CN" altLang="en-US" dirty="0" err="0"/>
          </a:p>
          <a:p xmlns:a="http://schemas.openxmlformats.org/drawingml/2006/main">
            <a:r>
              <a:t>固定配置：16KiB，128sets×4ways×32B，8MSHR，4RTAB，64-bit请求、256-bit外存，ECC、lowLatency、MSHR regbank和refill response feedthrough。RefillDirect与RefillPipeline均关闭。</a:t>
            </a:r>
            <a:endParaRPr b="0" noProof="1" lang="zh-CN" altLang="en-US" dirty="0" err="0"/>
          </a:p>
          <a:p xmlns:a="http://schemas.openxmlformats.org/drawingml/2006/main">
            <a:r>
              <a:t>工作负载为olm1000，1000行、3996个非零元，8行并行，MAC latency2，默认外存服务时序profile0，独立通道seed23，固定200MHz。当前CSR-SpMV请求采用WT策略。</a:t>
            </a:r>
            <a:endParaRPr b="0" noProof="1" lang="zh-CN" altLang="en-US" dirty="0" err="0"/>
          </a:p>
          <a:p xmlns:a="http://schemas.openxmlformats.org/drawingml/2006/main">
            <a:r>
              <a:t>同频吞吐变化为cycles000/cycles配置−1，使用整数SB.NB_CYCLES。计时包含冷启动、输出读回和最终fence，输入预装不计时；性能是当前SystemC行为加速器与Cache RTL联仿结果。</a:t>
            </a:r>
            <a:endParaRPr b="0" noProof="1" lang="zh-CN" altLang="en-US" dirty="0" err="0"/>
          </a:p>
          <a:p xmlns:a="http://schemas.openxmlformats.org/drawingml/2006/main">
            <a:r>
              <a:t>本页olm1000是seed23单样本。前一页同一矩阵柱值是种子11、23、47吞吐比的几何均值，两者统计口径不同。</a:t>
            </a:r>
            <a:endParaRPr b="0" noProof="1" lang="zh-CN" altLang="en-US" dirty="0" err="0"/>
          </a:p>
          <a:p xmlns:a="http://schemas.openxmlformats.org/drawingml/2006/main">
            <a:r>
              <a:t>原版000绝对值：逻辑面积100394.518μm²，含宏总面积371735.798μm²，时钟预算3.647280ns，平均Cache功耗84.08933mW，能量/非零元3.686220761nJ，SB.NB_CYCLES=35044，活动窗口35034.5周期。</a:t>
            </a:r>
            <a:endParaRPr b="0" noProof="1" lang="zh-CN" altLang="en-US" dirty="0" err="0"/>
          </a:p>
          <a:p xmlns:a="http://schemas.openxmlformats.org/drawingml/2006/main">
            <a:r>
              <a:t>应用完成周期SB.NB_CYCLES：000=35044，100=34394，110=33221，111=31638。共同ABC综合目标为3333.333ps；5ns是STA参考周期及功耗评估周期。</a:t>
            </a:r>
            <a:endParaRPr b="0" noProof="1" lang="zh-CN" altLang="en-US" dirty="0" err="0"/>
          </a:p>
          <a:p xmlns:a="http://schemas.openxmlformats.org/drawingml/2006/main">
            <a:r>
              <a:t>配置100相对000：吞吐+1.889865%，逻辑面积+0.180169%，时钟预算−0.632581%，平均Cache功耗−0.517343%，Cache能量/非零元−2.363058%。</a:t>
            </a:r>
            <a:endParaRPr b="0" noProof="1" lang="zh-CN" altLang="en-US" dirty="0" err="0"/>
          </a:p>
          <a:p xmlns:a="http://schemas.openxmlformats.org/drawingml/2006/main">
            <a:r>
              <a:t>配置110相对000：吞吐+5.487493%，逻辑面积+0.390543%，时钟预算+2.036860%，平均Cache功耗−0.025342%，Cache能量/非零元−5.227466%。</a:t>
            </a:r>
            <a:endParaRPr b="0" noProof="1" lang="zh-CN" altLang="en-US" dirty="0" err="0"/>
          </a:p>
          <a:p xmlns:a="http://schemas.openxmlformats.org/drawingml/2006/main">
            <a:r>
              <a:t>配置111相对000：吞吐+10.765535%，逻辑面积+0.175665%，时钟预算+2.439215%，平均Cache功耗+0.244930%，Cache能量/非零元−9.500727%。</a:t>
            </a:r>
            <a:endParaRPr b="0" noProof="1" lang="zh-CN" altLang="en-US" dirty="0" err="0"/>
          </a:p>
          <a:p xmlns:a="http://schemas.openxmlformats.org/drawingml/2006/main">
            <a:r>
              <a:t>逻辑面积不包含相同的56个抽象SRAM宏；含宏总面积及绝对数值见来源报告。小幅逻辑面积或时序改善可能来自综合映射波动。</a:t>
            </a:r>
            <a:endParaRPr b="0" noProof="1" lang="zh-CN" altLang="en-US" dirty="0" err="0"/>
          </a:p>
          <a:p xmlns:a="http://schemas.openxmlformats.org/drawingml/2006/main">
            <a:r>
              <a:t>时钟预算越小越好。这里所有吞吐、功耗与能量按固定200MHz比较，未把时钟预算变化混入功耗计算。时钟预算不是布局布线后的签核频率。</a:t>
            </a:r>
            <a:endParaRPr b="0" noProof="1" lang="zh-CN" altLang="en-US" dirty="0" err="0"/>
          </a:p>
          <a:p xmlns:a="http://schemas.openxmlformats.org/drawingml/2006/main">
            <a:r>
              <a:t>能量/非零元使用平均Cache功率×活动窗口时间/3996。活动窗口排除reset/setup；平均功率与能量是不同指标，能量下降不能表述成功率下降。</a:t>
            </a:r>
            <a:endParaRPr b="0" noProof="1" lang="zh-CN" altLang="en-US" dirty="0" err="0"/>
          </a:p>
          <a:p xmlns:a="http://schemas.openxmlformats.org/drawingml/2006/main">
            <a:r>
              <a:t>Nangate45 typical，四配置采用统一综合约束。STA以5ns为参考周期，理想时钟、零互连，0.1ns uncertainty与0.5ns I/O delay；功耗按200MHz评估。估算不含布局布线、CTS、glitch、加速器计算、NoC和外存功耗。</a:t>
            </a:r>
            <a:endParaRPr b="0" noProof="1" lang="zh-CN" altLang="en-US" dirty="0" err="0"/>
          </a:p>
          <a:p xmlns:a="http://schemas.openxmlformats.org/drawingml/2006/main">
            <a:r>
              <a:t>本次统一比较覆盖000/100/110/111，尚不能据此证明三项全开在所有负载或全部八组合中最优。目标物理SRAM仍需确认写入时保留此前读输出的合同。</a:t>
            </a:r>
            <a:endParaRPr b="0" noProof="1" lang="zh-CN" altLang="en-US" dirty="0" err="0"/>
          </a:p>
          <a:p xmlns:a="http://schemas.openxmlformats.org/drawingml/2006/main">
            <a:r>
              <a:t/>
            </a:r>
            <a:endParaRPr b="0" noProof="1" lang="zh-CN" altLang="en-US" dirty="0" err="0"/>
          </a:p>
          <a:p xmlns:a="http://schemas.openxmlformats.org/drawingml/2006/main">
            <a:r>
              <a:t>来源：/workspace/hpdcache-env/ppa-common-baseline-20261026/summary.json；SHA256 288de85e3e6fd90540220bac852cea4088c4bc7264fdc4c41311e23554d41c04</a:t>
            </a:r>
            <a:endParaRPr b="0" noProof="1" lang="zh-CN" altLang="en-US" dirty="0" err="0"/>
          </a:p>
          <a:p xmlns:a="http://schemas.openxmlformats.org/drawingml/2006/main">
            <a:r>
              <a:t>来源：/workspace/hpdcache-env/ppa-common-baseline-review-20261026/result-audit.json；SHA256 af528b44ca662ddfb622d963c891567601819fb9a017cc67bdd340fa3f8d14a9</a:t>
            </a:r>
            <a:endParaRPr b="0" noProof="1" lang="zh-CN" altLang="en-US" dirty="0" err="0"/>
          </a:p>
          <a:p xmlns:a="http://schemas.openxmlformats.org/drawingml/2006/main">
            <a:r>
              <a:t>来源：/workspace/hpdcache-env/ppa-common-baseline-review-20261026/summary-crosscheck.json；SHA256 e6690687772ce41bad990ae124872842e749e16d3cc2b39a2d793f9e68af0e51</a:t>
            </a:r>
            <a:endParaRPr b="0" noProof="1" lang="zh-CN" altLang="en-US" dirty="0" err="0"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0" noProof="1" lang="zh-CN" altLang="en-US" dirty="0" err="0"/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92148739c7498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d077679be74ba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1d0debd6124ae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8bb6cd8e23445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78d46b5bba438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3ce041735c42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D9FC4EB-5411-4C8B-9540-10E8A8EC4E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0" noProof="1" lang="zh-CN" altLang="en-US" dirty="0" err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9pPr>
          </a:lstStyle>
          <a:p xmlns:a="http://schemas.openxmlformats.org/drawingml/2006/main">
            <a:endParaRPr b="0" noProof="1" lang="zh-CN" altLang="en-US" dirty="0" err="0"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379D9C8-F902-448A-9A61-1DFC505CDEB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 noProof="1" lang="zh-CN" altLang="en-US" dirty="0" err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9pPr>
          </a:lstStyle>
          <a:p xmlns:a="http://schemas.openxmlformats.org/drawingml/2006/main">
            <a:endParaRPr b="0" noProof="1" lang="zh-CN" altLang="en-US" dirty="0" err="0"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15BE0EB-73C7-4E21-B910-5B78B641C6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0" noProof="1" lang="zh-CN" altLang="en-US" dirty="0" err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9pPr>
          </a:lstStyle>
          <a:p xmlns:a="http://schemas.openxmlformats.org/drawingml/2006/main">
            <a:endParaRPr b="0" noProof="1" lang="zh-CN" altLang="en-US" dirty="0" err="0"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4FE864E-D8D2-417A-8F98-0E9D07AD73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0" noProof="1" lang="zh-CN" altLang="en-US" dirty="0" err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9pPr>
          </a:lstStyle>
          <a:p xmlns:a="http://schemas.openxmlformats.org/drawingml/2006/main">
            <a:endParaRPr b="0" noProof="1" lang="zh-CN" altLang="en-US" dirty="0" err="0"/>
          </a:p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B5F2B2B-AF0E-4AD9-AF57-4E096B268F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 noProof="1" lang="zh-CN" altLang="en-US" dirty="0" err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noProof="1" lang="zh-CN" altLang="en-US" dirty="0" err="0" b="0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noProof="1" lang="zh-CN" altLang="en-US" dirty="0" err="0" b="0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noProof="1" lang="zh-CN" altLang="en-US" dirty="0" err="0" b="0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noProof="1" lang="zh-CN" altLang="en-US" dirty="0" err="0" b="0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noProof="1" lang="zh-CN" altLang="en-US" dirty="0" err="0" b="0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noProof="1" lang="zh-CN" altLang="en-US" dirty="0" err="0" b="0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noProof="1" lang="zh-CN" altLang="en-US" dirty="0" err="0" b="0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noProof="1" lang="zh-CN" altLang="en-US" dirty="0" err="0" b="0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noProof="1" lang="zh-CN" altLang="en-US" dirty="0" err="0" b="0"/>
            </a:lvl9pPr>
          </a:lstStyle>
          <a:p xmlns:a="http://schemas.openxmlformats.org/drawingml/2006/main">
            <a:endParaRPr b="0" noProof="1" lang="zh-CN" altLang="en-US" dirty="0" err="0"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6D2A0AA-6CB7-45B1-B647-C53176C195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0" noProof="1" lang="zh-CN" altLang="en-US" dirty="0" err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9pPr>
          </a:lstStyle>
          <a:p xmlns:a="http://schemas.openxmlformats.org/drawingml/2006/main">
            <a:endParaRPr b="0" noProof="1" lang="zh-CN" altLang="en-US" dirty="0" err="0"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775DBB2-AEE1-4DC8-AB84-44A6A9738E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 noProof="1" lang="zh-CN" altLang="en-US" dirty="0" err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noProof="1" lang="zh-CN" altLang="en-US" dirty="0" err="0" b="0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noProof="1" lang="zh-CN" altLang="en-US" dirty="0" err="0" b="0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noProof="1" lang="zh-CN" altLang="en-US" dirty="0" err="0" b="0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noProof="1" lang="zh-CN" altLang="en-US" dirty="0" err="0" b="0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noProof="1" lang="zh-CN" altLang="en-US" dirty="0" err="0" b="0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noProof="1" lang="zh-CN" altLang="en-US" dirty="0" err="0" b="0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noProof="1" lang="zh-CN" altLang="en-US" dirty="0" err="0" b="0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noProof="1" lang="zh-CN" altLang="en-US" dirty="0" err="0" b="0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noProof="1" lang="zh-CN" altLang="en-US" dirty="0" err="0" b="0"/>
            </a:lvl9pPr>
          </a:lstStyle>
          <a:p xmlns:a="http://schemas.openxmlformats.org/drawingml/2006/main">
            <a:endParaRPr b="0" noProof="1" lang="zh-CN" altLang="en-US" dirty="0" err="0"/>
          </a:p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22CF151-1F6B-42DD-9C72-55B6EB357AA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 noProof="1" lang="zh-CN" altLang="en-US" dirty="0" err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noProof="1" lang="zh-CN" altLang="en-US" dirty="0" err="0" b="0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noProof="1" lang="zh-CN" altLang="en-US" dirty="0" err="0" b="0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noProof="1" lang="zh-CN" altLang="en-US" dirty="0" err="0" b="0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noProof="1" lang="zh-CN" altLang="en-US" dirty="0" err="0" b="0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noProof="1" lang="zh-CN" altLang="en-US" dirty="0" err="0" b="0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noProof="1" lang="zh-CN" altLang="en-US" dirty="0" err="0" b="0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noProof="1" lang="zh-CN" altLang="en-US" dirty="0" err="0" b="0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noProof="1" lang="zh-CN" altLang="en-US" dirty="0" err="0" b="0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noProof="1" lang="zh-CN" altLang="en-US" dirty="0" err="0" b="0"/>
            </a:lvl9pPr>
          </a:lstStyle>
          <a:p xmlns:a="http://schemas.openxmlformats.org/drawingml/2006/main">
            <a:endParaRPr b="0" noProof="1" lang="zh-CN" altLang="en-US" dirty="0" err="0"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23A1A98-897C-4287-A0C0-90AC715F49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0" noProof="1" lang="zh-CN" altLang="en-US" dirty="0" err="0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noProof="1" lang="zh-CN" altLang="en-US" dirty="0" err="0" b="0"/>
            </a:lvl9pPr>
          </a:lstStyle>
          <a:p xmlns:a="http://schemas.openxmlformats.org/drawingml/2006/main">
            <a:endParaRPr b="0" noProof="1" lang="zh-CN" altLang="en-US" dirty="0" err="0"/>
          </a:p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D2C822B-BFBC-4E73-B455-147D83EF28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 noProof="1" lang="zh-CN" altLang="en-US" dirty="0" err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noProof="1" lang="zh-CN" altLang="en-US" dirty="0" err="0" b="0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noProof="1" lang="zh-CN" altLang="en-US" dirty="0" err="0" b="0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noProof="1" lang="zh-CN" altLang="en-US" dirty="0" err="0" b="0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noProof="1" lang="zh-CN" altLang="en-US" dirty="0" err="0" b="0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noProof="1" lang="zh-CN" altLang="en-US" dirty="0" err="0" b="0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noProof="1" lang="zh-CN" altLang="en-US" dirty="0" err="0" b="0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noProof="1" lang="zh-CN" altLang="en-US" dirty="0" err="0" b="0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noProof="1" lang="zh-CN" altLang="en-US" dirty="0" err="0" b="0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noProof="1" lang="zh-CN" altLang="en-US" dirty="0" err="0" b="0"/>
            </a:lvl9pPr>
          </a:lstStyle>
          <a:p xmlns:a="http://schemas.openxmlformats.org/drawingml/2006/main">
            <a:endParaRPr b="0" noProof="1" lang="zh-CN" altLang="en-US" dirty="0" err="0"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909c8a15ef4c91" /><Relationship Type="http://schemas.openxmlformats.org/officeDocument/2006/relationships/slideLayout" Target="/ppt/slideLayouts/slideLayout1.xml" Id="R8a4f703dff354336" /><Relationship Type="http://schemas.openxmlformats.org/officeDocument/2006/relationships/slideLayout" Target="/ppt/slideLayouts/slideLayout2.xml" Id="Rd31f7e2e76a74481" /><Relationship Type="http://schemas.openxmlformats.org/officeDocument/2006/relationships/slideLayout" Target="/ppt/slideLayouts/slideLayout3.xml" Id="R5fcf938fbb3847e6" /><Relationship Type="http://schemas.openxmlformats.org/officeDocument/2006/relationships/slideLayout" Target="/ppt/slideLayouts/slideLayout4.xml" Id="R839523b3756b451b" /><Relationship Type="http://schemas.openxmlformats.org/officeDocument/2006/relationships/slideLayout" Target="/ppt/slideLayouts/slideLayout5.xml" Id="R160d021697eb4dab" /><Relationship Type="http://schemas.openxmlformats.org/officeDocument/2006/relationships/slideLayout" Target="/ppt/slideLayouts/slideLayout6.xml" Id="R5e357699b17b4b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4f703dff354336"/>
    <p:sldLayoutId xmlns:r="http://schemas.openxmlformats.org/officeDocument/2006/relationships" id="2147483650" r:id="Rd31f7e2e76a74481"/>
    <p:sldLayoutId xmlns:r="http://schemas.openxmlformats.org/officeDocument/2006/relationships" id="2147483651" r:id="R5fcf938fbb3847e6"/>
    <p:sldLayoutId xmlns:r="http://schemas.openxmlformats.org/officeDocument/2006/relationships" id="2147483652" r:id="R839523b3756b451b"/>
    <p:sldLayoutId xmlns:r="http://schemas.openxmlformats.org/officeDocument/2006/relationships" id="2147483653" r:id="R160d021697eb4dab"/>
    <p:sldLayoutId xmlns:r="http://schemas.openxmlformats.org/officeDocument/2006/relationships" id="2147483654" r:id="R5e357699b17b4b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 b="0" noProof="1" lang="zh-CN" altLang="en-US" dirty="0" err="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 b="0" noProof="1" lang="zh-CN" altLang="en-US" dirty="0" err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 b="0" noProof="1" lang="zh-CN" altLang="en-US" dirty="0" err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 b="0" noProof="1" lang="zh-CN" altLang="en-US" dirty="0" err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 b="0" noProof="1" lang="zh-CN" altLang="en-US" dirty="0" err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 b="0" noProof="1" lang="zh-CN" altLang="en-US" dirty="0" err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 b="0" noProof="1" lang="zh-CN" altLang="en-US" dirty="0" err="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 b="0" noProof="1" lang="zh-CN" altLang="en-US" dirty="0" err="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 b="0" noProof="1" lang="zh-CN" altLang="en-US" dirty="0" err="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 b="0" noProof="1" lang="zh-CN" altLang="en-US" dirty="0" err="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 b="0" noProof="1" lang="zh-CN" altLang="en-US" dirty="0" err="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 b="0" noProof="1" lang="zh-CN" altLang="en-US" dirty="0" err="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 b="0" noProof="1" lang="zh-CN" altLang="en-US" dirty="0" err="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 b="0" noProof="1" lang="zh-CN" altLang="en-US" dirty="0" err="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 b="0" noProof="1" lang="zh-CN" altLang="en-US" dirty="0" err="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 b="0" noProof="1" lang="zh-CN" altLang="en-US" dirty="0" err="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 b="0" noProof="1" lang="zh-CN" altLang="en-US" dirty="0" err="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 b="0" noProof="1" lang="zh-CN" altLang="en-US" dirty="0" err="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 b="0" noProof="1" lang="zh-CN" altLang="en-US" dirty="0" err="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HPDcache Navy and Teal">
      <a:dk1>
        <a:srgbClr val="0D2234"/>
      </a:dk1>
      <a:lt1>
        <a:srgbClr val="FFFFFF"/>
      </a:lt1>
      <a:dk2>
        <a:srgbClr val="17324D"/>
      </a:dk2>
      <a:lt2>
        <a:srgbClr val="D7E2EA"/>
      </a:lt2>
      <a:accent1>
        <a:srgbClr val="17324D"/>
      </a:accent1>
      <a:accent2>
        <a:srgbClr val="087F83"/>
      </a:accent2>
      <a:accent3>
        <a:srgbClr val="B66A27"/>
      </a:accent3>
      <a:accent4>
        <a:srgbClr val="647C92"/>
      </a:accent4>
      <a:accent5>
        <a:srgbClr val="96B5C3"/>
      </a:accent5>
      <a:accent6>
        <a:srgbClr val="D7E2EA"/>
      </a:accent6>
      <a:hlink>
        <a:srgbClr val="087F83"/>
      </a:hlink>
      <a:folHlink>
        <a:srgbClr val="526D82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HPDcache Navy and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2a29015f87414f" /><Relationship Type="http://schemas.openxmlformats.org/officeDocument/2006/relationships/notesSlide" Target="/ppt/notesSlides/notesSlide1.xml" Id="R75d673f0096446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C99F8FD3-E459-4BDC-9FA0-06C8AE6E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3150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PPA 与方案取舍</a:t>
            </a:r>
            <a:endParaRPr b="0" noProof="1" lang="zh-CN" altLang="en-US" dirty="0" err="0"/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E8ED585-AA95-4A42-8A9D-C204D412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33475"/>
            <a:ext cx="11029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8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同一源码与评估条件，所有百分比均相对原版 000</a:t>
            </a:r>
            <a:endParaRPr b="0" noProof="1" lang="zh-CN" altLang="en-US" dirty="0" err="0"/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7A83411C-FDC0-406D-BAFF-8DA277818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668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9F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621B7A6-EF45-4A5A-B526-5BD3EA80B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72200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2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2B0F020-F0C6-4C11-8EA5-33A79398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10515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3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3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Nangate45 typical，抽象 SRAM、理想时钟；Cache 级布局前估算，不含计算单元 / NoC / DRAM</a:t>
            </a:r>
            <a:endParaRPr b="0" noProof="1" lang="zh-CN" altLang="en-US" dirty="0" err="0"/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77CDAD9-2103-495D-AC86-B3DCCE0B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6324600"/>
            <a:ext cx="400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buNone/>
              <a:def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09</a:t>
            </a:r>
            <a:endParaRPr b="0" noProof="1" lang="zh-CN" altLang="en-US" dirty="0" err="0"/>
          </a:p>
        </p:txBody>
      </p:sp>
      <p:sp>
        <p:nvSpPr>
          <p:cNvPr id="7" name="ppa-context">
            <a:extLst xmlns:a="http://schemas.openxmlformats.org/drawingml/2006/main">
              <a:ext uri="{FF2B5EF4-FFF2-40B4-BE49-F238E27FC236}">
                <a16:creationId xmlns:a16="http://schemas.microsoft.com/office/drawing/2014/main" id="{341B821D-EF84-4B7A-B510-0C713138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11029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72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72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同一代表负载：olm1000，8 行并行，默认外存，seed 23，固定 200 MHz</a:t>
            </a:r>
            <a:endParaRPr b="0" noProof="1" lang="zh-CN" altLang="en-US" dirty="0" err="0"/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CDA9EB-D9F2-422E-B410-EF66B662538F}"/>
              </a:ext>
            </a:extLst>
          </p:cNvPr>
          <p:cNvGraphicFramePr/>
          <p:nvPr/>
        </p:nvGraphicFramePr>
        <p:xfrm>
          <a:off xmlns:a="http://schemas.openxmlformats.org/drawingml/2006/main" x="571500" y="2590800"/>
          <a:ext xmlns:a="http://schemas.openxmlformats.org/drawingml/2006/main" cx="11049000" cy="2514600"/>
        </p:xfrm>
        <a:graphic xmlns:a="http://schemas.openxmlformats.org/drawingml/2006/main">
          <a:graphicData uri="http://schemas.openxmlformats.org/drawingml/2006/table">
            <a:tbl>
              <a:tblPr firstRow="0" firstCol="0" bandRow="0"/>
              <a:tblGrid>
                <a:gridCol w="2857500"/>
                <a:gridCol w="1428750"/>
                <a:gridCol w="1428750"/>
                <a:gridCol w="1619250"/>
                <a:gridCol w="1619250"/>
                <a:gridCol w="2095500"/>
              </a:tblGrid>
              <a:tr h="457200"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725" b="1" noProof="1" lang="zh-CN" altLang="en-US" dirty="0" err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相对原版 000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L w="9525">
                      <a:solidFill>
                        <a:srgbClr val="D7E2EA"/>
                      </a:solidFill>
                      <a:prstDash val="solid"/>
                    </a:lnL>
                    <a:lnR w="9525">
                      <a:solidFill>
                        <a:srgbClr val="D7E2EA"/>
                      </a:solidFill>
                      <a:prstDash val="solid"/>
                    </a:lnR>
                    <a:lnT w="9525">
                      <a:solidFill>
                        <a:srgbClr val="D7E2EA"/>
                      </a:solidFill>
                      <a:prstDash val="solid"/>
                    </a:lnT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087F83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1" noProof="1" lang="zh-CN" altLang="en-US" dirty="0" err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同频吞吐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T w="9525">
                      <a:solidFill>
                        <a:srgbClr val="D7E2EA"/>
                      </a:solidFill>
                      <a:prstDash val="solid"/>
                    </a:lnT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087F83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1" noProof="1" lang="zh-CN" altLang="en-US" dirty="0" err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逻辑面积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T w="9525">
                      <a:solidFill>
                        <a:srgbClr val="D7E2EA"/>
                      </a:solidFill>
                      <a:prstDash val="solid"/>
                    </a:lnT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087F83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1" noProof="1" lang="zh-CN" altLang="en-US" dirty="0" err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时钟预算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T w="9525">
                      <a:solidFill>
                        <a:srgbClr val="D7E2EA"/>
                      </a:solidFill>
                      <a:prstDash val="solid"/>
                    </a:lnT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087F83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1" noProof="1" lang="zh-CN" altLang="en-US" dirty="0" err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Cache 功耗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T w="9525">
                      <a:solidFill>
                        <a:srgbClr val="D7E2EA"/>
                      </a:solidFill>
                      <a:prstDash val="solid"/>
                    </a:lnT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087F83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725" b="1" noProof="1" lang="zh-CN" altLang="en-US" dirty="0" err="0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能量 / 非零元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T w="9525">
                      <a:solidFill>
                        <a:srgbClr val="D7E2EA"/>
                      </a:solidFill>
                      <a:prstDash val="solid"/>
                    </a:lnT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087F83"/>
                    </a:solidFill>
                  </a:tcPr>
                </a:tc>
              </a:tr>
              <a:tr h="685800"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 noProof="1" lang="zh-CN" altLang="en-US" dirty="0" err="0">
                          <a:solidFill>
                            <a:srgbClr val="243B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① 仅发送解耦</a:t>
                      </a:r>
                      <a:endParaRPr b="0" noProof="1" lang="zh-CN" altLang="en-US" dirty="0" err="0"/>
                    </a:p>
                    <a:p>
                      <a:pPr algn="l">
                        <a:buNone/>
                      </a:pPr>
                      <a:r>
                        <a:rPr sz="1800" b="0" noProof="1" lang="zh-CN" altLang="en-US" dirty="0" err="0">
                          <a:solidFill>
                            <a:srgbClr val="243B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100 对比 000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L w="9525">
                      <a:solidFill>
                        <a:srgbClr val="D7E2EA"/>
                      </a:solidFill>
                      <a:prstDash val="solid"/>
                    </a:lnL>
                    <a:lnR w="9525">
                      <a:solidFill>
                        <a:srgbClr val="D7E2EA"/>
                      </a:solidFill>
                      <a:prstDash val="solid"/>
                    </a:lnR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 noProof="1" lang="zh-CN" altLang="en-US" dirty="0" err="0">
                          <a:solidFill>
                            <a:srgbClr val="087F8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+1.89%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 noProof="1" lang="zh-CN" altLang="en-US" dirty="0" err="0">
                          <a:solidFill>
                            <a:srgbClr val="243B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+0.18%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 noProof="1" lang="zh-CN" altLang="en-US" dirty="0" err="0">
                          <a:solidFill>
                            <a:srgbClr val="243B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−0.63%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 noProof="1" lang="zh-CN" altLang="en-US" dirty="0" err="0">
                          <a:solidFill>
                            <a:srgbClr val="243B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−0.52%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 noProof="1" lang="zh-CN" altLang="en-US" dirty="0" err="0">
                          <a:solidFill>
                            <a:srgbClr val="087F8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−2.36%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 noProof="1" lang="zh-CN" altLang="en-US" dirty="0" err="0">
                          <a:solidFill>
                            <a:srgbClr val="243B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② 发送解耦＋提前授权</a:t>
                      </a:r>
                      <a:endParaRPr b="0" noProof="1" lang="zh-CN" altLang="en-US" dirty="0" err="0"/>
                    </a:p>
                    <a:p>
                      <a:pPr algn="l">
                        <a:buNone/>
                      </a:pPr>
                      <a:r>
                        <a:rPr sz="1800" b="0" noProof="1" lang="zh-CN" altLang="en-US" dirty="0" err="0">
                          <a:solidFill>
                            <a:srgbClr val="243B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110 对比 000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L w="9525">
                      <a:solidFill>
                        <a:srgbClr val="D7E2EA"/>
                      </a:solidFill>
                      <a:prstDash val="solid"/>
                    </a:lnL>
                    <a:lnR w="9525">
                      <a:solidFill>
                        <a:srgbClr val="D7E2EA"/>
                      </a:solidFill>
                      <a:prstDash val="solid"/>
                    </a:lnR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 noProof="1" lang="zh-CN" altLang="en-US" dirty="0" err="0">
                          <a:solidFill>
                            <a:srgbClr val="087F8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+5.49%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 noProof="1" lang="zh-CN" altLang="en-US" dirty="0" err="0">
                          <a:solidFill>
                            <a:srgbClr val="243B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+0.39%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 noProof="1" lang="zh-CN" altLang="en-US" dirty="0" err="0">
                          <a:solidFill>
                            <a:srgbClr val="243B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+2.04%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 noProof="1" lang="zh-CN" altLang="en-US" dirty="0" err="0">
                          <a:solidFill>
                            <a:srgbClr val="243B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−0.03%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 noProof="1" lang="zh-CN" altLang="en-US" dirty="0" err="0">
                          <a:solidFill>
                            <a:srgbClr val="087F8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−5.23%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F3F7FA"/>
                    </a:solidFill>
                  </a:tcPr>
                </a:tc>
              </a:tr>
              <a:tr h="685800"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l">
                        <a:buNone/>
                      </a:pPr>
                      <a:r>
                        <a:rPr sz="1800" b="0" noProof="1" lang="zh-CN" altLang="en-US" dirty="0" err="0">
                          <a:solidFill>
                            <a:srgbClr val="243B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③ 三项全开</a:t>
                      </a:r>
                      <a:endParaRPr b="0" noProof="1" lang="zh-CN" altLang="en-US" dirty="0" err="0"/>
                    </a:p>
                    <a:p>
                      <a:pPr algn="l">
                        <a:buNone/>
                      </a:pPr>
                      <a:r>
                        <a:rPr sz="1800" b="0" noProof="1" lang="zh-CN" altLang="en-US" dirty="0" err="0">
                          <a:solidFill>
                            <a:srgbClr val="243B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111 对比 000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L w="9525">
                      <a:solidFill>
                        <a:srgbClr val="D7E2EA"/>
                      </a:solidFill>
                      <a:prstDash val="solid"/>
                    </a:lnL>
                    <a:lnR w="9525">
                      <a:solidFill>
                        <a:srgbClr val="D7E2EA"/>
                      </a:solidFill>
                      <a:prstDash val="solid"/>
                    </a:lnR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 noProof="1" lang="zh-CN" altLang="en-US" dirty="0" err="0">
                          <a:solidFill>
                            <a:srgbClr val="087F8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+10.77%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 noProof="1" lang="zh-CN" altLang="en-US" dirty="0" err="0">
                          <a:solidFill>
                            <a:srgbClr val="243B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+0.18%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 noProof="1" lang="zh-CN" altLang="en-US" dirty="0" err="0">
                          <a:solidFill>
                            <a:srgbClr val="243B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+2.44%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 noProof="1" lang="zh-CN" altLang="en-US" dirty="0" err="0">
                          <a:solidFill>
                            <a:srgbClr val="243B50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+0.24%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114300" tIns="76200" rIns="114300" bIns="76200">
                      <a:noAutofit/>
                    </a:bodyPr>
                    <a:lstStyle/>
                    <a:p>
                      <a:pPr algn="ctr">
                        <a:buNone/>
                      </a:pPr>
                      <a:r>
                        <a:rPr sz="1800" b="0" noProof="1" lang="zh-CN" altLang="en-US" dirty="0" err="0">
                          <a:solidFill>
                            <a:srgbClr val="087F8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−9.50%</a:t>
                      </a:r>
                      <a:endParaRPr b="0" noProof="1" lang="zh-CN" altLang="en-US" dirty="0" err="0"/>
                    </a:p>
                  </a:txBody>
                  <a:tcPr marL="91440" marR="91440" marT="45720" marB="45720" anchor="ctr">
                    <a:lnR w="9525">
                      <a:solidFill>
                        <a:srgbClr val="D7E2EA"/>
                      </a:solidFill>
                      <a:prstDash val="solid"/>
                    </a:lnR>
                    <a:lnB w="9525">
                      <a:solidFill>
                        <a:srgbClr val="D7E2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mapping-note">
            <a:extLst xmlns:a="http://schemas.openxmlformats.org/drawingml/2006/main">
              <a:ext uri="{FF2B5EF4-FFF2-40B4-BE49-F238E27FC236}">
                <a16:creationId xmlns:a16="http://schemas.microsoft.com/office/drawing/2014/main" id="{865789EF-0236-45A9-A540-0AC88AE2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91125"/>
            <a:ext cx="11029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5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 noProof="1" lang="zh-CN" altLang="en-US" dirty="0" err="0">
                <a:solidFill>
                  <a:srgbClr val="5A6C7D"/>
                </a:solidFill>
                <a:latin typeface="Noto Sans CJK SC"/>
                <a:ea typeface="Noto Sans CJK SC"/>
                <a:cs typeface="Noto Sans CJK SC"/>
              </a:rPr>
              <a:t>时钟预算越小越好。面积与时序受综合映射影响，需在目标工艺复核。</a:t>
            </a:r>
            <a:endParaRPr b="0" noProof="1" lang="zh-CN" altLang="en-US" dirty="0" err="0"/>
          </a:p>
        </p:txBody>
      </p:sp>
      <p:sp>
        <p:nvSpPr>
          <p:cNvPr id="10" name="decision">
            <a:extLst xmlns:a="http://schemas.openxmlformats.org/drawingml/2006/main">
              <a:ext uri="{FF2B5EF4-FFF2-40B4-BE49-F238E27FC236}">
                <a16:creationId xmlns:a16="http://schemas.microsoft.com/office/drawing/2014/main" id="{7F72A64D-F54A-4840-A199-80806AC8B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05450"/>
            <a:ext cx="11029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7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875" b="0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 noProof="1" lang="zh-CN" altLang="en-US" dirty="0" err="0">
                <a:solidFill>
                  <a:srgbClr val="17324D"/>
                </a:solidFill>
                <a:latin typeface="Noto Sans CJK SC"/>
                <a:ea typeface="Noto Sans CJK SC"/>
                <a:cs typeface="Noto Sans CJK SC"/>
              </a:rPr>
              <a:t>该样本三项全开：吞吐提升 10.77%，每非零元能量降低 9.50%。</a:t>
            </a:r>
            <a:endParaRPr b="0" noProof="1" lang="zh-CN" altLang="en-US" dirty="0" err="0"/>
          </a:p>
        </p:txBody>
      </p:sp>
      <p:sp>
        <p:nvSpPr>
          <p:cNvPr id="11" name="next-validation">
            <a:extLst xmlns:a="http://schemas.openxmlformats.org/drawingml/2006/main">
              <a:ext uri="{FF2B5EF4-FFF2-40B4-BE49-F238E27FC236}">
                <a16:creationId xmlns:a16="http://schemas.microsoft.com/office/drawing/2014/main" id="{E651ADF7-A84D-47DB-B9E5-D65E34FA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1029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buNone/>
              <a:defRPr sz="1500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 noProof="1" lang="zh-CN" altLang="en-US" dirty="0" err="0">
                <a:solidFill>
                  <a:srgbClr val="243B50"/>
                </a:solidFill>
                <a:latin typeface="Noto Sans CJK SC"/>
                <a:ea typeface="Noto Sans CJK SC"/>
                <a:cs typeface="Noto Sans CJK SC"/>
              </a:rPr>
              <a:t>开关默认关闭。最终配置仍需八组合消融与目标工艺验证。</a:t>
            </a:r>
            <a:endParaRPr b="0" noProof="1" lang="zh-CN" altLang="en-US" dirty="0" err="0"/>
          </a:p>
        </p:txBody>
      </p:sp>
    </p:spTree>
    <p:extLst>
      <p:ext uri="{BB962C8B-B14F-4D97-AF65-F5344CB8AC3E}">
        <p14:creationId xmlns:p14="http://schemas.microsoft.com/office/powerpoint/2010/main" val="464817271"/>
      </p:ext>
    </p:extLst>
  </p:cSld>
</p:sld>
</file>

<file path=ppt/theme/theme1.xml><?xml version="1.0" encoding="utf-8"?>
<a:theme xmlns:a="http://schemas.openxmlformats.org/drawingml/2006/main" name="ChatGPT">
  <a:themeElements>
    <a:clrScheme name="HPDcache Navy and Teal">
      <a:dk1>
        <a:srgbClr val="0D2234"/>
      </a:dk1>
      <a:lt1>
        <a:srgbClr val="FFFFFF"/>
      </a:lt1>
      <a:dk2>
        <a:srgbClr val="17324D"/>
      </a:dk2>
      <a:lt2>
        <a:srgbClr val="D7E2EA"/>
      </a:lt2>
      <a:accent1>
        <a:srgbClr val="17324D"/>
      </a:accent1>
      <a:accent2>
        <a:srgbClr val="087F83"/>
      </a:accent2>
      <a:accent3>
        <a:srgbClr val="B66A27"/>
      </a:accent3>
      <a:accent4>
        <a:srgbClr val="647C92"/>
      </a:accent4>
      <a:accent5>
        <a:srgbClr val="96B5C3"/>
      </a:accent5>
      <a:accent6>
        <a:srgbClr val="D7E2EA"/>
      </a:accent6>
      <a:hlink>
        <a:srgbClr val="087F83"/>
      </a:hlink>
      <a:folHlink>
        <a:srgbClr val="526D82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HPDcache Navy and Te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2026-10-26T09:43:33.2270000Z</dcterms:created>
  <dcterms:modified xsi:type="dcterms:W3CDTF">2026-10-26T09:43:33.2270000Z</dcterms:modified>
</coreProperties>
</file>