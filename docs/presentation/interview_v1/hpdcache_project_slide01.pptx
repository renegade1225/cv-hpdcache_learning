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c795991fd34797" /><Relationship Type="http://schemas.openxmlformats.org/officeDocument/2006/relationships/extended-properties" Target="/docProps/app.xml" Id="R63a0ed6733ec4191" /><Relationship Type="http://schemas.openxmlformats.org/officeDocument/2006/relationships/officeDocument" Target="/ppt/presentation.xml" Id="R73478e78964f41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f6ead33898411c"/>
  </p:sldMasterIdLst>
  <p:notesMasterIdLst>
    <p:notesMasterId xmlns:r="http://schemas.openxmlformats.org/officeDocument/2006/relationships" r:id="Rfb8bc7b846154069"/>
  </p:notesMasterIdLst>
  <p:sldIdLst>
    <p:sldId xmlns:r="http://schemas.openxmlformats.org/officeDocument/2006/relationships" id="256" r:id="R1053832007064b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f93453a2c64e29" /><Relationship Type="http://schemas.openxmlformats.org/officeDocument/2006/relationships/slideMaster" Target="/ppt/slideMasters/slideMaster1.xml" Id="Re1f6ead33898411c" /><Relationship Type="http://schemas.openxmlformats.org/officeDocument/2006/relationships/notesMaster" Target="/ppt/notesMasters/notesMaster1.xml" Id="Rfb8bc7b846154069" /><Relationship Type="http://schemas.openxmlformats.org/officeDocument/2006/relationships/presProps" Target="/ppt/presProps.xml" Id="R40c2d28f52c049e5" /><Relationship Type="http://schemas.openxmlformats.org/officeDocument/2006/relationships/tableStyles" Target="/ppt/tableStyles.xml" Id="R046fc6b8fbd94e32" /><Relationship Type="http://schemas.openxmlformats.org/officeDocument/2006/relationships/slide" Target="/ppt/slides/slide1.xml" Id="R1053832007064b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cbfb080774c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PDcache Project —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Project —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04465b878400a" /><Relationship Type="http://schemas.openxmlformats.org/officeDocument/2006/relationships/notesMaster" Target="/ppt/notesMasters/notesMaster1.xml" Id="Rf33e038a7ccb49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这个项目关注稀疏计算中的供数效率。我以多行并行的稀疏矩阵乘向量作为代表负载，</a:t>
            </a:r>
          </a:p>
          <a:p xmlns:a="http://schemas.openxmlformats.org/drawingml/2006/main">
            <a:r>
              <a:t>它既有连续读取，也有根据索引确定地址的间接访问。虽然 HPDcache 已经支持多个</a:t>
            </a:r>
          </a:p>
          <a:p xmlns:a="http://schemas.openxmlformats.org/drawingml/2006/main">
            <a:r>
              <a:t>未完成请求，但发送和回填阶段仍可能让后续访问等待。我基于这个开源项目完成了</a:t>
            </a:r>
          </a:p>
          <a:p xmlns:a="http://schemas.openxmlformats.org/drawingml/2006/main">
            <a:r>
              <a:t>负载建模、瓶颈定位和控制器 RTL 改造，并通过功能验证、应用性能以及 PPA 来判断</a:t>
            </a:r>
          </a:p>
          <a:p xmlns:a="http://schemas.openxmlformats.org/drawingml/2006/main">
            <a:r>
              <a:t>改动是否值得。接下来先介绍这个负载是怎样产生访存请求的。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来源：用户提供《HPDcache优化_项目讲解.pptx》第1页（项目标题与经历日期）；</a:t>
            </a:r>
          </a:p>
          <a:p xmlns:a="http://schemas.openxmlformats.org/drawingml/2006/main">
            <a:r>
              <a:t>项目证据：rtl/tb/tests/miss_issue_research/real/README.md；</a:t>
            </a:r>
          </a:p>
          <a:p xmlns:a="http://schemas.openxmlformats.org/drawingml/2006/main">
            <a:r>
              <a:t>rtl/tb/tests/miss_issue_research/real/RESULTS.md；</a:t>
            </a:r>
          </a:p>
          <a:p xmlns:a="http://schemas.openxmlformats.org/drawingml/2006/main">
            <a:r>
              <a:t>rtl/tb/tests/miss_issue_research/EARLY_GRANT_RESULTS.md；</a:t>
            </a:r>
          </a:p>
          <a:p xmlns:a="http://schemas.openxmlformats.org/drawingml/2006/main">
            <a:r>
              <a:t>rtl/tb/tests/miss_issue_research/REFILL_LOAD_OVERLAP_RESULTS.md。</a:t>
            </a:r>
          </a:p>
          <a:p xmlns:a="http://schemas.openxmlformats.org/drawingml/2006/main">
            <a:r>
              <a:t>上游：HPDcache User Guide, Architecture, https://openhw-group-cv-hpdcache.readthedocs-hosted.com/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e90d8277647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b564facf54a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f273ee6e348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432d3c9cb43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855326b4e44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fa20926ea43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4B81C6-EE4D-4D91-B55E-53FBC0832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E448D0-1CFD-454E-B058-B3F4478809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3E48A2-E454-4F4B-B868-F5DF950D44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2E5A56-2637-4F6B-B69C-3F70EECF11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9A4CFC-E1A9-4AC6-9C96-BDEF98D4A2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B01C50-3DE7-4617-9094-330C4AD2AC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798DF6-5ACF-4ABD-8A3D-171D5184D8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FF65CC-57AA-4DFB-9027-8FCF2F57EE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618896-1D6B-41AD-B0D0-E1B1778D7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A2B27B-9179-4AEB-A478-D37FC4D2A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071cb1f5374f77" /><Relationship Type="http://schemas.openxmlformats.org/officeDocument/2006/relationships/slideLayout" Target="/ppt/slideLayouts/slideLayout1.xml" Id="R75a68203725541cb" /><Relationship Type="http://schemas.openxmlformats.org/officeDocument/2006/relationships/slideLayout" Target="/ppt/slideLayouts/slideLayout2.xml" Id="R5de085b13e7a4da8" /><Relationship Type="http://schemas.openxmlformats.org/officeDocument/2006/relationships/slideLayout" Target="/ppt/slideLayouts/slideLayout3.xml" Id="Rb784b1a466ce4125" /><Relationship Type="http://schemas.openxmlformats.org/officeDocument/2006/relationships/slideLayout" Target="/ppt/slideLayouts/slideLayout4.xml" Id="R6850608796314f2f" /><Relationship Type="http://schemas.openxmlformats.org/officeDocument/2006/relationships/slideLayout" Target="/ppt/slideLayouts/slideLayout5.xml" Id="R0f43fa204d304461" /><Relationship Type="http://schemas.openxmlformats.org/officeDocument/2006/relationships/slideLayout" Target="/ppt/slideLayouts/slideLayout6.xml" Id="R6ea634f1d90a4f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a68203725541cb"/>
    <p:sldLayoutId xmlns:r="http://schemas.openxmlformats.org/officeDocument/2006/relationships" id="2147483650" r:id="R5de085b13e7a4da8"/>
    <p:sldLayoutId xmlns:r="http://schemas.openxmlformats.org/officeDocument/2006/relationships" id="2147483651" r:id="Rb784b1a466ce4125"/>
    <p:sldLayoutId xmlns:r="http://schemas.openxmlformats.org/officeDocument/2006/relationships" id="2147483652" r:id="R6850608796314f2f"/>
    <p:sldLayoutId xmlns:r="http://schemas.openxmlformats.org/officeDocument/2006/relationships" id="2147483653" r:id="R0f43fa204d304461"/>
    <p:sldLayoutId xmlns:r="http://schemas.openxmlformats.org/officeDocument/2006/relationships" id="2147483654" r:id="R6ea634f1d90a4f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PDcache Project —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Project —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fd1b4782e476d" /><Relationship Type="http://schemas.openxmlformats.org/officeDocument/2006/relationships/notesSlide" Target="/ppt/notesSlides/notesSlide1.xml" Id="R0837d7bded054a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2ECE8853-D9B4-430D-B768-D09FB5E7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面向持续供数的非阻塞缓存优化</a:t>
            </a:r>
          </a:p>
        </p:txBody>
      </p:sp>
      <p:sp>
        <p:nvSpPr>
          <p:cNvPr id="2" name="project-date">
            <a:extLst xmlns:a="http://schemas.openxmlformats.org/drawingml/2006/main">
              <a:ext uri="{FF2B5EF4-FFF2-40B4-BE49-F238E27FC236}">
                <a16:creationId xmlns:a16="http://schemas.microsoft.com/office/drawing/2014/main" id="{C20129FC-3D8B-48DF-B83B-BAF82C8C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90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2026.9 – 至今</a:t>
            </a:r>
          </a:p>
        </p:txBody>
      </p:sp>
      <p:sp>
        <p:nvSpPr>
          <p:cNvPr id="3" name="project-subtitle">
            <a:extLst xmlns:a="http://schemas.openxmlformats.org/drawingml/2006/main">
              <a:ext uri="{FF2B5EF4-FFF2-40B4-BE49-F238E27FC236}">
                <a16:creationId xmlns:a16="http://schemas.microsoft.com/office/drawing/2014/main" id="{7AFCE89D-1382-41D1-888D-90600097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基于开源 CV-HPDcache 的微架构改造与验证</a:t>
            </a:r>
          </a:p>
        </p:txBody>
      </p:sp>
      <p:sp>
        <p:nvSpPr>
          <p:cNvPr id="4" name="header-divider">
            <a:extLst xmlns:a="http://schemas.openxmlformats.org/drawingml/2006/main">
              <a:ext uri="{FF2B5EF4-FFF2-40B4-BE49-F238E27FC236}">
                <a16:creationId xmlns:a16="http://schemas.microsoft.com/office/drawing/2014/main" id="{0103049E-221D-4EF9-8889-D43F50AD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0A6E0DDC-89DD-4F77-B9A0-C23D95C4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05025"/>
            <a:ext cx="13335" cy="3533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load-label">
            <a:extLst xmlns:a="http://schemas.openxmlformats.org/drawingml/2006/main">
              <a:ext uri="{FF2B5EF4-FFF2-40B4-BE49-F238E27FC236}">
                <a16:creationId xmlns:a16="http://schemas.microsoft.com/office/drawing/2014/main" id="{722A52A4-0D3D-459C-A231-1740F203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研究场景</a:t>
            </a:r>
          </a:p>
        </p:txBody>
      </p:sp>
      <p:sp>
        <p:nvSpPr>
          <p:cNvPr id="7" name="workload-title">
            <a:extLst xmlns:a="http://schemas.openxmlformats.org/drawingml/2006/main">
              <a:ext uri="{FF2B5EF4-FFF2-40B4-BE49-F238E27FC236}">
                <a16:creationId xmlns:a16="http://schemas.microsoft.com/office/drawing/2014/main" id="{B97AD85B-E776-4CB5-9BBE-04DA5917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686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多行并行稀疏矩阵乘向量（SpMV）</a:t>
            </a:r>
          </a:p>
        </p:txBody>
      </p:sp>
      <p:sp>
        <p:nvSpPr>
          <p:cNvPr id="8" name="workload-description">
            <a:extLst xmlns:a="http://schemas.openxmlformats.org/drawingml/2006/main">
              <a:ext uri="{FF2B5EF4-FFF2-40B4-BE49-F238E27FC236}">
                <a16:creationId xmlns:a16="http://schemas.microsoft.com/office/drawing/2014/main" id="{7B259CAD-F306-4B65-B76F-93DAB572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686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连续读取与索引驱动的间接访问交织</a:t>
            </a:r>
          </a:p>
        </p:txBody>
      </p:sp>
      <p:sp>
        <p:nvSpPr>
          <p:cNvPr id="9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3CB6A6B4-3151-4E0C-9C08-B5AD9570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核心问题</a:t>
            </a:r>
          </a:p>
        </p:txBody>
      </p:sp>
      <p:sp>
        <p:nvSpPr>
          <p:cNvPr id="10" name="problem-line-1">
            <a:extLst xmlns:a="http://schemas.openxmlformats.org/drawingml/2006/main">
              <a:ext uri="{FF2B5EF4-FFF2-40B4-BE49-F238E27FC236}">
                <a16:creationId xmlns:a16="http://schemas.microsoft.com/office/drawing/2014/main" id="{38C576D8-4623-45E3-BC9F-3A387E0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6867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支持多个未完成请求，</a:t>
            </a:r>
          </a:p>
        </p:txBody>
      </p:sp>
      <p:sp>
        <p:nvSpPr>
          <p:cNvPr id="11" name="problem-line-2">
            <a:extLst xmlns:a="http://schemas.openxmlformats.org/drawingml/2006/main">
              <a:ext uri="{FF2B5EF4-FFF2-40B4-BE49-F238E27FC236}">
                <a16:creationId xmlns:a16="http://schemas.microsoft.com/office/drawing/2014/main" id="{2BC58552-053E-404C-B7BD-7E7518E9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6867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发送与回填仍可能让后续访问等待</a:t>
            </a:r>
          </a:p>
        </p:txBody>
      </p:sp>
      <p:sp>
        <p:nvSpPr>
          <p:cNvPr id="12" name="goal-label">
            <a:extLst xmlns:a="http://schemas.openxmlformats.org/drawingml/2006/main">
              <a:ext uri="{FF2B5EF4-FFF2-40B4-BE49-F238E27FC236}">
                <a16:creationId xmlns:a16="http://schemas.microsoft.com/office/drawing/2014/main" id="{9950F267-59B5-41EF-91B7-FEE29C81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105025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项目目标</a:t>
            </a:r>
          </a:p>
        </p:txBody>
      </p:sp>
      <p:sp>
        <p:nvSpPr>
          <p:cNvPr id="13" name="goal-title">
            <a:extLst xmlns:a="http://schemas.openxmlformats.org/drawingml/2006/main">
              <a:ext uri="{FF2B5EF4-FFF2-40B4-BE49-F238E27FC236}">
                <a16:creationId xmlns:a16="http://schemas.microsoft.com/office/drawing/2014/main" id="{ED95E9E8-E4ED-4842-9F55-3D24D15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00325"/>
            <a:ext cx="335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提高应用吞吐</a:t>
            </a:r>
          </a:p>
        </p:txBody>
      </p:sp>
      <p:sp>
        <p:nvSpPr>
          <p:cNvPr id="14" name="goal-description">
            <a:extLst xmlns:a="http://schemas.openxmlformats.org/drawingml/2006/main">
              <a:ext uri="{FF2B5EF4-FFF2-40B4-BE49-F238E27FC236}">
                <a16:creationId xmlns:a16="http://schemas.microsoft.com/office/drawing/2014/main" id="{4558F08A-F4C2-4DE5-876D-E1FCFFA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337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以 PPA 判断收益是否值得</a:t>
            </a:r>
          </a:p>
        </p:txBody>
      </p:sp>
      <p:sp>
        <p:nvSpPr>
          <p:cNvPr id="15" name="contribution-label">
            <a:extLst xmlns:a="http://schemas.openxmlformats.org/drawingml/2006/main">
              <a:ext uri="{FF2B5EF4-FFF2-40B4-BE49-F238E27FC236}">
                <a16:creationId xmlns:a16="http://schemas.microsoft.com/office/drawing/2014/main" id="{534CE3D5-F970-4008-8F3B-402FCC61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990975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个人工作</a:t>
            </a:r>
          </a:p>
        </p:txBody>
      </p:sp>
      <p:sp>
        <p:nvSpPr>
          <p:cNvPr id="16" name="contribution-1">
            <a:extLst xmlns:a="http://schemas.openxmlformats.org/drawingml/2006/main">
              <a:ext uri="{FF2B5EF4-FFF2-40B4-BE49-F238E27FC236}">
                <a16:creationId xmlns:a16="http://schemas.microsoft.com/office/drawing/2014/main" id="{0328D514-F0AD-44B4-AC72-D3DEBFC8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5148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负载建模与瓶颈定位</a:t>
            </a:r>
          </a:p>
        </p:txBody>
      </p:sp>
      <p:sp>
        <p:nvSpPr>
          <p:cNvPr id="17" name="contribution-2">
            <a:extLst xmlns:a="http://schemas.openxmlformats.org/drawingml/2006/main">
              <a:ext uri="{FF2B5EF4-FFF2-40B4-BE49-F238E27FC236}">
                <a16:creationId xmlns:a16="http://schemas.microsoft.com/office/drawing/2014/main" id="{31854007-DCB0-476B-A7AC-F880972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943475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控制器 RTL 改造与验证</a:t>
            </a:r>
          </a:p>
        </p:txBody>
      </p:sp>
      <p:sp>
        <p:nvSpPr>
          <p:cNvPr id="18" name="contribution-3">
            <a:extLst xmlns:a="http://schemas.openxmlformats.org/drawingml/2006/main">
              <a:ext uri="{FF2B5EF4-FFF2-40B4-BE49-F238E27FC236}">
                <a16:creationId xmlns:a16="http://schemas.microsoft.com/office/drawing/2014/main" id="{75F6256C-DEAD-4325-9385-A43F6540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3721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应用性能与 PPA 评估</a:t>
            </a:r>
          </a:p>
        </p:txBody>
      </p:sp>
      <p:sp>
        <p:nvSpPr>
          <p:cNvPr id="1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A16DC17-6398-46C2-829B-B81B8E65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mplementation-scope">
            <a:extLst xmlns:a="http://schemas.openxmlformats.org/drawingml/2006/main">
              <a:ext uri="{FF2B5EF4-FFF2-40B4-BE49-F238E27FC236}">
                <a16:creationId xmlns:a16="http://schemas.microsoft.com/office/drawing/2014/main" id="{17282FAC-68EE-4E0A-9D1F-41B803A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Cache：SystemVerilog RTL   ·   SpMV：SystemC 行为模型   ·   PPA：Cache 级布局前估算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8EAA19-9123-4FAE-930D-04AD04BA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7618074"/>
      </p:ext>
    </p:extLst>
  </p:cSld>
</p:sld>
</file>

<file path=ppt/theme/theme1.xml><?xml version="1.0" encoding="utf-8"?>
<a:theme xmlns:a="http://schemas.openxmlformats.org/drawingml/2006/main" name="ChatGPT">
  <a:themeElements>
    <a:clrScheme name="HPDcache Project —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Project —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2026-10-26T05:48:43.2830000Z</dcterms:created>
  <dcterms:modified xsi:type="dcterms:W3CDTF">2026-10-26T05:48:43.2830000Z</dcterms:modified>
</coreProperties>
</file>