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e4bf981c4a43a9" /><Relationship Type="http://schemas.openxmlformats.org/officeDocument/2006/relationships/extended-properties" Target="/docProps/app.xml" Id="R04023a9b21dd4626" /><Relationship Type="http://schemas.openxmlformats.org/officeDocument/2006/relationships/officeDocument" Target="/ppt/presentation.xml" Id="R6a9079fd388649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a5402504504626"/>
  </p:sldMasterIdLst>
  <p:notesMasterIdLst>
    <p:notesMasterId xmlns:r="http://schemas.openxmlformats.org/officeDocument/2006/relationships" r:id="Rb209f60b687b4a42"/>
  </p:notesMasterIdLst>
  <p:sldIdLst>
    <p:sldId xmlns:r="http://schemas.openxmlformats.org/officeDocument/2006/relationships" id="256" r:id="R446d1bf605484b3c"/>
    <p:sldId xmlns:r="http://schemas.openxmlformats.org/officeDocument/2006/relationships" id="257" r:id="R2ba3d79f40ab42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1b47feac304d78" /><Relationship Type="http://schemas.openxmlformats.org/officeDocument/2006/relationships/slideMaster" Target="/ppt/slideMasters/slideMaster1.xml" Id="R9fa5402504504626" /><Relationship Type="http://schemas.openxmlformats.org/officeDocument/2006/relationships/notesMaster" Target="/ppt/notesMasters/notesMaster1.xml" Id="Rb209f60b687b4a42" /><Relationship Type="http://schemas.openxmlformats.org/officeDocument/2006/relationships/presProps" Target="/ppt/presProps.xml" Id="R02e61fd3c377451b" /><Relationship Type="http://schemas.openxmlformats.org/officeDocument/2006/relationships/tableStyles" Target="/ppt/tableStyles.xml" Id="R85f02e9d3fdd4533" /><Relationship Type="http://schemas.openxmlformats.org/officeDocument/2006/relationships/slide" Target="/ppt/slides/slide1.xml" Id="R446d1bf605484b3c" /><Relationship Type="http://schemas.openxmlformats.org/officeDocument/2006/relationships/slide" Target="/ppt/slides/slide2.xml" Id="R2ba3d79f40ab42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3ea022437247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 noProof="1" lang="zh-CN" altLang="en-US" dirty="0" err="0" b="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PDcache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f6930db8ad4d3c" /><Relationship Type="http://schemas.openxmlformats.org/officeDocument/2006/relationships/notesMaster" Target="/ppt/notesMasters/notesMaster1.xml" Id="R74b3ab5cc917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2748d8b9534e66" /><Relationship Type="http://schemas.openxmlformats.org/officeDocument/2006/relationships/notesMaster" Target="/ppt/notesMasters/notesMaster1.xml" Id="R3238fb1eed1945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先解释负载为什么会给 Cache 带来这种压力。SpMV 是稀疏矩阵乘向量，目标是 y = A x。</a:t>
            </a:r>
            <a:endParaRPr b="0" noProof="1" lang="zh-CN" altLang="en-US" dirty="0" err="0"/>
          </a:p>
          <a:p xmlns:a="http://schemas.openxmlformats.org/drawingml/2006/main">
            <a:r>
              <a:t>图中只展示一行的三个非零元：数值为 2、5、3，列索引为 1、4、7。</a:t>
            </a:r>
            <a:endParaRPr b="0" noProof="1" lang="zh-CN" altLang="en-US" dirty="0" err="0"/>
          </a:p>
          <a:p xmlns:a="http://schemas.openxmlformats.org/drawingml/2006/main">
            <a:r>
              <a:t>采用 CSR 存储时，非零值和列索引各自按行内顺序读取。列索引实际返回后，才能计算对应 x 元素的地址并发出请求。</a:t>
            </a:r>
            <a:endParaRPr b="0" noProof="1" lang="zh-CN" altLang="en-US" dirty="0" err="0"/>
          </a:p>
          <a:p xmlns:a="http://schemas.openxmlformats.org/drawingml/2006/main">
            <a:r>
              <a:t>这个示意是数据布局与地址依赖，不表示同一行的三个非零元同时执行。当前每个行上下文一次推进一个非零元。</a:t>
            </a:r>
            <a:endParaRPr b="0" noProof="1" lang="zh-CN" altLang="en-US" dirty="0" err="0"/>
          </a:p>
          <a:p xmlns:a="http://schemas.openxmlformats.org/drawingml/2006/main">
            <a:r>
              <a:t>value 与 index 请求可以同时未完成；x 请求必须等待 INDEX 响应中的真实列号。row_ptr 用于取得每行的范围，图中省略。</a:t>
            </a:r>
            <a:endParaRPr b="0" noProof="1" lang="zh-CN" altLang="en-US" dirty="0" err="0"/>
          </a:p>
          <a:p xmlns:a="http://schemas.openxmlformats.org/drawingml/2006/main">
            <a:r>
              <a:t>右侧是本项目的 SystemC 行为执行模型：默认 8 个行上下文，共享一个 Cache 请求口；轮询选择就绪行发请求。</a:t>
            </a:r>
            <a:endParaRPr b="0" noProof="1" lang="zh-CN" altLang="en-US" dirty="0" err="0"/>
          </a:p>
          <a:p xmlns:a="http://schemas.openxmlformats.org/drawingml/2006/main">
            <a:r>
              <a:t>某行等待索引或 x 数据时，其他就绪行可以继续推进。它提供跨行访存并发，但不代表 8 个端口或每拍同时发出 8 个请求。</a:t>
            </a:r>
            <a:endParaRPr b="0" noProof="1" lang="zh-CN" altLang="en-US" dirty="0" err="0"/>
          </a:p>
          <a:p xmlns:a="http://schemas.openxmlformats.org/drawingml/2006/main">
            <a:r>
              <a:t>模型使用共享 MAC 流水线，每拍至多启动一次，默认延迟 2 拍。矩阵、索引、向量、输出都通过 Cache 实际访存。</a:t>
            </a:r>
            <a:endParaRPr b="0" noProof="1" lang="zh-CN" altLang="en-US" dirty="0" err="0"/>
          </a:p>
          <a:p xmlns:a="http://schemas.openxmlformats.org/drawingml/2006/main">
            <a:r>
              <a:t>相近或重复的列索引可能带来 cacheline 内复用或跨行复用；局部性依赖矩阵和行调度，不等同于均匀随机请求。</a:t>
            </a:r>
            <a:endParaRPr b="0" noProof="1" lang="zh-CN" altLang="en-US" dirty="0" err="0"/>
          </a:p>
          <a:p xmlns:a="http://schemas.openxmlformats.org/drawingml/2006/main">
            <a:r>
              <a:t>因此我关注的机会是：已有独立请求时，控制器是否仍让它们多等了一拍。下一页定位这些等待发生的位置。</a:t>
            </a:r>
            <a:endParaRPr b="0" noProof="1" lang="zh-CN" altLang="en-US" dirty="0" err="0"/>
          </a:p>
          <a:p xmlns:a="http://schemas.openxmlformats.org/drawingml/2006/main">
            <a:r>
              <a:t/>
            </a:r>
            <a:endParaRPr b="0" noProof="1" lang="zh-CN" altLang="en-US" dirty="0" err="0"/>
          </a:p>
          <a:p xmlns:a="http://schemas.openxmlformats.org/drawingml/2006/main">
            <a:r>
              <a:t>来源：rtl/tb/sequence_lib/hpdcache_test_spmv_accel_seq.h:93–103（共享端口0）、108–118（单行进度、共享MAC）、125–127（默认8行与延迟）、142–145及177（索引依赖）。</a:t>
            </a:r>
            <a:endParaRPr b="0" noProof="1" lang="zh-CN" altLang="en-US" dirty="0" err="0"/>
          </a:p>
          <a:p xmlns:a="http://schemas.openxmlformats.org/drawingml/2006/main">
            <a:r>
              <a:t>来源：rtl/tb/tests/miss_issue_research/real/README.md:19–23、41–43。</a:t>
            </a:r>
            <a:endParaRPr b="0" noProof="1" lang="zh-CN" altLang="en-US" dirty="0" err="0"/>
          </a:p>
          <a:p xmlns:a="http://schemas.openxmlformats.org/drawingml/2006/main">
            <a:r>
              <a:t>本页数值 2/5/3 和索引 1/4/7 为教学示例，并非实验矩阵中的抽样。</a:t>
            </a:r>
            <a:endParaRPr b="0" noProof="1" lang="zh-CN" altLang="en-US" dirty="0" err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这是基线的读请求核心通路示意。它保留讲解三项改动所需的模块，省略写缓冲、CMO、uncached、flush 等独立路径，也省略详细响应复用与内部控制连线。</a:t>
            </a:r>
            <a:endParaRPr b="0" noProof="1" lang="zh-CN" altLang="en-US" dirty="0" err="0"/>
          </a:p>
          <a:p xmlns:a="http://schemas.openxmlformats.org/drawingml/2006/main">
            <a:r>
              <a:t>多行 SpMV 通过共享请求口进入 Cache Controller。控制器调度 Tag 和 Data 阵列，暂时不能执行的请求进入 RTAB 等待条件满足后重放。</a:t>
            </a:r>
            <a:endParaRPr b="0" noProof="1" lang="zh-CN" altLang="en-US" dirty="0" err="0"/>
          </a:p>
          <a:p xmlns:a="http://schemas.openxmlformats.org/drawingml/2006/main">
            <a:r>
              <a:t>发生 miss 时，MSHR 记录这笔未完成请求；发送 FSM 将读请求交给下一级存储。返回数据走独立缓冲与 refill FSM，在获得控制器授权后写入 Cache 阵列。</a:t>
            </a:r>
            <a:endParaRPr b="0" noProof="1" lang="zh-CN" altLang="en-US" dirty="0" err="0"/>
          </a:p>
          <a:p xmlns:a="http://schemas.openxmlformats.org/drawingml/2006/main">
            <a:r>
              <a:t>图中的三处橙色标记分别对应后续三页机制。</a:t>
            </a:r>
            <a:endParaRPr b="0" noProof="1" lang="zh-CN" altLang="en-US" dirty="0" err="0"/>
          </a:p>
          <a:p xmlns:a="http://schemas.openxmlformats.org/drawingml/2006/main">
            <a:r>
              <a:t>第一处在发送侧。原设计只有一项待发元数据，处于 SEND 时新 miss 的准入 ready 为0。SEND 结束于读请求 valid 与 ready 握手，不等待内存返回数据。</a:t>
            </a:r>
            <a:endParaRPr b="0" noProof="1" lang="zh-CN" altLang="en-US" dirty="0" err="0"/>
          </a:p>
          <a:p xmlns:a="http://schemas.openxmlformats.org/drawingml/2006/main">
            <a:r>
              <a:t>改动1使用两项元数据 FIFO 吸收一部分发送反压，每个 FIFO 项已经拥有既有 MSHR。MSHR 和 RTAB 容量均保持不变。</a:t>
            </a:r>
            <a:endParaRPr b="0" noProof="1" lang="zh-CN" altLang="en-US" dirty="0" err="0"/>
          </a:p>
          <a:p xmlns:a="http://schemas.openxmlformats.org/drawingml/2006/main">
            <a:r>
              <a:t>第二处是 refill 授权。原路径要求 S1 空闲，即使当前普通 load hit 能完成响应，仍会推迟授权。改动2允许满足安全条件的 hit 完成与 refill 授权同拍发生。</a:t>
            </a:r>
            <a:endParaRPr b="0" noProof="1" lang="zh-CN" altLang="en-US" dirty="0" err="0"/>
          </a:p>
          <a:p xmlns:a="http://schemas.openxmlformats.org/drawingml/2006/main">
            <a:r>
              <a:t>第三处是阵列调度。回填的 DATA 和 DIR 分拍分别写 Data 与 Tag；基线 refill busy 整体阻塞普通请求，使另一块阵列的可用时段难以服务新 load。</a:t>
            </a:r>
            <a:endParaRPr b="0" noProof="1" lang="zh-CN" altLang="en-US" dirty="0" err="0"/>
          </a:p>
          <a:p xmlns:a="http://schemas.openxmlformats.org/drawingml/2006/main">
            <a:r>
              <a:t>改动3在满足跨set、RTAB空等条件时，让新load在DATA拍查Tag，在DIR拍读Data。它没有增加SRAM端口，也不是连续refill流水化。</a:t>
            </a:r>
            <a:endParaRPr b="0" noProof="1" lang="zh-CN" altLang="en-US" dirty="0" err="0"/>
          </a:p>
          <a:p xmlns:a="http://schemas.openxmlformats.org/drawingml/2006/main">
            <a:r>
              <a:t>本页只定位基线等待和优化方向，具体条件、时序、功能验证以及性能/PPA收益留到后续页面。</a:t>
            </a:r>
            <a:endParaRPr b="0" noProof="1" lang="zh-CN" altLang="en-US" dirty="0" err="0"/>
          </a:p>
          <a:p xmlns:a="http://schemas.openxmlformats.org/drawingml/2006/main">
            <a:r>
              <a:t/>
            </a:r>
            <a:endParaRPr b="0" noProof="1" lang="zh-CN" altLang="en-US" dirty="0" err="0"/>
          </a:p>
          <a:p xmlns:a="http://schemas.openxmlformats.org/drawingml/2006/main">
            <a:r>
              <a:t>源码：rtl/src/hpdcache_miss_handler.sv:294–325（原发送状态机与ready）、408–431与500–505（授权及分拍回填）。</a:t>
            </a:r>
            <a:endParaRPr b="0" noProof="1" lang="zh-CN" altLang="en-US" dirty="0" err="0"/>
          </a:p>
          <a:p xmlns:a="http://schemas.openxmlformats.org/drawingml/2006/main">
            <a:r>
              <a:t>源码：rtl/src/hpdcache_ctrl_pe.sv:408–437（refill busy准入）、848–856（发送未ready的RTAB回退）、1351–1367（S1授权条件）。</a:t>
            </a:r>
            <a:endParaRPr b="0" noProof="1" lang="zh-CN" altLang="en-US" dirty="0" err="0"/>
          </a:p>
          <a:p xmlns:a="http://schemas.openxmlformats.org/drawingml/2006/main">
            <a:r>
              <a:t>源码：rtl/src/hpdcache_ctrl.sv:656–672（交错访问条件与延后Data读取）。</a:t>
            </a:r>
            <a:endParaRPr b="0" noProof="1" lang="zh-CN" altLang="en-US" dirty="0" err="0"/>
          </a:p>
          <a:p xmlns:a="http://schemas.openxmlformats.org/drawingml/2006/main">
            <a:r>
              <a:t>结构参考：docs/source/architecture.rst:44–62；https://openhw-group-cv-hpdcache.readthedocs-hosted.com/。</a:t>
            </a:r>
            <a:endParaRPr b="0" noProof="1" lang="zh-CN" altLang="en-US" dirty="0" err="0"/>
          </a:p>
          <a:p xmlns:a="http://schemas.openxmlformats.org/drawingml/2006/main">
            <a:r>
              <a:t>配置依据：rtl/tb/tests/miss_issue_research/real/README.md。MSHR 8项、RTAB 4项为本项目实验配置，不代表全部HPDcache配置。</a:t>
            </a:r>
            <a:endParaRPr b="0" noProof="1" lang="zh-CN" altLang="en-US" dirty="0" err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73f7b61e54d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c15e380be4a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a5ebce6f0042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8e8ea584942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da9ea8fa14d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464e874ac4c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9AB95A-FFE0-466C-A420-02D0B7BC2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D7C870-BC56-4960-82FE-422D984899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C0FBBA-7F30-4AAC-B84D-94DB19C78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BC450D-43A6-4AE4-B3DF-C2DBFE2B91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A3FD724-5D97-48C5-B104-C6DCE516D6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39A24D-FED9-44BD-B3B6-CD6962AE19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375440-B9E9-4E52-A206-4B4D5E7614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5EB265-5BAC-416B-9F9E-7C237A8143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8CDFF0-B446-4DA7-BBDA-50BA71B102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31345A-A2A5-40E5-858D-1E512EFD0B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b7752657b242d4" /><Relationship Type="http://schemas.openxmlformats.org/officeDocument/2006/relationships/slideLayout" Target="/ppt/slideLayouts/slideLayout1.xml" Id="R1832e67db29843ba" /><Relationship Type="http://schemas.openxmlformats.org/officeDocument/2006/relationships/slideLayout" Target="/ppt/slideLayouts/slideLayout2.xml" Id="R558581d037bc4ae3" /><Relationship Type="http://schemas.openxmlformats.org/officeDocument/2006/relationships/slideLayout" Target="/ppt/slideLayouts/slideLayout3.xml" Id="Rf0fa60d252de4586" /><Relationship Type="http://schemas.openxmlformats.org/officeDocument/2006/relationships/slideLayout" Target="/ppt/slideLayouts/slideLayout4.xml" Id="R38e30e00e9554345" /><Relationship Type="http://schemas.openxmlformats.org/officeDocument/2006/relationships/slideLayout" Target="/ppt/slideLayouts/slideLayout5.xml" Id="Rff4f05e23d404278" /><Relationship Type="http://schemas.openxmlformats.org/officeDocument/2006/relationships/slideLayout" Target="/ppt/slideLayouts/slideLayout6.xml" Id="R4b86a7a9cce146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32e67db29843ba"/>
    <p:sldLayoutId xmlns:r="http://schemas.openxmlformats.org/officeDocument/2006/relationships" id="2147483650" r:id="R558581d037bc4ae3"/>
    <p:sldLayoutId xmlns:r="http://schemas.openxmlformats.org/officeDocument/2006/relationships" id="2147483651" r:id="Rf0fa60d252de4586"/>
    <p:sldLayoutId xmlns:r="http://schemas.openxmlformats.org/officeDocument/2006/relationships" id="2147483652" r:id="R38e30e00e9554345"/>
    <p:sldLayoutId xmlns:r="http://schemas.openxmlformats.org/officeDocument/2006/relationships" id="2147483653" r:id="Rff4f05e23d404278"/>
    <p:sldLayoutId xmlns:r="http://schemas.openxmlformats.org/officeDocument/2006/relationships" id="2147483654" r:id="R4b86a7a9cce146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 noProof="1" lang="zh-CN" altLang="en-US" dirty="0" err="0" b="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PDcache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ed551059ea4568" /><Relationship Type="http://schemas.openxmlformats.org/officeDocument/2006/relationships/notesSlide" Target="/ppt/notesSlides/notesSlide1.xml" Id="R3d1f45dae71e43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9ea5cead54e61" /><Relationship Type="http://schemas.openxmlformats.org/officeDocument/2006/relationships/notesSlide" Target="/ppt/notesSlides/notesSlide2.xml" Id="R4993e55335ef43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itle">
            <a:extLst xmlns:a="http://schemas.openxmlformats.org/drawingml/2006/main">
              <a:ext uri="{FF2B5EF4-FFF2-40B4-BE49-F238E27FC236}">
                <a16:creationId xmlns:a16="http://schemas.microsoft.com/office/drawing/2014/main" id="{21CE5777-70D7-4A33-AC6A-32D6F7D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SpMV 访存特征与执行模型</a:t>
            </a:r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BD1BDD-466F-4F80-9CBE-FDBFD2EA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列索引返回后才能访问 x，多行交错产生访存并发</a:t>
            </a:r>
            <a:endParaRPr b="0" noProof="1" lang="zh-CN" altLang="en-US" dirty="0" err="0"/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79F1E2A-3390-4D57-AFCB-1D410C02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07B9CAD-2A52-4802-BCF2-42B342B9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8A5666C-E3AA-48EC-82CB-E29C2331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执行模型：SystemC 行为模型，默认 8 行上下文，共享一个 Cache 请求口</a:t>
            </a:r>
            <a:endParaRPr b="0" noProof="1" lang="zh-CN" altLang="en-US" dirty="0" err="0"/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371AB8-9021-45ED-8F00-295A083E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2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b="0" noProof="1" lang="zh-CN" altLang="en-US" dirty="0" err="0"/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DC4D89A4-85E3-4B88-A4D3-A5E11AFD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57400"/>
            <a:ext cx="1333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w-example-title">
            <a:extLst xmlns:a="http://schemas.openxmlformats.org/drawingml/2006/main">
              <a:ext uri="{FF2B5EF4-FFF2-40B4-BE49-F238E27FC236}">
                <a16:creationId xmlns:a16="http://schemas.microsoft.com/office/drawing/2014/main" id="{1D1F1015-AAA0-45C6-8D0A-F5123C91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一行的访问示例</a:t>
            </a:r>
            <a:endParaRPr b="0" noProof="1" lang="zh-CN" altLang="en-US" dirty="0" err="0"/>
          </a:p>
        </p:txBody>
      </p:sp>
      <p:sp>
        <p:nvSpPr>
          <p:cNvPr id="9" name="row-example-disclaimer">
            <a:extLst xmlns:a="http://schemas.openxmlformats.org/drawingml/2006/main">
              <a:ext uri="{FF2B5EF4-FFF2-40B4-BE49-F238E27FC236}">
                <a16:creationId xmlns:a16="http://schemas.microsoft.com/office/drawing/2014/main" id="{9B07951E-665E-4C3E-A537-82BB5E31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574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4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示意数据</a:t>
            </a:r>
            <a:endParaRPr b="0" noProof="1" lang="zh-CN" altLang="en-US" dirty="0" err="0"/>
          </a:p>
        </p:txBody>
      </p:sp>
      <p:sp>
        <p:nvSpPr>
          <p:cNvPr id="10" name="continuous-label">
            <a:extLst xmlns:a="http://schemas.openxmlformats.org/drawingml/2006/main">
              <a:ext uri="{FF2B5EF4-FFF2-40B4-BE49-F238E27FC236}">
                <a16:creationId xmlns:a16="http://schemas.microsoft.com/office/drawing/2014/main" id="{2F045ACC-CFE1-46EC-B508-E8975F2C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按行内顺序读取</a:t>
            </a:r>
            <a:endParaRPr b="0" noProof="1" lang="zh-CN" altLang="en-US" dirty="0" err="0"/>
          </a:p>
        </p:txBody>
      </p:sp>
      <p:sp>
        <p:nvSpPr>
          <p:cNvPr id="11" name="value-label">
            <a:extLst xmlns:a="http://schemas.openxmlformats.org/drawingml/2006/main">
              <a:ext uri="{FF2B5EF4-FFF2-40B4-BE49-F238E27FC236}">
                <a16:creationId xmlns:a16="http://schemas.microsoft.com/office/drawing/2014/main" id="{D98A39FA-5422-42D9-8EC7-C64A735C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非零值 val</a:t>
            </a:r>
            <a:endParaRPr b="0" noProof="1" lang="zh-CN" altLang="en-US" dirty="0" err="0"/>
          </a:p>
        </p:txBody>
      </p:sp>
      <p:sp>
        <p:nvSpPr>
          <p:cNvPr id="12" name="index-label">
            <a:extLst xmlns:a="http://schemas.openxmlformats.org/drawingml/2006/main">
              <a:ext uri="{FF2B5EF4-FFF2-40B4-BE49-F238E27FC236}">
                <a16:creationId xmlns:a16="http://schemas.microsoft.com/office/drawing/2014/main" id="{4AC7534C-1F4E-48F9-92CA-EFA40975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列索引 col</a:t>
            </a:r>
            <a:endParaRPr b="0" noProof="1" lang="zh-CN" altLang="en-US" dirty="0" err="0"/>
          </a:p>
        </p:txBody>
      </p:sp>
      <p:sp>
        <p:nvSpPr>
          <p:cNvPr id="13" name="vector-label">
            <a:extLst xmlns:a="http://schemas.openxmlformats.org/drawingml/2006/main">
              <a:ext uri="{FF2B5EF4-FFF2-40B4-BE49-F238E27FC236}">
                <a16:creationId xmlns:a16="http://schemas.microsoft.com/office/drawing/2014/main" id="{DFFED412-1D97-417C-AA0D-5E43BA5F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向量访问</a:t>
            </a:r>
            <a:endParaRPr b="0" noProof="1" lang="zh-CN" altLang="en-US" dirty="0" err="0"/>
          </a:p>
        </p:txBody>
      </p:sp>
      <p:sp>
        <p:nvSpPr>
          <p:cNvPr id="14" name="value-0">
            <a:extLst xmlns:a="http://schemas.openxmlformats.org/drawingml/2006/main">
              <a:ext uri="{FF2B5EF4-FFF2-40B4-BE49-F238E27FC236}">
                <a16:creationId xmlns:a16="http://schemas.microsoft.com/office/drawing/2014/main" id="{7A24E4FC-0113-47C0-8FDE-77FEEC64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575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D7E2EA"/>
            </a:solidFill>
            <a:prstDash val="solid"/>
          </a:ln>
        </p:spPr>
      </p:sp>
      <p:sp>
        <p:nvSpPr>
          <p:cNvPr id="15" name="value-0-label">
            <a:extLst xmlns:a="http://schemas.openxmlformats.org/drawingml/2006/main">
              <a:ext uri="{FF2B5EF4-FFF2-40B4-BE49-F238E27FC236}">
                <a16:creationId xmlns:a16="http://schemas.microsoft.com/office/drawing/2014/main" id="{D8E5A8CC-E188-481F-A23F-E793D1E8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670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b="0" noProof="1" lang="zh-CN" altLang="en-US" dirty="0" err="0"/>
          </a:p>
        </p:txBody>
      </p:sp>
      <p:sp>
        <p:nvSpPr>
          <p:cNvPr id="16" name="value-1">
            <a:extLst xmlns:a="http://schemas.openxmlformats.org/drawingml/2006/main">
              <a:ext uri="{FF2B5EF4-FFF2-40B4-BE49-F238E27FC236}">
                <a16:creationId xmlns:a16="http://schemas.microsoft.com/office/drawing/2014/main" id="{406737E2-6BB4-4271-BA56-79C47C86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575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D7E2EA"/>
            </a:solidFill>
            <a:prstDash val="solid"/>
          </a:ln>
        </p:spPr>
      </p:sp>
      <p:sp>
        <p:nvSpPr>
          <p:cNvPr id="17" name="value-1-label">
            <a:extLst xmlns:a="http://schemas.openxmlformats.org/drawingml/2006/main">
              <a:ext uri="{FF2B5EF4-FFF2-40B4-BE49-F238E27FC236}">
                <a16:creationId xmlns:a16="http://schemas.microsoft.com/office/drawing/2014/main" id="{E31D5544-83A7-49EC-9A84-77169B3A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670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b="0" noProof="1" lang="zh-CN" altLang="en-US" dirty="0" err="0"/>
          </a:p>
        </p:txBody>
      </p:sp>
      <p:sp>
        <p:nvSpPr>
          <p:cNvPr id="18" name="value-2">
            <a:extLst xmlns:a="http://schemas.openxmlformats.org/drawingml/2006/main">
              <a:ext uri="{FF2B5EF4-FFF2-40B4-BE49-F238E27FC236}">
                <a16:creationId xmlns:a16="http://schemas.microsoft.com/office/drawing/2014/main" id="{25D70960-E0CB-4B58-9C50-8259AB21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575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D7E2EA"/>
            </a:solidFill>
            <a:prstDash val="solid"/>
          </a:ln>
        </p:spPr>
      </p:sp>
      <p:sp>
        <p:nvSpPr>
          <p:cNvPr id="19" name="value-2-label">
            <a:extLst xmlns:a="http://schemas.openxmlformats.org/drawingml/2006/main">
              <a:ext uri="{FF2B5EF4-FFF2-40B4-BE49-F238E27FC236}">
                <a16:creationId xmlns:a16="http://schemas.microsoft.com/office/drawing/2014/main" id="{D4141947-74DB-42A2-9336-98364043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8670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b="0" noProof="1" lang="zh-CN" altLang="en-US" dirty="0" err="0"/>
          </a:p>
        </p:txBody>
      </p:sp>
      <p:sp>
        <p:nvSpPr>
          <p:cNvPr id="20" name="index-0">
            <a:extLst xmlns:a="http://schemas.openxmlformats.org/drawingml/2006/main">
              <a:ext uri="{FF2B5EF4-FFF2-40B4-BE49-F238E27FC236}">
                <a16:creationId xmlns:a16="http://schemas.microsoft.com/office/drawing/2014/main" id="{03D34149-A058-4A27-868B-02911901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400425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D7E2EA"/>
            </a:solidFill>
            <a:prstDash val="solid"/>
          </a:ln>
        </p:spPr>
      </p:sp>
      <p:sp>
        <p:nvSpPr>
          <p:cNvPr id="21" name="index-0-label">
            <a:extLst xmlns:a="http://schemas.openxmlformats.org/drawingml/2006/main">
              <a:ext uri="{FF2B5EF4-FFF2-40B4-BE49-F238E27FC236}">
                <a16:creationId xmlns:a16="http://schemas.microsoft.com/office/drawing/2014/main" id="{384F4318-5A82-464D-9C2C-8A36C820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099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b="0" noProof="1" lang="zh-CN" altLang="en-US" dirty="0" err="0"/>
          </a:p>
        </p:txBody>
      </p:sp>
      <p:cxnSp>
        <p:nvCxnSpPr>
          <p:cNvPr id="22" name="index-to-x-0">
            <a:extLst xmlns:a="http://schemas.openxmlformats.org/drawingml/2006/main">
              <a:ext uri="{FF2B5EF4-FFF2-40B4-BE49-F238E27FC236}">
                <a16:creationId xmlns:a16="http://schemas.microsoft.com/office/drawing/2014/main" id="{017931CC-2CAF-428F-A8C6-B2EF18E5B5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24200" y="38385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87F83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3" name="x-0">
            <a:extLst xmlns:a="http://schemas.openxmlformats.org/drawingml/2006/main">
              <a:ext uri="{FF2B5EF4-FFF2-40B4-BE49-F238E27FC236}">
                <a16:creationId xmlns:a16="http://schemas.microsoft.com/office/drawing/2014/main" id="{27BEB502-2C65-4398-AC1E-4039BB1D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1529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4288">
            <a:solidFill>
              <a:srgbClr val="087F83"/>
            </a:solidFill>
            <a:prstDash val="solid"/>
          </a:ln>
        </p:spPr>
      </p:sp>
      <p:sp>
        <p:nvSpPr>
          <p:cNvPr id="24" name="x-0-label">
            <a:extLst xmlns:a="http://schemas.openxmlformats.org/drawingml/2006/main">
              <a:ext uri="{FF2B5EF4-FFF2-40B4-BE49-F238E27FC236}">
                <a16:creationId xmlns:a16="http://schemas.microsoft.com/office/drawing/2014/main" id="{3F9205C6-A071-449C-8B4D-D26D7CA7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162425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x[1]</a:t>
            </a:r>
            <a:endParaRPr b="0" noProof="1" lang="zh-CN" altLang="en-US" dirty="0" err="0"/>
          </a:p>
        </p:txBody>
      </p:sp>
      <p:sp>
        <p:nvSpPr>
          <p:cNvPr id="25" name="index-1">
            <a:extLst xmlns:a="http://schemas.openxmlformats.org/drawingml/2006/main">
              <a:ext uri="{FF2B5EF4-FFF2-40B4-BE49-F238E27FC236}">
                <a16:creationId xmlns:a16="http://schemas.microsoft.com/office/drawing/2014/main" id="{9D68D06F-89C1-4496-BCAE-F9A7A465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400425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D7E2EA"/>
            </a:solidFill>
            <a:prstDash val="solid"/>
          </a:ln>
        </p:spPr>
      </p:sp>
      <p:sp>
        <p:nvSpPr>
          <p:cNvPr id="26" name="index-1-label">
            <a:extLst xmlns:a="http://schemas.openxmlformats.org/drawingml/2006/main">
              <a:ext uri="{FF2B5EF4-FFF2-40B4-BE49-F238E27FC236}">
                <a16:creationId xmlns:a16="http://schemas.microsoft.com/office/drawing/2014/main" id="{3FADC91E-DE56-4374-9A46-325BF0D6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4099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b="0" noProof="1" lang="zh-CN" altLang="en-US" dirty="0" err="0"/>
          </a:p>
        </p:txBody>
      </p:sp>
      <p:cxnSp>
        <p:nvCxnSpPr>
          <p:cNvPr id="27" name="index-to-x-1">
            <a:extLst xmlns:a="http://schemas.openxmlformats.org/drawingml/2006/main">
              <a:ext uri="{FF2B5EF4-FFF2-40B4-BE49-F238E27FC236}">
                <a16:creationId xmlns:a16="http://schemas.microsoft.com/office/drawing/2014/main" id="{A453AA19-0663-4F00-B9AD-83A6B0A4A7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52950" y="38385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87F83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8" name="x-1">
            <a:extLst xmlns:a="http://schemas.openxmlformats.org/drawingml/2006/main">
              <a:ext uri="{FF2B5EF4-FFF2-40B4-BE49-F238E27FC236}">
                <a16:creationId xmlns:a16="http://schemas.microsoft.com/office/drawing/2014/main" id="{97879C57-6FD0-46A5-A3F5-28CC0523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1529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4288">
            <a:solidFill>
              <a:srgbClr val="087F83"/>
            </a:solidFill>
            <a:prstDash val="solid"/>
          </a:ln>
        </p:spPr>
      </p:sp>
      <p:sp>
        <p:nvSpPr>
          <p:cNvPr id="29" name="x-1-label">
            <a:extLst xmlns:a="http://schemas.openxmlformats.org/drawingml/2006/main">
              <a:ext uri="{FF2B5EF4-FFF2-40B4-BE49-F238E27FC236}">
                <a16:creationId xmlns:a16="http://schemas.microsoft.com/office/drawing/2014/main" id="{0D56FF76-9070-472C-9E88-DB6D36D6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162425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x[4]</a:t>
            </a:r>
            <a:endParaRPr b="0" noProof="1" lang="zh-CN" altLang="en-US" dirty="0" err="0"/>
          </a:p>
        </p:txBody>
      </p:sp>
      <p:sp>
        <p:nvSpPr>
          <p:cNvPr id="30" name="index-2">
            <a:extLst xmlns:a="http://schemas.openxmlformats.org/drawingml/2006/main">
              <a:ext uri="{FF2B5EF4-FFF2-40B4-BE49-F238E27FC236}">
                <a16:creationId xmlns:a16="http://schemas.microsoft.com/office/drawing/2014/main" id="{FDA3D644-EB64-4286-A86C-877184CA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400425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D7E2EA"/>
            </a:solidFill>
            <a:prstDash val="solid"/>
          </a:ln>
        </p:spPr>
      </p:sp>
      <p:sp>
        <p:nvSpPr>
          <p:cNvPr id="31" name="index-2-label">
            <a:extLst xmlns:a="http://schemas.openxmlformats.org/drawingml/2006/main">
              <a:ext uri="{FF2B5EF4-FFF2-40B4-BE49-F238E27FC236}">
                <a16:creationId xmlns:a16="http://schemas.microsoft.com/office/drawing/2014/main" id="{4CC466DD-746C-4C4D-9BE1-DC93F47A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4099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7</a:t>
            </a:r>
            <a:endParaRPr b="0" noProof="1" lang="zh-CN" altLang="en-US" dirty="0" err="0"/>
          </a:p>
        </p:txBody>
      </p:sp>
      <p:cxnSp>
        <p:nvCxnSpPr>
          <p:cNvPr id="32" name="index-to-x-2">
            <a:extLst xmlns:a="http://schemas.openxmlformats.org/drawingml/2006/main">
              <a:ext uri="{FF2B5EF4-FFF2-40B4-BE49-F238E27FC236}">
                <a16:creationId xmlns:a16="http://schemas.microsoft.com/office/drawing/2014/main" id="{5D6B37FE-B53A-451B-87A9-32813EA91CC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81700" y="38385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87F83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3" name="x-2">
            <a:extLst xmlns:a="http://schemas.openxmlformats.org/drawingml/2006/main">
              <a:ext uri="{FF2B5EF4-FFF2-40B4-BE49-F238E27FC236}">
                <a16:creationId xmlns:a16="http://schemas.microsoft.com/office/drawing/2014/main" id="{B602C79C-B20A-4898-92EE-49721FBE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1529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4288">
            <a:solidFill>
              <a:srgbClr val="087F83"/>
            </a:solidFill>
            <a:prstDash val="solid"/>
          </a:ln>
        </p:spPr>
      </p:sp>
      <p:sp>
        <p:nvSpPr>
          <p:cNvPr id="34" name="x-2-label">
            <a:extLst xmlns:a="http://schemas.openxmlformats.org/drawingml/2006/main">
              <a:ext uri="{FF2B5EF4-FFF2-40B4-BE49-F238E27FC236}">
                <a16:creationId xmlns:a16="http://schemas.microsoft.com/office/drawing/2014/main" id="{29F84B70-4CC2-415B-95A5-34F4BBB7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162425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x[7]</a:t>
            </a:r>
            <a:endParaRPr b="0" noProof="1" lang="zh-CN" altLang="en-US" dirty="0" err="0"/>
          </a:p>
        </p:txBody>
      </p:sp>
      <p:sp>
        <p:nvSpPr>
          <p:cNvPr id="35" name="row-equation">
            <a:extLst xmlns:a="http://schemas.openxmlformats.org/drawingml/2006/main">
              <a:ext uri="{FF2B5EF4-FFF2-40B4-BE49-F238E27FC236}">
                <a16:creationId xmlns:a16="http://schemas.microsoft.com/office/drawing/2014/main" id="{2BF81190-3E3F-4B2D-94FB-A9190090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6238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y[i] = 2 × x[1] + 5 × x[4] + 3 × x[7]</a:t>
            </a:r>
            <a:endParaRPr b="0" noProof="1" lang="zh-CN" altLang="en-US" dirty="0" err="0"/>
          </a:p>
        </p:txBody>
      </p:sp>
      <p:sp>
        <p:nvSpPr>
          <p:cNvPr id="36" name="parallel-title">
            <a:extLst xmlns:a="http://schemas.openxmlformats.org/drawingml/2006/main">
              <a:ext uri="{FF2B5EF4-FFF2-40B4-BE49-F238E27FC236}">
                <a16:creationId xmlns:a16="http://schemas.microsoft.com/office/drawing/2014/main" id="{E5BB53D0-25E8-48E9-96D4-416E18E9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009775"/>
            <a:ext cx="403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多行并行执行</a:t>
            </a:r>
            <a:endParaRPr b="0" noProof="1" lang="zh-CN" altLang="en-US" dirty="0" err="0"/>
          </a:p>
        </p:txBody>
      </p:sp>
      <p:sp>
        <p:nvSpPr>
          <p:cNvPr id="37" name="parallel-description">
            <a:extLst xmlns:a="http://schemas.openxmlformats.org/drawingml/2006/main">
              <a:ext uri="{FF2B5EF4-FFF2-40B4-BE49-F238E27FC236}">
                <a16:creationId xmlns:a16="http://schemas.microsoft.com/office/drawing/2014/main" id="{03E38863-6D7E-4D2C-B962-7FC9BEA8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76500"/>
            <a:ext cx="403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每行独立保存进度与累加结果</a:t>
            </a:r>
            <a:endParaRPr b="0" noProof="1" lang="zh-CN" altLang="en-US" dirty="0" err="0"/>
          </a:p>
        </p:txBody>
      </p:sp>
      <p:sp>
        <p:nvSpPr>
          <p:cNvPr id="38" name="row-context-0">
            <a:extLst xmlns:a="http://schemas.openxmlformats.org/drawingml/2006/main">
              <a:ext uri="{FF2B5EF4-FFF2-40B4-BE49-F238E27FC236}">
                <a16:creationId xmlns:a16="http://schemas.microsoft.com/office/drawing/2014/main" id="{EEC25B61-B254-4D05-92FF-ADE8047F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43225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39" name="row-context-0-label">
            <a:extLst xmlns:a="http://schemas.openxmlformats.org/drawingml/2006/main">
              <a:ext uri="{FF2B5EF4-FFF2-40B4-BE49-F238E27FC236}">
                <a16:creationId xmlns:a16="http://schemas.microsoft.com/office/drawing/2014/main" id="{AC26EE31-414B-45E6-9FEA-B4617B41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87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行 0</a:t>
            </a:r>
            <a:endParaRPr b="0" noProof="1" lang="zh-CN" altLang="en-US" dirty="0" err="0"/>
          </a:p>
        </p:txBody>
      </p:sp>
      <p:sp>
        <p:nvSpPr>
          <p:cNvPr id="40" name="row-context-1">
            <a:extLst xmlns:a="http://schemas.openxmlformats.org/drawingml/2006/main">
              <a:ext uri="{FF2B5EF4-FFF2-40B4-BE49-F238E27FC236}">
                <a16:creationId xmlns:a16="http://schemas.microsoft.com/office/drawing/2014/main" id="{9866B02D-8C0F-4BCD-BD6B-B63D0A45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943225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41" name="row-context-1-label">
            <a:extLst xmlns:a="http://schemas.openxmlformats.org/drawingml/2006/main">
              <a:ext uri="{FF2B5EF4-FFF2-40B4-BE49-F238E27FC236}">
                <a16:creationId xmlns:a16="http://schemas.microsoft.com/office/drawing/2014/main" id="{B3BFA9DA-20B6-42C3-B6F8-4F62DD09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87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行 1</a:t>
            </a:r>
            <a:endParaRPr b="0" noProof="1" lang="zh-CN" altLang="en-US" dirty="0" err="0"/>
          </a:p>
        </p:txBody>
      </p:sp>
      <p:sp>
        <p:nvSpPr>
          <p:cNvPr id="42" name="row-context-7">
            <a:extLst xmlns:a="http://schemas.openxmlformats.org/drawingml/2006/main">
              <a:ext uri="{FF2B5EF4-FFF2-40B4-BE49-F238E27FC236}">
                <a16:creationId xmlns:a16="http://schemas.microsoft.com/office/drawing/2014/main" id="{F326301C-1FB4-402D-B304-9C56BC01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943225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43" name="row-context-7-label">
            <a:extLst xmlns:a="http://schemas.openxmlformats.org/drawingml/2006/main">
              <a:ext uri="{FF2B5EF4-FFF2-40B4-BE49-F238E27FC236}">
                <a16:creationId xmlns:a16="http://schemas.microsoft.com/office/drawing/2014/main" id="{FEF2CC88-9106-46DA-8FE9-B3B14779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952750"/>
            <a:ext cx="87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行 7</a:t>
            </a:r>
            <a:endParaRPr b="0" noProof="1" lang="zh-CN" altLang="en-US" dirty="0" err="0"/>
          </a:p>
        </p:txBody>
      </p:sp>
      <p:sp>
        <p:nvSpPr>
          <p:cNvPr id="44" name="row-ellipsis">
            <a:extLst xmlns:a="http://schemas.openxmlformats.org/drawingml/2006/main">
              <a:ext uri="{FF2B5EF4-FFF2-40B4-BE49-F238E27FC236}">
                <a16:creationId xmlns:a16="http://schemas.microsoft.com/office/drawing/2014/main" id="{7240135F-DA28-40C0-BF32-F2B0C63C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943225"/>
            <a:ext cx="352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…</a:t>
            </a:r>
            <a:endParaRPr b="0" noProof="1" lang="zh-CN" altLang="en-US" dirty="0" err="0"/>
          </a:p>
        </p:txBody>
      </p:sp>
      <p:cxnSp>
        <p:nvCxnSpPr>
          <p:cNvPr id="45" name="row-bus-left">
            <a:extLst xmlns:a="http://schemas.openxmlformats.org/drawingml/2006/main">
              <a:ext uri="{FF2B5EF4-FFF2-40B4-BE49-F238E27FC236}">
                <a16:creationId xmlns:a16="http://schemas.microsoft.com/office/drawing/2014/main" id="{A0F0333C-D615-4A6F-A385-1270128D897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05775" y="349567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9FB7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46" name="row-bus-middle">
            <a:extLst xmlns:a="http://schemas.openxmlformats.org/drawingml/2006/main">
              <a:ext uri="{FF2B5EF4-FFF2-40B4-BE49-F238E27FC236}">
                <a16:creationId xmlns:a16="http://schemas.microsoft.com/office/drawing/2014/main" id="{8FC3BA88-B0A0-402E-95A1-B976A400E96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58325" y="349567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9FB7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47" name="row-bus-right">
            <a:extLst xmlns:a="http://schemas.openxmlformats.org/drawingml/2006/main">
              <a:ext uri="{FF2B5EF4-FFF2-40B4-BE49-F238E27FC236}">
                <a16:creationId xmlns:a16="http://schemas.microsoft.com/office/drawing/2014/main" id="{660D83F8-0EF5-48D5-AF2F-F0B471EEAD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096625" y="349567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9FB7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48" name="row-bus">
            <a:extLst xmlns:a="http://schemas.openxmlformats.org/drawingml/2006/main">
              <a:ext uri="{FF2B5EF4-FFF2-40B4-BE49-F238E27FC236}">
                <a16:creationId xmlns:a16="http://schemas.microsoft.com/office/drawing/2014/main" id="{F5B4AB5F-46C5-4125-B322-9EF904C4C0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05775" y="3752850"/>
            <a:ext cx="2990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9FB7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49" name="row-bus-down">
            <a:extLst xmlns:a="http://schemas.openxmlformats.org/drawingml/2006/main">
              <a:ext uri="{FF2B5EF4-FFF2-40B4-BE49-F238E27FC236}">
                <a16:creationId xmlns:a16="http://schemas.microsoft.com/office/drawing/2014/main" id="{D1E142C7-D596-4CDC-9BA1-69E3A98294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01200" y="37528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9FB7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50" name="round-robin-label">
            <a:extLst xmlns:a="http://schemas.openxmlformats.org/drawingml/2006/main">
              <a:ext uri="{FF2B5EF4-FFF2-40B4-BE49-F238E27FC236}">
                <a16:creationId xmlns:a16="http://schemas.microsoft.com/office/drawing/2014/main" id="{466A174A-F6C6-426A-84F7-D33299EB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71900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轮询发请求</a:t>
            </a:r>
            <a:endParaRPr b="0" noProof="1" lang="zh-CN" altLang="en-US" dirty="0" err="0"/>
          </a:p>
        </p:txBody>
      </p:sp>
      <p:sp>
        <p:nvSpPr>
          <p:cNvPr id="51" name="shared-port">
            <a:extLst xmlns:a="http://schemas.openxmlformats.org/drawingml/2006/main">
              <a:ext uri="{FF2B5EF4-FFF2-40B4-BE49-F238E27FC236}">
                <a16:creationId xmlns:a16="http://schemas.microsoft.com/office/drawing/2014/main" id="{B4FD83A3-6826-4FC2-9414-E3B01E1A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105275"/>
            <a:ext cx="4019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4288">
            <a:solidFill>
              <a:srgbClr val="087F83"/>
            </a:solidFill>
            <a:prstDash val="solid"/>
          </a:ln>
        </p:spPr>
      </p:sp>
      <p:sp>
        <p:nvSpPr>
          <p:cNvPr id="52" name="shared-port-label">
            <a:extLst xmlns:a="http://schemas.openxmlformats.org/drawingml/2006/main">
              <a:ext uri="{FF2B5EF4-FFF2-40B4-BE49-F238E27FC236}">
                <a16:creationId xmlns:a16="http://schemas.microsoft.com/office/drawing/2014/main" id="{97308679-3B3D-4ABD-AD3D-1170AECF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14800"/>
            <a:ext cx="3867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HPDcache 共享请求口</a:t>
            </a:r>
            <a:endParaRPr b="0" noProof="1" lang="zh-CN" altLang="en-US" dirty="0" err="0"/>
          </a:p>
        </p:txBody>
      </p:sp>
      <p:sp>
        <p:nvSpPr>
          <p:cNvPr id="53" name="concurrency-caption">
            <a:extLst xmlns:a="http://schemas.openxmlformats.org/drawingml/2006/main">
              <a:ext uri="{FF2B5EF4-FFF2-40B4-BE49-F238E27FC236}">
                <a16:creationId xmlns:a16="http://schemas.microsoft.com/office/drawing/2014/main" id="{9C5AF99E-76A9-438D-BE0D-FA99A44D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81550"/>
            <a:ext cx="403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某行等待时，其他就绪行仍可推进</a:t>
            </a:r>
            <a:endParaRPr b="0" noProof="1" lang="zh-CN" altLang="en-US" dirty="0" err="0"/>
          </a:p>
        </p:txBody>
      </p:sp>
      <p:sp>
        <p:nvSpPr>
          <p:cNvPr id="54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398B4DFE-3E36-46E1-894D-86318CBC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locality-takeaway">
            <a:extLst xmlns:a="http://schemas.openxmlformats.org/drawingml/2006/main">
              <a:ext uri="{FF2B5EF4-FFF2-40B4-BE49-F238E27FC236}">
                <a16:creationId xmlns:a16="http://schemas.microsoft.com/office/drawing/2014/main" id="{44BB2C0B-DC72-4ECB-BBB8-50817605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102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相近或重复的列索引可能带来 x 的局部复用，程度取决于矩阵。</a:t>
            </a:r>
            <a:endParaRPr b="0" noProof="1" lang="zh-CN" altLang="en-US" dirty="0" err="0"/>
          </a:p>
        </p:txBody>
      </p:sp>
      <p:sp>
        <p:nvSpPr>
          <p:cNvPr id="56" name="opportunity-takeaway">
            <a:extLst xmlns:a="http://schemas.openxmlformats.org/drawingml/2006/main">
              <a:ext uri="{FF2B5EF4-FFF2-40B4-BE49-F238E27FC236}">
                <a16:creationId xmlns:a16="http://schemas.microsoft.com/office/drawing/2014/main" id="{028A41C7-594E-4135-8950-B7784939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1102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优化机会：减少控制器内的额外等待，让行间并发转化为有效吞吐。</a:t>
            </a:r>
            <a:endParaRPr b="0" noProof="1" lang="zh-CN" altLang="en-US" dirty="0" err="0"/>
          </a:p>
        </p:txBody>
      </p:sp>
    </p:spTree>
    <p:extLst>
      <p:ext uri="{BB962C8B-B14F-4D97-AF65-F5344CB8AC3E}">
        <p14:creationId xmlns:p14="http://schemas.microsoft.com/office/powerpoint/2010/main" val="2001957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itle">
            <a:extLst xmlns:a="http://schemas.openxmlformats.org/drawingml/2006/main">
              <a:ext uri="{FF2B5EF4-FFF2-40B4-BE49-F238E27FC236}">
                <a16:creationId xmlns:a16="http://schemas.microsoft.com/office/drawing/2014/main" id="{6DC0FFC9-92D3-4995-9932-5CCF118E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HPDcache 架构与瓶颈位置</a:t>
            </a:r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2B434E-0C5F-4F83-9220-23C01103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支持多个未完成 miss，仍可能在发送、回填授权与阵列调度处等待</a:t>
            </a:r>
            <a:endParaRPr b="0" noProof="1" lang="zh-CN" altLang="en-US" dirty="0" err="0"/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04D9818-A6DF-4D7E-B1A3-A26D8922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440D6E2-B43F-499D-8ABD-B40D4A83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1ED232B-64ED-47AA-A981-02A7C21E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基线读通路示意（省略写缓冲等独立路径）   ·   MSHR 8 项 / RTAB 4 项</a:t>
            </a:r>
            <a:endParaRPr b="0" noProof="1" lang="zh-CN" altLang="en-US" dirty="0" err="0"/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24174F-89F4-4B63-B885-C62CA127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2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b="0" noProof="1" lang="zh-CN" altLang="en-US" dirty="0" err="0"/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514F291B-4C69-463A-A72B-7BB92F72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57400"/>
            <a:ext cx="1333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mv-request">
            <a:extLst xmlns:a="http://schemas.openxmlformats.org/drawingml/2006/main">
              <a:ext uri="{FF2B5EF4-FFF2-40B4-BE49-F238E27FC236}">
                <a16:creationId xmlns:a16="http://schemas.microsoft.com/office/drawing/2014/main" id="{205B71C9-1073-4A08-A974-D7CC470F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2571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9" name="spmv-request-label">
            <a:extLst xmlns:a="http://schemas.openxmlformats.org/drawingml/2006/main">
              <a:ext uri="{FF2B5EF4-FFF2-40B4-BE49-F238E27FC236}">
                <a16:creationId xmlns:a16="http://schemas.microsoft.com/office/drawing/2014/main" id="{121FE0C1-BC5C-4A0F-A7EE-A5A77856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2419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多行 SpMV 请求</a:t>
            </a:r>
            <a:endParaRPr b="0" noProof="1" lang="zh-CN" altLang="en-US" dirty="0" err="0"/>
          </a:p>
        </p:txBody>
      </p:sp>
      <p:sp>
        <p:nvSpPr>
          <p:cNvPr id="10" name="rtab">
            <a:extLst xmlns:a="http://schemas.openxmlformats.org/drawingml/2006/main">
              <a:ext uri="{FF2B5EF4-FFF2-40B4-BE49-F238E27FC236}">
                <a16:creationId xmlns:a16="http://schemas.microsoft.com/office/drawing/2014/main" id="{5C6C7880-EF82-4EEA-BB8B-F6F9C70B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57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11" name="rtab-label">
            <a:extLst xmlns:a="http://schemas.openxmlformats.org/drawingml/2006/main">
              <a:ext uri="{FF2B5EF4-FFF2-40B4-BE49-F238E27FC236}">
                <a16:creationId xmlns:a16="http://schemas.microsoft.com/office/drawing/2014/main" id="{7D085689-ABE3-4ADC-9105-3E03DA41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764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RTAB</a:t>
            </a:r>
            <a:endParaRPr b="0" noProof="1" lang="zh-CN" altLang="en-US" dirty="0" err="0"/>
          </a:p>
        </p:txBody>
      </p:sp>
      <p:sp>
        <p:nvSpPr>
          <p:cNvPr id="12" name="rtab-purpose">
            <a:extLst xmlns:a="http://schemas.openxmlformats.org/drawingml/2006/main">
              <a:ext uri="{FF2B5EF4-FFF2-40B4-BE49-F238E27FC236}">
                <a16:creationId xmlns:a16="http://schemas.microsoft.com/office/drawing/2014/main" id="{68B69CC5-074E-456E-8D6E-16B43561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3362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等待与重放</a:t>
            </a:r>
            <a:endParaRPr b="0" noProof="1" lang="zh-CN" altLang="en-US" dirty="0" err="0"/>
          </a:p>
        </p:txBody>
      </p:sp>
      <p:sp>
        <p:nvSpPr>
          <p:cNvPr id="13" name="controller">
            <a:extLst xmlns:a="http://schemas.openxmlformats.org/drawingml/2006/main">
              <a:ext uri="{FF2B5EF4-FFF2-40B4-BE49-F238E27FC236}">
                <a16:creationId xmlns:a16="http://schemas.microsoft.com/office/drawing/2014/main" id="{A0A149C7-D3F6-4A80-8BDF-8256EFAF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3048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14" name="controller-label">
            <a:extLst xmlns:a="http://schemas.openxmlformats.org/drawingml/2006/main">
              <a:ext uri="{FF2B5EF4-FFF2-40B4-BE49-F238E27FC236}">
                <a16:creationId xmlns:a16="http://schemas.microsoft.com/office/drawing/2014/main" id="{E78F6FCA-F6E0-496C-807B-267D2988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895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Cache Controller</a:t>
            </a:r>
            <a:endParaRPr b="0" noProof="1" lang="zh-CN" altLang="en-US" dirty="0" err="0"/>
          </a:p>
        </p:txBody>
      </p:sp>
      <p:sp>
        <p:nvSpPr>
          <p:cNvPr id="15" name="pipeline-label">
            <a:extLst xmlns:a="http://schemas.openxmlformats.org/drawingml/2006/main">
              <a:ext uri="{FF2B5EF4-FFF2-40B4-BE49-F238E27FC236}">
                <a16:creationId xmlns:a16="http://schemas.microsoft.com/office/drawing/2014/main" id="{ADDCF366-E2F5-4BB4-B36F-F1E0A815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2895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6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S0 / S1 / S2</a:t>
            </a:r>
            <a:endParaRPr b="0" noProof="1" lang="zh-CN" altLang="en-US" dirty="0" err="0"/>
          </a:p>
        </p:txBody>
      </p:sp>
      <p:cxnSp>
        <p:nvCxnSpPr>
          <p:cNvPr id="16" name="request-input">
            <a:extLst xmlns:a="http://schemas.openxmlformats.org/drawingml/2006/main">
              <a:ext uri="{FF2B5EF4-FFF2-40B4-BE49-F238E27FC236}">
                <a16:creationId xmlns:a16="http://schemas.microsoft.com/office/drawing/2014/main" id="{76D2B95D-B98B-42F3-948F-CC5640C7A8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57375" y="2543175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B9FB7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17" name="rtab-retry-0">
            <a:extLst xmlns:a="http://schemas.openxmlformats.org/drawingml/2006/main">
              <a:ext uri="{FF2B5EF4-FFF2-40B4-BE49-F238E27FC236}">
                <a16:creationId xmlns:a16="http://schemas.microsoft.com/office/drawing/2014/main" id="{B3CCD8E2-FBE5-4D68-AC7C-B26A29B7A01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067050" y="28194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A6C7D"/>
            </a:solidFill>
            <a:prstDash val="solid"/>
            <a:headEnd type="triangle" w="sm" len="sm"/>
            <a:tailEnd type="none" w="sm" len="sm"/>
          </a:ln>
        </p:spPr>
      </p:cxnSp>
      <p:cxnSp>
        <p:nvCxnSpPr>
          <p:cNvPr id="18" name="rtab-retry-1">
            <a:extLst xmlns:a="http://schemas.openxmlformats.org/drawingml/2006/main">
              <a:ext uri="{FF2B5EF4-FFF2-40B4-BE49-F238E27FC236}">
                <a16:creationId xmlns:a16="http://schemas.microsoft.com/office/drawing/2014/main" id="{8EDD87DF-7B1A-4201-81FB-34EE16ADCB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67050" y="2819400"/>
            <a:ext cx="18288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A6C7D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19" name="rtab-retry-2">
            <a:extLst xmlns:a="http://schemas.openxmlformats.org/drawingml/2006/main">
              <a:ext uri="{FF2B5EF4-FFF2-40B4-BE49-F238E27FC236}">
                <a16:creationId xmlns:a16="http://schemas.microsoft.com/office/drawing/2014/main" id="{99865505-B30D-4698-B88E-1733432E870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895850" y="26479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A6C7D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0" name="array-title">
            <a:extLst xmlns:a="http://schemas.openxmlformats.org/drawingml/2006/main">
              <a:ext uri="{FF2B5EF4-FFF2-40B4-BE49-F238E27FC236}">
                <a16:creationId xmlns:a16="http://schemas.microsoft.com/office/drawing/2014/main" id="{4D797B11-A8F9-42D0-8BCF-A7853A9D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574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③  Cache RAM</a:t>
            </a:r>
            <a:endParaRPr b="0" noProof="1" lang="zh-CN" altLang="en-US" dirty="0" err="0"/>
          </a:p>
        </p:txBody>
      </p:sp>
      <p:sp>
        <p:nvSpPr>
          <p:cNvPr id="21" name="tag-array">
            <a:extLst xmlns:a="http://schemas.openxmlformats.org/drawingml/2006/main">
              <a:ext uri="{FF2B5EF4-FFF2-40B4-BE49-F238E27FC236}">
                <a16:creationId xmlns:a16="http://schemas.microsoft.com/office/drawing/2014/main" id="{94C4F221-5557-49BF-9185-8D68A511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194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22" name="tag-array-label">
            <a:extLst xmlns:a="http://schemas.openxmlformats.org/drawingml/2006/main">
              <a:ext uri="{FF2B5EF4-FFF2-40B4-BE49-F238E27FC236}">
                <a16:creationId xmlns:a16="http://schemas.microsoft.com/office/drawing/2014/main" id="{88E0D897-63C3-4E45-A6D0-63D13807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Tag 阵列</a:t>
            </a:r>
            <a:endParaRPr b="0" noProof="1" lang="zh-CN" altLang="en-US" dirty="0" err="0"/>
          </a:p>
        </p:txBody>
      </p:sp>
      <p:sp>
        <p:nvSpPr>
          <p:cNvPr id="23" name="data-array">
            <a:extLst xmlns:a="http://schemas.openxmlformats.org/drawingml/2006/main">
              <a:ext uri="{FF2B5EF4-FFF2-40B4-BE49-F238E27FC236}">
                <a16:creationId xmlns:a16="http://schemas.microsoft.com/office/drawing/2014/main" id="{0871F5FD-B33B-47FA-8336-3F0F8CA5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24" name="data-array-label">
            <a:extLst xmlns:a="http://schemas.openxmlformats.org/drawingml/2006/main">
              <a:ext uri="{FF2B5EF4-FFF2-40B4-BE49-F238E27FC236}">
                <a16:creationId xmlns:a16="http://schemas.microsoft.com/office/drawing/2014/main" id="{4618BD9C-0A03-49F4-813A-3205E721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Data 阵列</a:t>
            </a:r>
            <a:endParaRPr b="0" noProof="1" lang="zh-CN" altLang="en-US" dirty="0" err="0"/>
          </a:p>
        </p:txBody>
      </p:sp>
      <p:cxnSp>
        <p:nvCxnSpPr>
          <p:cNvPr id="25" name="lookup-array">
            <a:extLst xmlns:a="http://schemas.openxmlformats.org/drawingml/2006/main">
              <a:ext uri="{FF2B5EF4-FFF2-40B4-BE49-F238E27FC236}">
                <a16:creationId xmlns:a16="http://schemas.microsoft.com/office/drawing/2014/main" id="{B71E7C8F-EFA4-4196-9BC9-22F5ECD3C0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19500" y="34766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B9FB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26" name="lookup-label">
            <a:extLst xmlns:a="http://schemas.openxmlformats.org/drawingml/2006/main">
              <a:ext uri="{FF2B5EF4-FFF2-40B4-BE49-F238E27FC236}">
                <a16:creationId xmlns:a16="http://schemas.microsoft.com/office/drawing/2014/main" id="{E618E0B3-4979-4A86-AA29-E72CD76B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33725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查询 / 读写</a:t>
            </a:r>
            <a:endParaRPr b="0" noProof="1" lang="zh-CN" altLang="en-US" dirty="0" err="0"/>
          </a:p>
        </p:txBody>
      </p:sp>
      <p:sp>
        <p:nvSpPr>
          <p:cNvPr id="27" name="miss-handler">
            <a:extLst xmlns:a="http://schemas.openxmlformats.org/drawingml/2006/main">
              <a:ext uri="{FF2B5EF4-FFF2-40B4-BE49-F238E27FC236}">
                <a16:creationId xmlns:a16="http://schemas.microsoft.com/office/drawing/2014/main" id="{67FA254A-8EB2-432D-8527-66E39734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716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E2EA"/>
            </a:solidFill>
            <a:prstDash val="solid"/>
          </a:ln>
        </p:spPr>
      </p:sp>
      <p:sp>
        <p:nvSpPr>
          <p:cNvPr id="28" name="mshr-purpose">
            <a:extLst xmlns:a="http://schemas.openxmlformats.org/drawingml/2006/main">
              <a:ext uri="{FF2B5EF4-FFF2-40B4-BE49-F238E27FC236}">
                <a16:creationId xmlns:a16="http://schemas.microsoft.com/office/drawing/2014/main" id="{4298E873-9C87-49F7-8794-D79BEC8E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MSHR：跟踪未完成 miss</a:t>
            </a:r>
            <a:endParaRPr b="0" noProof="1" lang="zh-CN" altLang="en-US" dirty="0" err="0"/>
          </a:p>
        </p:txBody>
      </p:sp>
      <p:sp>
        <p:nvSpPr>
          <p:cNvPr id="29" name="miss-handler-label">
            <a:extLst xmlns:a="http://schemas.openxmlformats.org/drawingml/2006/main">
              <a:ext uri="{FF2B5EF4-FFF2-40B4-BE49-F238E27FC236}">
                <a16:creationId xmlns:a16="http://schemas.microsoft.com/office/drawing/2014/main" id="{B72C494C-FC01-4FBB-8630-62D87980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3910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Miss Handler</a:t>
            </a:r>
            <a:endParaRPr b="0" noProof="1" lang="zh-CN" altLang="en-US" dirty="0" err="0"/>
          </a:p>
        </p:txBody>
      </p:sp>
      <p:sp>
        <p:nvSpPr>
          <p:cNvPr id="30" name="send-fsm">
            <a:extLst xmlns:a="http://schemas.openxmlformats.org/drawingml/2006/main">
              <a:ext uri="{FF2B5EF4-FFF2-40B4-BE49-F238E27FC236}">
                <a16:creationId xmlns:a16="http://schemas.microsoft.com/office/drawing/2014/main" id="{F710D832-8F20-4828-B2AC-6096E837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31" name="send-fsm-label">
            <a:extLst xmlns:a="http://schemas.openxmlformats.org/drawingml/2006/main">
              <a:ext uri="{FF2B5EF4-FFF2-40B4-BE49-F238E27FC236}">
                <a16:creationId xmlns:a16="http://schemas.microsoft.com/office/drawing/2014/main" id="{111191CB-C700-4582-9128-14675FA4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2562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①  请求发送 FSM</a:t>
            </a:r>
            <a:endParaRPr b="0" noProof="1" lang="zh-CN" altLang="en-US" dirty="0" err="0"/>
          </a:p>
        </p:txBody>
      </p:sp>
      <p:sp>
        <p:nvSpPr>
          <p:cNvPr id="32" name="refill-fsm">
            <a:extLst xmlns:a="http://schemas.openxmlformats.org/drawingml/2006/main">
              <a:ext uri="{FF2B5EF4-FFF2-40B4-BE49-F238E27FC236}">
                <a16:creationId xmlns:a16="http://schemas.microsoft.com/office/drawing/2014/main" id="{CEB57ED0-0B07-45AF-81E3-714191BF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38700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4288">
            <a:solidFill>
              <a:srgbClr val="087F83"/>
            </a:solidFill>
            <a:prstDash val="solid"/>
          </a:ln>
        </p:spPr>
      </p:sp>
      <p:sp>
        <p:nvSpPr>
          <p:cNvPr id="33" name="refill-fsm-label">
            <a:extLst xmlns:a="http://schemas.openxmlformats.org/drawingml/2006/main">
              <a:ext uri="{FF2B5EF4-FFF2-40B4-BE49-F238E27FC236}">
                <a16:creationId xmlns:a16="http://schemas.microsoft.com/office/drawing/2014/main" id="{274BC23B-3B19-4CDD-89DB-25E32E23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48225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7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返回缓冲 / refill FSM</a:t>
            </a:r>
            <a:endParaRPr b="0" noProof="1" lang="zh-CN" altLang="en-US" dirty="0" err="0"/>
          </a:p>
        </p:txBody>
      </p:sp>
      <p:cxnSp>
        <p:nvCxnSpPr>
          <p:cNvPr id="34" name="miss-alloc">
            <a:extLst xmlns:a="http://schemas.openxmlformats.org/drawingml/2006/main">
              <a:ext uri="{FF2B5EF4-FFF2-40B4-BE49-F238E27FC236}">
                <a16:creationId xmlns:a16="http://schemas.microsoft.com/office/drawing/2014/main" id="{69073133-3E88-41B2-98CE-2F38297770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0250" y="382905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B9FB7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5" name="miss-label">
            <a:extLst xmlns:a="http://schemas.openxmlformats.org/drawingml/2006/main">
              <a:ext uri="{FF2B5EF4-FFF2-40B4-BE49-F238E27FC236}">
                <a16:creationId xmlns:a16="http://schemas.microsoft.com/office/drawing/2014/main" id="{C5C9DD5C-A14D-4525-95DC-796D318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miss 分配</a:t>
            </a:r>
            <a:endParaRPr b="0" noProof="1" lang="zh-CN" altLang="en-US" dirty="0" err="0"/>
          </a:p>
        </p:txBody>
      </p:sp>
      <p:cxnSp>
        <p:nvCxnSpPr>
          <p:cNvPr id="36" name="refill-grant-0">
            <a:extLst xmlns:a="http://schemas.openxmlformats.org/drawingml/2006/main">
              <a:ext uri="{FF2B5EF4-FFF2-40B4-BE49-F238E27FC236}">
                <a16:creationId xmlns:a16="http://schemas.microsoft.com/office/drawing/2014/main" id="{A8583F59-B278-4385-AE3A-AF581E781CD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3750" y="38290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66A27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37" name="refill-grant-1">
            <a:extLst xmlns:a="http://schemas.openxmlformats.org/drawingml/2006/main">
              <a:ext uri="{FF2B5EF4-FFF2-40B4-BE49-F238E27FC236}">
                <a16:creationId xmlns:a16="http://schemas.microsoft.com/office/drawing/2014/main" id="{D67FB721-5B36-4C58-96D7-5EC1ACB1BE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3750" y="412432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66A27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38" name="refill-grant-2">
            <a:extLst xmlns:a="http://schemas.openxmlformats.org/drawingml/2006/main">
              <a:ext uri="{FF2B5EF4-FFF2-40B4-BE49-F238E27FC236}">
                <a16:creationId xmlns:a16="http://schemas.microsoft.com/office/drawing/2014/main" id="{9755CDB5-6EFB-44F6-A070-5265E781C6E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19750" y="41243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66A27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9" name="refill-grant-label">
            <a:extLst xmlns:a="http://schemas.openxmlformats.org/drawingml/2006/main">
              <a:ext uri="{FF2B5EF4-FFF2-40B4-BE49-F238E27FC236}">
                <a16:creationId xmlns:a16="http://schemas.microsoft.com/office/drawing/2014/main" id="{CCB8D3AD-2503-4F11-A366-CD1B6207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829050"/>
            <a:ext cx="1743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②  回填授权</a:t>
            </a:r>
            <a:endParaRPr b="0" noProof="1" lang="zh-CN" altLang="en-US" dirty="0" err="0"/>
          </a:p>
        </p:txBody>
      </p:sp>
      <p:cxnSp>
        <p:nvCxnSpPr>
          <p:cNvPr id="40" name="refill-install">
            <a:extLst xmlns:a="http://schemas.openxmlformats.org/drawingml/2006/main">
              <a:ext uri="{FF2B5EF4-FFF2-40B4-BE49-F238E27FC236}">
                <a16:creationId xmlns:a16="http://schemas.microsoft.com/office/drawing/2014/main" id="{472B2C8B-6F2B-4B87-81AB-97BB0108BC6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953250" y="3952875"/>
            <a:ext cx="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3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41" name="install-label">
            <a:extLst xmlns:a="http://schemas.openxmlformats.org/drawingml/2006/main">
              <a:ext uri="{FF2B5EF4-FFF2-40B4-BE49-F238E27FC236}">
                <a16:creationId xmlns:a16="http://schemas.microsoft.com/office/drawing/2014/main" id="{005FFE14-25E8-4ED5-B8D6-4188837B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33850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写入</a:t>
            </a:r>
            <a:endParaRPr b="0" noProof="1" lang="zh-CN" altLang="en-US" dirty="0" err="0"/>
          </a:p>
        </p:txBody>
      </p:sp>
      <p:sp>
        <p:nvSpPr>
          <p:cNvPr id="42" name="next-memory">
            <a:extLst xmlns:a="http://schemas.openxmlformats.org/drawingml/2006/main">
              <a:ext uri="{FF2B5EF4-FFF2-40B4-BE49-F238E27FC236}">
                <a16:creationId xmlns:a16="http://schemas.microsoft.com/office/drawing/2014/main" id="{5BD723DF-5733-4AAA-AD3A-9BE70952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67532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43" name="next-memory-label">
            <a:extLst xmlns:a="http://schemas.openxmlformats.org/drawingml/2006/main">
              <a:ext uri="{FF2B5EF4-FFF2-40B4-BE49-F238E27FC236}">
                <a16:creationId xmlns:a16="http://schemas.microsoft.com/office/drawing/2014/main" id="{95D8919B-E42D-4E10-A1A0-01F8B36B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6600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7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下一级存储接口</a:t>
            </a:r>
            <a:endParaRPr b="0" noProof="1" lang="zh-CN" altLang="en-US" dirty="0" err="0"/>
          </a:p>
        </p:txBody>
      </p:sp>
      <p:cxnSp>
        <p:nvCxnSpPr>
          <p:cNvPr id="44" name="memory-request">
            <a:extLst xmlns:a="http://schemas.openxmlformats.org/drawingml/2006/main">
              <a:ext uri="{FF2B5EF4-FFF2-40B4-BE49-F238E27FC236}">
                <a16:creationId xmlns:a16="http://schemas.microsoft.com/office/drawing/2014/main" id="{65E90E7F-04C9-4A59-B439-930CA189FE7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14550" y="523875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B9FB7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45" name="memory-request-label">
            <a:extLst xmlns:a="http://schemas.openxmlformats.org/drawingml/2006/main">
              <a:ext uri="{FF2B5EF4-FFF2-40B4-BE49-F238E27FC236}">
                <a16:creationId xmlns:a16="http://schemas.microsoft.com/office/drawing/2014/main" id="{A02CED30-1C5C-4C07-849C-9832358E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62575"/>
            <a:ext cx="942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4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读请求</a:t>
            </a:r>
            <a:endParaRPr b="0" noProof="1" lang="zh-CN" altLang="en-US" dirty="0" err="0"/>
          </a:p>
        </p:txBody>
      </p:sp>
      <p:cxnSp>
        <p:nvCxnSpPr>
          <p:cNvPr id="46" name="memory-response">
            <a:extLst xmlns:a="http://schemas.openxmlformats.org/drawingml/2006/main">
              <a:ext uri="{FF2B5EF4-FFF2-40B4-BE49-F238E27FC236}">
                <a16:creationId xmlns:a16="http://schemas.microsoft.com/office/drawing/2014/main" id="{3AB4F6A1-7EF0-450A-A2D6-916B521042F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019800" y="52578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F83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47" name="memory-response-label">
            <a:extLst xmlns:a="http://schemas.openxmlformats.org/drawingml/2006/main">
              <a:ext uri="{FF2B5EF4-FFF2-40B4-BE49-F238E27FC236}">
                <a16:creationId xmlns:a16="http://schemas.microsoft.com/office/drawing/2014/main" id="{B8A4A482-C79C-4306-AE5F-ECB25A35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62575"/>
            <a:ext cx="1057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返回数据</a:t>
            </a:r>
            <a:endParaRPr b="0" noProof="1" lang="zh-CN" altLang="en-US" dirty="0" err="0"/>
          </a:p>
        </p:txBody>
      </p:sp>
      <p:sp>
        <p:nvSpPr>
          <p:cNvPr id="48" name="issue-title">
            <a:extLst xmlns:a="http://schemas.openxmlformats.org/drawingml/2006/main">
              <a:ext uri="{FF2B5EF4-FFF2-40B4-BE49-F238E27FC236}">
                <a16:creationId xmlns:a16="http://schemas.microsoft.com/office/drawing/2014/main" id="{DC613356-D5D4-4992-8187-1C6B0248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85975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①  发送受阻</a:t>
            </a:r>
            <a:endParaRPr b="0" noProof="1" lang="zh-CN" altLang="en-US" dirty="0" err="0"/>
          </a:p>
        </p:txBody>
      </p:sp>
      <p:sp>
        <p:nvSpPr>
          <p:cNvPr id="49" name="issue-line1">
            <a:extLst xmlns:a="http://schemas.openxmlformats.org/drawingml/2006/main">
              <a:ext uri="{FF2B5EF4-FFF2-40B4-BE49-F238E27FC236}">
                <a16:creationId xmlns:a16="http://schemas.microsoft.com/office/drawing/2014/main" id="{A6C2348A-68F1-4C4B-86AB-C4E83BC8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发送未握手时，</a:t>
            </a:r>
            <a:endParaRPr b="0" noProof="1" lang="zh-CN" altLang="en-US" dirty="0" err="0"/>
          </a:p>
        </p:txBody>
      </p:sp>
      <p:sp>
        <p:nvSpPr>
          <p:cNvPr id="50" name="issue-line2">
            <a:extLst xmlns:a="http://schemas.openxmlformats.org/drawingml/2006/main">
              <a:ext uri="{FF2B5EF4-FFF2-40B4-BE49-F238E27FC236}">
                <a16:creationId xmlns:a16="http://schemas.microsoft.com/office/drawing/2014/main" id="{952985F5-7B0A-46F3-828C-8977A570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新 miss 准入受限</a:t>
            </a:r>
            <a:endParaRPr b="0" noProof="1" lang="zh-CN" altLang="en-US" dirty="0" err="0"/>
          </a:p>
        </p:txBody>
      </p:sp>
      <p:sp>
        <p:nvSpPr>
          <p:cNvPr id="51" name="grant-title">
            <a:extLst xmlns:a="http://schemas.openxmlformats.org/drawingml/2006/main">
              <a:ext uri="{FF2B5EF4-FFF2-40B4-BE49-F238E27FC236}">
                <a16:creationId xmlns:a16="http://schemas.microsoft.com/office/drawing/2014/main" id="{5DF360D2-1630-423D-A795-DAA01710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②  回填授权等待</a:t>
            </a:r>
            <a:endParaRPr b="0" noProof="1" lang="zh-CN" altLang="en-US" dirty="0" err="0"/>
          </a:p>
        </p:txBody>
      </p:sp>
      <p:sp>
        <p:nvSpPr>
          <p:cNvPr id="52" name="grant-line1">
            <a:extLst xmlns:a="http://schemas.openxmlformats.org/drawingml/2006/main">
              <a:ext uri="{FF2B5EF4-FFF2-40B4-BE49-F238E27FC236}">
                <a16:creationId xmlns:a16="http://schemas.microsoft.com/office/drawing/2014/main" id="{E4FB3C7F-BE66-49F4-BAFA-06DCE169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7192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S1 的 load hit 可完成，</a:t>
            </a:r>
            <a:endParaRPr b="0" noProof="1" lang="zh-CN" altLang="en-US" dirty="0" err="0"/>
          </a:p>
        </p:txBody>
      </p:sp>
      <p:sp>
        <p:nvSpPr>
          <p:cNvPr id="53" name="grant-line2">
            <a:extLst xmlns:a="http://schemas.openxmlformats.org/drawingml/2006/main">
              <a:ext uri="{FF2B5EF4-FFF2-40B4-BE49-F238E27FC236}">
                <a16:creationId xmlns:a16="http://schemas.microsoft.com/office/drawing/2014/main" id="{0B831F43-DF7A-45C8-A75E-65417450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1482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refill 仍等待 S1 空闲</a:t>
            </a:r>
            <a:endParaRPr b="0" noProof="1" lang="zh-CN" altLang="en-US" dirty="0" err="0"/>
          </a:p>
        </p:txBody>
      </p:sp>
      <p:sp>
        <p:nvSpPr>
          <p:cNvPr id="54" name="array-conflict-title">
            <a:extLst xmlns:a="http://schemas.openxmlformats.org/drawingml/2006/main">
              <a:ext uri="{FF2B5EF4-FFF2-40B4-BE49-F238E27FC236}">
                <a16:creationId xmlns:a16="http://schemas.microsoft.com/office/drawing/2014/main" id="{2AB360F7-6411-4714-B44B-C776826C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768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③  阵列调度空档</a:t>
            </a:r>
            <a:endParaRPr b="0" noProof="1" lang="zh-CN" altLang="en-US" dirty="0" err="0"/>
          </a:p>
        </p:txBody>
      </p:sp>
      <p:sp>
        <p:nvSpPr>
          <p:cNvPr id="55" name="array-conflict-line1">
            <a:extLst xmlns:a="http://schemas.openxmlformats.org/drawingml/2006/main">
              <a:ext uri="{FF2B5EF4-FFF2-40B4-BE49-F238E27FC236}">
                <a16:creationId xmlns:a16="http://schemas.microsoft.com/office/drawing/2014/main" id="{AF3B26C3-AC1C-4886-8988-45AC00DF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625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回填分拍写 Data / Tag，</a:t>
            </a:r>
            <a:endParaRPr b="0" noProof="1" lang="zh-CN" altLang="en-US" dirty="0" err="0"/>
          </a:p>
        </p:txBody>
      </p:sp>
      <p:sp>
        <p:nvSpPr>
          <p:cNvPr id="56" name="array-conflict-line2">
            <a:extLst xmlns:a="http://schemas.openxmlformats.org/drawingml/2006/main">
              <a:ext uri="{FF2B5EF4-FFF2-40B4-BE49-F238E27FC236}">
                <a16:creationId xmlns:a16="http://schemas.microsoft.com/office/drawing/2014/main" id="{7BF44DBD-6772-44F9-9950-374968FA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7054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普通 load 仍被整体阻塞</a:t>
            </a:r>
            <a:endParaRPr b="0" noProof="1" lang="zh-CN" altLang="en-US" dirty="0" err="0"/>
          </a:p>
        </p:txBody>
      </p:sp>
    </p:spTree>
    <p:extLst>
      <p:ext uri="{BB962C8B-B14F-4D97-AF65-F5344CB8AC3E}">
        <p14:creationId xmlns:p14="http://schemas.microsoft.com/office/powerpoint/2010/main" val="759832949"/>
      </p:ext>
    </p:extLst>
  </p:cSld>
</p:sld>
</file>

<file path=ppt/theme/theme1.xml><?xml version="1.0" encoding="utf-8"?>
<a:theme xmlns:a="http://schemas.openxmlformats.org/drawingml/2006/main" name="ChatGPT">
  <a:themeElements>
    <a:clrScheme name="HPDcache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2026-10-26T06:57:21.5940000Z</dcterms:created>
  <dcterms:modified xsi:type="dcterms:W3CDTF">2026-10-26T06:57:21.5950000Z</dcterms:modified>
</coreProperties>
</file>