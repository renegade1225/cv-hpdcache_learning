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官方图来自 docs/source/images/hpdcache_core.svg，说明见 docs/source/architecture.rst。OpenHW CV-HPDcache / CEA。</a:t>
            </a:r>
          </a:p>
          <a:p>
            <a:r>
              <a:t>图示 core partition 不含上层 requester arbitration。请求进入三阶段流水线；miss由Miss Handler处理，等待的请求进入RTAB。</a:t>
            </a:r>
          </a:p>
          <a:p>
            <a:r>
              <a:t>改动A位于Miss Handler发送路径；改动B位于refill与Cache Controller之间的grant控制。原图未修改。</a:t>
            </a:r>
          </a:p>
          <a:p>
            <a:r>
              <a:t>不将上游Cache整体实现计为本项目从零设计。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这是按当前RTL整理的简化集成图，不是替换上游官方全架构图。</a:t>
            </a:r>
          </a:p>
          <a:p>
            <a:r>
              <a:t>A：S2同时分配现有MSHR和2-entry发送元数据FIFO，每项已经占用MSHR；队头通过原有请求仲裁发出。</a:t>
            </a:r>
          </a:p>
          <a:p>
            <a:r>
              <a:t>B：refill grant保留原有空S1路径，并为满足安全条件的S1普通core load hit增加重叠授权资格。</a:t>
            </a:r>
          </a:p>
          <a:p>
            <a:r>
              <a:t>授权当拍不写refill数据，Data/Directory仍分拍，S0不接收新请求。MSHR=8和RTAB=4保持不变。</a:t>
            </a:r>
          </a:p>
          <a:p>
            <a:r>
              <a:t>原型参数MissIssueDecoupleEnable=1,RefillEarlyGrantEnable=1,RefillDirectEnable=0。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原设计：Miss Request FSM只有IDLE/SEND。IDLE接受S2分配并保存一项{nline,MSHR way}；SEND保持valid，但alloc_ready始终为0，握手后下一拍才回IDLE。</a:t>
            </a:r>
          </a:p>
          <a:p>
            <a:r>
              <a:t>修改：以2-entry元数据FIFO替代原单项保存结构和发送状态控制。S2分配MSHR与FIFO入队同拍发生；队头握手后pop。</a:t>
            </a:r>
          </a:p>
          <a:p>
            <a:r>
              <a:t>准入反馈面向S1，承诺下一拍S2空间：count_next=count+当前alloc-当前pop，alloc_ready=count_next&lt;2。不是FIFO本拍wok。</a:t>
            </a:r>
          </a:p>
          <a:p>
            <a:r>
              <a:t>队列所有项已经占用MSHR；满时仍会hold到RTAB。不是增加两个MSHR、不是完全切断ready，不承诺整个Cache每拍新miss。</a:t>
            </a:r>
          </a:p>
          <a:p>
            <a:r>
              <a:t>省略请求组包细节和RTAB返回S1的重放连线。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左边是原授权规则，右边增加安全的S1普通core load hit完成作为例外。本轮性能实验两边均开启miss解耦，只改变RefillEarlyGrantEnable。</a:t>
            </a:r>
          </a:p>
          <a:p>
            <a:r>
              <a:t>安全条件含：普通可缓存core load hit，响应有效且无error/abort；无RTAB分配/重放/ECC恢复；新旧S2的MSHR/目录/flush工作都为空；无CMO/UC/error/flush竞争；refill非error非invalidation。</a:t>
            </a:r>
          </a:p>
          <a:p>
            <a:r>
              <a:t>S0在refill pending时保持关闭，只有已经在S1的旧hit能在授权拍完成。命中响应与refill响应不在同一拍。</a:t>
            </a:r>
          </a:p>
          <a:p>
            <a:r>
              <a:t>MSHR ack_cs原先就预使能；真正提前的是grant驱动的ack与FSM转移。不存在新增refill数据旁路或RAM端口。</a:t>
            </a:r>
          </a:p>
          <a:p>
            <a:r>
              <a:t>静态范围lowLatency, response feedthrough, MSHR regbank,单拍整行refill,单字请求；RefillDirectEnable同时开启时本优化禁用。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此图是满足early grant资格时的相对周期示意，不代表每个refill均省一拍。需要正常load refill且需返回响应。</a:t>
            </a:r>
          </a:p>
          <a:p>
            <a:r>
              <a:t>t：原设计hit响应并等待；优化hit响应并grant/MSHR ack。</a:t>
            </a:r>
          </a:p>
          <a:p>
            <a:r>
              <a:t>t+1：原设计grant；优化WRITE写数据并返回原miss响应。</a:t>
            </a:r>
          </a:p>
          <a:p>
            <a:r>
              <a:t>t+2：原设计WRITE；优化WRITE_DIR更新目录、唤醒RTAB。</a:t>
            </a:r>
          </a:p>
          <a:p>
            <a:r>
              <a:t>t+3：原设计WRITE_DIR；优化重新仲裁，若没有其他阻塞可接收。</a:t>
            </a:r>
          </a:p>
          <a:p>
            <a:r>
              <a:t>数据和目录仍各占一拍；RTAB唤醒没有提前到grant/数据拍；新增路径有时序成本，需STA评估。</a:t>
            </a:r>
          </a:p>
          <a:p>
            <a:r>
              <a:t>配置范围lowLatency、单字请求、整行单拍refill、MSHR regbank和response feedthrough。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73380"/>
            <a:ext cx="60960" cy="411480"/>
          </a:xfrm>
          <a:prstGeom prst="rect">
            <a:avLst/>
          </a:prstGeom>
          <a:solidFill>
            <a:srgbClr val="087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2900"/>
            <a:ext cx="11125200" cy="481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32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17253E"/>
                </a:solidFill>
                <a:latin typeface="Noto Sans CJK SC"/>
                <a:ea typeface="Noto Sans CJK SC"/>
              </a:rPr>
              <a:t>原项目：CV-HPDcache 总体微架构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53440"/>
            <a:ext cx="1097280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57F"/>
                </a:solidFill>
                <a:latin typeface="Noto Sans CJK SC"/>
                <a:ea typeface="Noto Sans CJK SC"/>
              </a:rPr>
              <a:t>上游官方架构图；本项目定位在 Miss Handler 与流水线授权控制两处。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522720"/>
            <a:ext cx="10515600" cy="233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3657F"/>
                </a:solidFill>
                <a:latin typeface="Noto Sans CJK SC"/>
                <a:ea typeface="Noto Sans CJK SC"/>
              </a:rPr>
              <a:t>CV-HPDcache  |  基于当前 RTL 的项目示意；非物理版图  |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3340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738298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1386840"/>
            <a:ext cx="8001000" cy="483870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1429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pstream_hpdcache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1531620"/>
            <a:ext cx="7772400" cy="46278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0" y="1562100"/>
            <a:ext cx="3086100" cy="1828800"/>
          </a:xfrm>
          <a:prstGeom prst="roundRect">
            <a:avLst>
              <a:gd name="adj" fmla="val 5000"/>
            </a:avLst>
          </a:prstGeom>
          <a:solidFill>
            <a:srgbClr val="FFF1DE"/>
          </a:solidFill>
          <a:ln w="12954">
            <a:solidFill>
              <a:srgbClr val="AE5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988057"/>
            <a:ext cx="2903220" cy="3528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18"/>
              </a:lnSpc>
              <a:spcBef>
                <a:spcPts val="0"/>
              </a:spcBef>
              <a:spcAft>
                <a:spcPts val="0"/>
              </a:spcAft>
            </a:pPr>
            <a:r>
              <a:rPr sz="1859" b="1">
                <a:solidFill>
                  <a:srgbClr val="AE5D0D"/>
                </a:solidFill>
                <a:latin typeface="Noto Sans CJK SC"/>
                <a:ea typeface="Noto Sans CJK SC"/>
              </a:rPr>
              <a:t>A  发送路径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2340864"/>
            <a:ext cx="2933700" cy="6697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Miss Handler 内部</a:t>
            </a:r>
          </a:p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发送状态会影响新 miss 准入</a:t>
            </a:r>
          </a:p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详见第 3 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695700"/>
            <a:ext cx="3086100" cy="1828800"/>
          </a:xfrm>
          <a:prstGeom prst="roundRect">
            <a:avLst>
              <a:gd name="adj" fmla="val 5000"/>
            </a:avLst>
          </a:prstGeom>
          <a:solidFill>
            <a:srgbClr val="FFF1DE"/>
          </a:solidFill>
          <a:ln w="12954">
            <a:solidFill>
              <a:srgbClr val="AE5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4121657"/>
            <a:ext cx="2903220" cy="3528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18"/>
              </a:lnSpc>
              <a:spcBef>
                <a:spcPts val="0"/>
              </a:spcBef>
              <a:spcAft>
                <a:spcPts val="0"/>
              </a:spcAft>
            </a:pPr>
            <a:r>
              <a:rPr sz="1859" b="1">
                <a:solidFill>
                  <a:srgbClr val="AE5D0D"/>
                </a:solidFill>
                <a:latin typeface="Noto Sans CJK SC"/>
                <a:ea typeface="Noto Sans CJK SC"/>
              </a:rPr>
              <a:t>B  回填授权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0" y="4474463"/>
            <a:ext cx="2933700" cy="6697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Refill → 流水线仲裁</a:t>
            </a:r>
          </a:p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S1 未空时需要继续等待</a:t>
            </a:r>
          </a:p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详见第 4–5 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4900" y="5699760"/>
            <a:ext cx="3009900" cy="6697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原图来源：OpenHW / CEA</a:t>
            </a:r>
          </a:p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docs/source/images/</a:t>
            </a:r>
          </a:p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hpdcache_core.svg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73380"/>
            <a:ext cx="60960" cy="411480"/>
          </a:xfrm>
          <a:prstGeom prst="rect">
            <a:avLst/>
          </a:prstGeom>
          <a:solidFill>
            <a:srgbClr val="087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2900"/>
            <a:ext cx="11125200" cy="481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32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17253E"/>
                </a:solidFill>
                <a:latin typeface="Noto Sans CJK SC"/>
                <a:ea typeface="Noto Sans CJK SC"/>
              </a:rPr>
              <a:t>修改后：两处调度改造的集成视图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53440"/>
            <a:ext cx="1097280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57F"/>
                </a:solidFill>
                <a:latin typeface="Noto Sans CJK SC"/>
                <a:ea typeface="Noto Sans CJK SC"/>
              </a:rPr>
              <a:t>简化读路径；绿色表示新增或修改逻辑。原有写缓冲、AMO / CMO 等独立路径未展开。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522720"/>
            <a:ext cx="10515600" cy="233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3657F"/>
                </a:solidFill>
                <a:latin typeface="Noto Sans CJK SC"/>
                <a:ea typeface="Noto Sans CJK SC"/>
              </a:rPr>
              <a:t>CV-HPDcache  |  基于当前 RTL 的项目示意；非物理版图  |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3340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738298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371600"/>
            <a:ext cx="3657600" cy="53340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494663"/>
            <a:ext cx="3474720" cy="3329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738298"/>
                </a:solidFill>
                <a:latin typeface="Noto Sans CJK SC"/>
                <a:ea typeface="Noto Sans CJK SC"/>
              </a:rPr>
              <a:t>Core / SpMV 行为执行模型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2286000"/>
            <a:ext cx="7162800" cy="1866899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11429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0" y="2400300"/>
            <a:ext cx="2476500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7253E"/>
                </a:solidFill>
                <a:latin typeface="Noto Sans CJK SC"/>
                <a:ea typeface="Noto Sans CJK SC"/>
              </a:rPr>
              <a:t>Cache Controller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2819400"/>
            <a:ext cx="1828800" cy="60960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440" y="2858643"/>
            <a:ext cx="1645920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862BE"/>
                </a:solidFill>
                <a:latin typeface="Noto Sans CJK SC"/>
                <a:ea typeface="Noto Sans CJK SC"/>
              </a:rPr>
              <a:t>S0 仲裁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181730"/>
            <a:ext cx="16764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Core / RTAB / Refill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5600" y="2819400"/>
            <a:ext cx="1905000" cy="60960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7040" y="2858643"/>
            <a:ext cx="1722120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862BE"/>
                </a:solidFill>
                <a:latin typeface="Noto Sans CJK SC"/>
                <a:ea typeface="Noto Sans CJK SC"/>
              </a:rPr>
              <a:t>S1 查询与响应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181730"/>
            <a:ext cx="17526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hit / miss / 异常判断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0" y="2819400"/>
            <a:ext cx="2247900" cy="60960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4940" y="2858643"/>
            <a:ext cx="2065020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862BE"/>
                </a:solidFill>
                <a:latin typeface="Noto Sans CJK SC"/>
                <a:ea typeface="Noto Sans CJK SC"/>
              </a:rPr>
              <a:t>S2 分配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9700" y="3181730"/>
            <a:ext cx="2095499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MSHR + 待发元数据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90800" y="3124200"/>
            <a:ext cx="304800" cy="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00600" y="3124200"/>
            <a:ext cx="342900" cy="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2000" y="3619500"/>
            <a:ext cx="4038600" cy="381000"/>
          </a:xfrm>
          <a:prstGeom prst="roundRect">
            <a:avLst>
              <a:gd name="adj" fmla="val 15000"/>
            </a:avLst>
          </a:prstGeom>
          <a:solidFill>
            <a:srgbClr val="E7F6EF"/>
          </a:solidFill>
          <a:ln w="12954">
            <a:solidFill>
              <a:srgbClr val="087F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440" y="3686175"/>
            <a:ext cx="38557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7F67"/>
                </a:solidFill>
                <a:latin typeface="Noto Sans CJK SC"/>
                <a:ea typeface="Noto Sans CJK SC"/>
              </a:rPr>
              <a:t>B  安全 hit 完成 → 可提前授予 refill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1905000"/>
            <a:ext cx="0" cy="190499"/>
          </a:xfrm>
          <a:prstGeom prst="line">
            <a:avLst/>
          </a:prstGeom>
          <a:ln w="19050">
            <a:solidFill>
              <a:srgbClr val="2862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676400" y="2095499"/>
            <a:ext cx="2438400" cy="0"/>
          </a:xfrm>
          <a:prstGeom prst="line">
            <a:avLst/>
          </a:prstGeom>
          <a:ln w="19050">
            <a:solidFill>
              <a:srgbClr val="2862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76400" y="2095499"/>
            <a:ext cx="0" cy="723901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48099" y="2186940"/>
            <a:ext cx="0" cy="632460"/>
          </a:xfrm>
          <a:prstGeom prst="line">
            <a:avLst/>
          </a:prstGeom>
          <a:ln w="19050">
            <a:solidFill>
              <a:srgbClr val="2862B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48099" y="2186940"/>
            <a:ext cx="2019301" cy="0"/>
          </a:xfrm>
          <a:prstGeom prst="line">
            <a:avLst/>
          </a:prstGeom>
          <a:ln w="19050">
            <a:solidFill>
              <a:srgbClr val="2862B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867400" y="1905000"/>
            <a:ext cx="0" cy="281940"/>
          </a:xfrm>
          <a:prstGeom prst="line">
            <a:avLst/>
          </a:prstGeom>
          <a:ln w="19050">
            <a:solidFill>
              <a:srgbClr val="2862BE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320540" y="1988819"/>
            <a:ext cx="1150620" cy="246126"/>
          </a:xfrm>
          <a:prstGeom prst="roundRect">
            <a:avLst>
              <a:gd name="adj" fmla="val 61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1996439"/>
            <a:ext cx="11049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命中响应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648200"/>
            <a:ext cx="1905000" cy="800100"/>
          </a:xfrm>
          <a:prstGeom prst="roundRect">
            <a:avLst>
              <a:gd name="adj" fmla="val 11428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797552"/>
            <a:ext cx="17221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38298"/>
                </a:solidFill>
                <a:latin typeface="Noto Sans CJK SC"/>
                <a:ea typeface="Noto Sans CJK SC"/>
              </a:rPr>
              <a:t>RTAB · 4 entries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5090922"/>
            <a:ext cx="17526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等待与重放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638300" y="4152900"/>
            <a:ext cx="0" cy="49530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200400" y="4648200"/>
            <a:ext cx="4190999" cy="800100"/>
          </a:xfrm>
          <a:prstGeom prst="roundRect">
            <a:avLst>
              <a:gd name="adj" fmla="val 11428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4777740"/>
            <a:ext cx="4008120" cy="3329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2862BE"/>
                </a:solidFill>
                <a:latin typeface="Noto Sans CJK SC"/>
                <a:ea typeface="Noto Sans CJK SC"/>
              </a:rPr>
              <a:t>Cache Directory / Data 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76600" y="5110734"/>
            <a:ext cx="40386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读命中、refill 数据写入、目录更新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257800" y="4152900"/>
            <a:ext cx="0" cy="49530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077200" y="2286000"/>
            <a:ext cx="3581400" cy="316230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1429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7699" y="2400300"/>
            <a:ext cx="3162300" cy="3329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7253E"/>
                </a:solidFill>
                <a:latin typeface="Noto Sans CJK SC"/>
                <a:ea typeface="Noto Sans CJK SC"/>
              </a:rPr>
              <a:t>Miss Handler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05800" y="2781300"/>
            <a:ext cx="3124200" cy="54864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7240" y="2795016"/>
            <a:ext cx="2941320" cy="3131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06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738298"/>
                </a:solidFill>
                <a:latin typeface="Noto Sans CJK SC"/>
                <a:ea typeface="Noto Sans CJK SC"/>
              </a:rPr>
              <a:t>MSHR · 8 entries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1999" y="3108198"/>
            <a:ext cx="29718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跟踪已分配 miss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05800" y="3543300"/>
            <a:ext cx="3124200" cy="685800"/>
          </a:xfrm>
          <a:prstGeom prst="roundRect">
            <a:avLst>
              <a:gd name="adj" fmla="val 13333"/>
            </a:avLst>
          </a:prstGeom>
          <a:solidFill>
            <a:srgbClr val="E7F6EF"/>
          </a:solidFill>
          <a:ln w="12954">
            <a:solidFill>
              <a:srgbClr val="087F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97240" y="3635502"/>
            <a:ext cx="29413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7F67"/>
                </a:solidFill>
                <a:latin typeface="Noto Sans CJK SC"/>
                <a:ea typeface="Noto Sans CJK SC"/>
              </a:rPr>
              <a:t>A  2-entry 发送元数据 FIFO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1999" y="3928872"/>
            <a:ext cx="29718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{nline, MSHR way} + 准入信用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05800" y="4648200"/>
            <a:ext cx="3124200" cy="57150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97240" y="4673346"/>
            <a:ext cx="2941320" cy="3131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06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2862BE"/>
                </a:solidFill>
                <a:latin typeface="Noto Sans CJK SC"/>
                <a:ea typeface="Noto Sans CJK SC"/>
              </a:rPr>
              <a:t>Refill FIFO + FSM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1999" y="4986528"/>
            <a:ext cx="29718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原有返回与安装通路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391400" y="3124200"/>
            <a:ext cx="441960" cy="0"/>
          </a:xfrm>
          <a:prstGeom prst="line">
            <a:avLst/>
          </a:prstGeom>
          <a:ln w="19050">
            <a:solidFill>
              <a:srgbClr val="2862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833360" y="3048000"/>
            <a:ext cx="0" cy="76200"/>
          </a:xfrm>
          <a:prstGeom prst="line">
            <a:avLst/>
          </a:prstGeom>
          <a:ln w="19050">
            <a:solidFill>
              <a:srgbClr val="2862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833360" y="3048000"/>
            <a:ext cx="472440" cy="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833360" y="3124200"/>
            <a:ext cx="0" cy="762000"/>
          </a:xfrm>
          <a:prstGeom prst="line">
            <a:avLst/>
          </a:prstGeom>
          <a:ln w="19050">
            <a:solidFill>
              <a:srgbClr val="087F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833360" y="3886200"/>
            <a:ext cx="472440" cy="0"/>
          </a:xfrm>
          <a:prstGeom prst="line">
            <a:avLst/>
          </a:prstGeom>
          <a:ln w="19050">
            <a:solidFill>
              <a:srgbClr val="087F6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7543800" y="4953000"/>
            <a:ext cx="762000" cy="0"/>
          </a:xfrm>
          <a:prstGeom prst="line">
            <a:avLst/>
          </a:prstGeom>
          <a:ln w="19050">
            <a:solidFill>
              <a:srgbClr val="087F67"/>
            </a:solidFill>
            <a:prstDash val="dash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543800" y="4381500"/>
            <a:ext cx="0" cy="571500"/>
          </a:xfrm>
          <a:prstGeom prst="line">
            <a:avLst/>
          </a:prstGeom>
          <a:ln w="19050">
            <a:solidFill>
              <a:srgbClr val="087F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2438400" y="4381500"/>
            <a:ext cx="5105400" cy="0"/>
          </a:xfrm>
          <a:prstGeom prst="line">
            <a:avLst/>
          </a:prstGeom>
          <a:ln w="19050">
            <a:solidFill>
              <a:srgbClr val="087F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438400" y="4000500"/>
            <a:ext cx="0" cy="381000"/>
          </a:xfrm>
          <a:prstGeom prst="line">
            <a:avLst/>
          </a:prstGeom>
          <a:ln w="19050">
            <a:solidFill>
              <a:srgbClr val="087F6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901440" y="4236720"/>
            <a:ext cx="3398520" cy="246126"/>
          </a:xfrm>
          <a:prstGeom prst="roundRect">
            <a:avLst>
              <a:gd name="adj" fmla="val 61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24300" y="4244340"/>
            <a:ext cx="33528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087F67"/>
                </a:solidFill>
                <a:latin typeface="Noto Sans CJK SC"/>
                <a:ea typeface="Noto Sans CJK SC"/>
              </a:rPr>
              <a:t>refill request / grant（控制交互）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7696199" y="5113020"/>
            <a:ext cx="609601" cy="0"/>
          </a:xfrm>
          <a:prstGeom prst="line">
            <a:avLst/>
          </a:prstGeom>
          <a:ln w="19050">
            <a:solidFill>
              <a:srgbClr val="2862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696199" y="5113020"/>
            <a:ext cx="0" cy="220980"/>
          </a:xfrm>
          <a:prstGeom prst="line">
            <a:avLst/>
          </a:prstGeom>
          <a:ln w="19050">
            <a:solidFill>
              <a:srgbClr val="2862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7391400" y="5334000"/>
            <a:ext cx="304799" cy="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8305800" y="5829300"/>
            <a:ext cx="3124200" cy="45720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97240" y="5934075"/>
            <a:ext cx="29413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38298"/>
                </a:solidFill>
                <a:latin typeface="Noto Sans CJK SC"/>
                <a:ea typeface="Noto Sans CJK SC"/>
              </a:rPr>
              <a:t>读请求仲裁器 / 下一级存储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1049000" y="4229100"/>
            <a:ext cx="762000" cy="0"/>
          </a:xfrm>
          <a:prstGeom prst="line">
            <a:avLst/>
          </a:prstGeom>
          <a:ln w="19050">
            <a:solidFill>
              <a:srgbClr val="087F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811000" y="4229100"/>
            <a:ext cx="0" cy="1828800"/>
          </a:xfrm>
          <a:prstGeom prst="line">
            <a:avLst/>
          </a:prstGeom>
          <a:ln w="19050">
            <a:solidFill>
              <a:srgbClr val="087F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1430000" y="6057900"/>
            <a:ext cx="381000" cy="0"/>
          </a:xfrm>
          <a:prstGeom prst="line">
            <a:avLst/>
          </a:prstGeom>
          <a:ln w="19050">
            <a:solidFill>
              <a:srgbClr val="087F6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10873740" y="5501640"/>
            <a:ext cx="1036320" cy="246126"/>
          </a:xfrm>
          <a:prstGeom prst="roundRect">
            <a:avLst>
              <a:gd name="adj" fmla="val 61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96600" y="5509260"/>
            <a:ext cx="990599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087F67"/>
                </a:solidFill>
                <a:latin typeface="Noto Sans CJK SC"/>
                <a:ea typeface="Noto Sans CJK SC"/>
              </a:rPr>
              <a:t>读请求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9029700" y="5448300"/>
            <a:ext cx="0" cy="381000"/>
          </a:xfrm>
          <a:prstGeom prst="line">
            <a:avLst/>
          </a:prstGeom>
          <a:ln w="19050">
            <a:solidFill>
              <a:srgbClr val="2862B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029700" y="5219700"/>
            <a:ext cx="0" cy="22860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9159240" y="5471160"/>
            <a:ext cx="1188720" cy="246126"/>
          </a:xfrm>
          <a:prstGeom prst="roundRect">
            <a:avLst>
              <a:gd name="adj" fmla="val 61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2100" y="5478780"/>
            <a:ext cx="11430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返回数据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0560" y="5768340"/>
            <a:ext cx="693420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53657F"/>
                </a:solidFill>
                <a:latin typeface="Noto Sans CJK SC"/>
                <a:ea typeface="Noto Sans CJK SC"/>
              </a:rPr>
              <a:t>两处改动改变调度时机；图中 MSHR 与 RTAB 容量仍为 8 / 4。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0560" y="6057900"/>
            <a:ext cx="6934200" cy="2636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3657F"/>
                </a:solidFill>
                <a:latin typeface="Noto Sans CJK SC"/>
                <a:ea typeface="Noto Sans CJK SC"/>
              </a:rPr>
              <a:t>实线：请求 / 数据与操作方向   虚线：控制或响应；未展开全部端口连线。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73380"/>
            <a:ext cx="60960" cy="411480"/>
          </a:xfrm>
          <a:prstGeom prst="rect">
            <a:avLst/>
          </a:prstGeom>
          <a:solidFill>
            <a:srgbClr val="087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2900"/>
            <a:ext cx="11125200" cy="481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32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17253E"/>
                </a:solidFill>
                <a:latin typeface="Noto Sans CJK SC"/>
                <a:ea typeface="Noto Sans CJK SC"/>
              </a:rPr>
              <a:t>改动 1：miss 接收与发送解耦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53440"/>
            <a:ext cx="1097280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57F"/>
                </a:solidFill>
                <a:latin typeface="Noto Sans CJK SC"/>
                <a:ea typeface="Noto Sans CJK SC"/>
              </a:rPr>
              <a:t>已有多个 MSHR，但发送通路的暂存与准入能力仍可能受到下游反压限制。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522720"/>
            <a:ext cx="10515600" cy="233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3657F"/>
                </a:solidFill>
                <a:latin typeface="Noto Sans CJK SC"/>
                <a:ea typeface="Noto Sans CJK SC"/>
              </a:rPr>
              <a:t>CV-HPDcache  |  基于当前 RTL 的项目示意；非物理版图  |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3340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738298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1371600"/>
            <a:ext cx="5638800" cy="4831080"/>
          </a:xfrm>
          <a:prstGeom prst="roundRect">
            <a:avLst>
              <a:gd name="adj" fmla="val 2839"/>
            </a:avLst>
          </a:prstGeom>
          <a:solidFill>
            <a:srgbClr val="FFFFFF"/>
          </a:solidFill>
          <a:ln w="11429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1140"/>
            <a:ext cx="524256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E5D0D"/>
                </a:solidFill>
                <a:latin typeface="Noto Sans CJK SC"/>
                <a:ea typeface="Noto Sans CJK SC"/>
              </a:rPr>
              <a:t>原设计｜发送状态限制新 miss 准入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67840"/>
            <a:ext cx="524256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MissIssueDecoupleEnable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2209800"/>
            <a:ext cx="1866899" cy="57150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040" y="2371725"/>
            <a:ext cx="16840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2BE"/>
                </a:solidFill>
                <a:latin typeface="Noto Sans CJK SC"/>
                <a:ea typeface="Noto Sans CJK SC"/>
              </a:rPr>
              <a:t>S1 miss 准入检查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209800"/>
            <a:ext cx="2095499" cy="57150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244852"/>
            <a:ext cx="19126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38298"/>
                </a:solidFill>
                <a:latin typeface="Noto Sans CJK SC"/>
                <a:ea typeface="Noto Sans CJK SC"/>
              </a:rPr>
              <a:t>RTAB · 4 entries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5200" y="2538222"/>
            <a:ext cx="19431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未 ready 时等待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76500" y="2491740"/>
            <a:ext cx="952500" cy="0"/>
          </a:xfrm>
          <a:prstGeom prst="line">
            <a:avLst/>
          </a:prstGeom>
          <a:ln w="19050">
            <a:solidFill>
              <a:srgbClr val="AE5D0D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14600" y="2247900"/>
            <a:ext cx="8839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37460" y="2255520"/>
            <a:ext cx="838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E5D0D"/>
                </a:solidFill>
                <a:latin typeface="Noto Sans CJK SC"/>
                <a:ea typeface="Noto Sans CJK SC"/>
              </a:rPr>
              <a:t>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3200400"/>
            <a:ext cx="1866899" cy="53340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040" y="3333369"/>
            <a:ext cx="1684020" cy="3131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06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2862BE"/>
                </a:solidFill>
                <a:latin typeface="Noto Sans CJK SC"/>
                <a:ea typeface="Noto Sans CJK SC"/>
              </a:rPr>
              <a:t>S2 分配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200400"/>
            <a:ext cx="2095499" cy="53340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216402"/>
            <a:ext cx="19126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38298"/>
                </a:solidFill>
                <a:latin typeface="Noto Sans CJK SC"/>
                <a:ea typeface="Noto Sans CJK SC"/>
              </a:rPr>
              <a:t>MSHR · 8 entries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5200" y="3509772"/>
            <a:ext cx="19431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容量不变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39240" y="2781300"/>
            <a:ext cx="0" cy="41910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592580" y="2903220"/>
            <a:ext cx="8458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15440" y="2910840"/>
            <a:ext cx="8001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准入通过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76500" y="3467100"/>
            <a:ext cx="952500" cy="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506980" y="3215640"/>
            <a:ext cx="8839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29840" y="3223260"/>
            <a:ext cx="838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分配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" y="4190999"/>
            <a:ext cx="2895600" cy="723900"/>
          </a:xfrm>
          <a:prstGeom prst="roundRect">
            <a:avLst>
              <a:gd name="adj" fmla="val 12631"/>
            </a:avLst>
          </a:prstGeom>
          <a:solidFill>
            <a:srgbClr val="FFF1DE"/>
          </a:solidFill>
          <a:ln w="12954">
            <a:solidFill>
              <a:srgbClr val="AE5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040" y="4302252"/>
            <a:ext cx="27127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E5D0D"/>
                </a:solidFill>
                <a:latin typeface="Noto Sans CJK SC"/>
                <a:ea typeface="Noto Sans CJK SC"/>
              </a:rPr>
              <a:t>单项待发元数据寄存器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595622"/>
            <a:ext cx="27432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{nline, MSHR way}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4190999"/>
            <a:ext cx="1409700" cy="723900"/>
          </a:xfrm>
          <a:prstGeom prst="roundRect">
            <a:avLst>
              <a:gd name="adj" fmla="val 12631"/>
            </a:avLst>
          </a:prstGeom>
          <a:solidFill>
            <a:srgbClr val="FFF1DE"/>
          </a:solidFill>
          <a:ln w="12954">
            <a:solidFill>
              <a:srgbClr val="AE5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312158"/>
            <a:ext cx="1226820" cy="273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93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AE5D0D"/>
                </a:solidFill>
                <a:latin typeface="Noto Sans CJK SC"/>
                <a:ea typeface="Noto Sans CJK SC"/>
              </a:rPr>
              <a:t>IDLE / SEND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90999" y="4585716"/>
            <a:ext cx="12573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发送状态机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539240" y="3733799"/>
            <a:ext cx="0" cy="45720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592580" y="3863339"/>
            <a:ext cx="13411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15440" y="3870960"/>
            <a:ext cx="12954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同拍保存信息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05200" y="4549140"/>
            <a:ext cx="609600" cy="0"/>
          </a:xfrm>
          <a:prstGeom prst="line">
            <a:avLst/>
          </a:prstGeom>
          <a:ln w="19050">
            <a:solidFill>
              <a:srgbClr val="AE5D0D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524500" y="4495800"/>
            <a:ext cx="228600" cy="0"/>
          </a:xfrm>
          <a:prstGeom prst="line">
            <a:avLst/>
          </a:prstGeom>
          <a:ln w="19050">
            <a:solidFill>
              <a:srgbClr val="AE5D0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753100" y="2110740"/>
            <a:ext cx="0" cy="2385060"/>
          </a:xfrm>
          <a:prstGeom prst="line">
            <a:avLst/>
          </a:prstGeom>
          <a:ln w="19050">
            <a:solidFill>
              <a:srgbClr val="AE5D0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539240" y="2110740"/>
            <a:ext cx="4213860" cy="0"/>
          </a:xfrm>
          <a:prstGeom prst="line">
            <a:avLst/>
          </a:prstGeom>
          <a:ln w="19050">
            <a:solidFill>
              <a:srgbClr val="AE5D0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539240" y="2110740"/>
            <a:ext cx="0" cy="99060"/>
          </a:xfrm>
          <a:prstGeom prst="line">
            <a:avLst/>
          </a:prstGeom>
          <a:ln w="19050">
            <a:solidFill>
              <a:srgbClr val="AE5D0D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453640" y="1943100"/>
            <a:ext cx="31699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76500" y="1950720"/>
            <a:ext cx="3124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E5D0D"/>
                </a:solidFill>
                <a:latin typeface="Noto Sans CJK SC"/>
                <a:ea typeface="Noto Sans CJK SC"/>
              </a:rPr>
              <a:t>准入 ready：SEND 时为 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9600" y="5334000"/>
            <a:ext cx="4914900" cy="44196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1040" y="5431155"/>
            <a:ext cx="47320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38298"/>
                </a:solidFill>
                <a:latin typeface="Noto Sans CJK SC"/>
                <a:ea typeface="Noto Sans CJK SC"/>
              </a:rPr>
              <a:t>读请求仲裁器 / 下一级存储接口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790700" y="4914900"/>
            <a:ext cx="0" cy="41910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882139" y="5036820"/>
            <a:ext cx="14173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05000" y="5044440"/>
            <a:ext cx="13716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待发请求信息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305300" y="4914900"/>
            <a:ext cx="0" cy="419100"/>
          </a:xfrm>
          <a:prstGeom prst="line">
            <a:avLst/>
          </a:prstGeom>
          <a:ln w="19050">
            <a:solidFill>
              <a:srgbClr val="AE5D0D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787140" y="5021580"/>
            <a:ext cx="541020" cy="226314"/>
          </a:xfrm>
          <a:prstGeom prst="roundRect">
            <a:avLst>
              <a:gd name="adj" fmla="val 67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10000" y="5029200"/>
            <a:ext cx="495299" cy="233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AE5D0D"/>
                </a:solidFill>
                <a:latin typeface="Noto Sans CJK SC"/>
                <a:ea typeface="Noto Sans CJK SC"/>
              </a:rPr>
              <a:t>valid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4876800" y="4914900"/>
            <a:ext cx="0" cy="419100"/>
          </a:xfrm>
          <a:prstGeom prst="line">
            <a:avLst/>
          </a:prstGeom>
          <a:ln w="19050">
            <a:solidFill>
              <a:srgbClr val="AE5D0D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869180" y="5021580"/>
            <a:ext cx="8458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5029200"/>
            <a:ext cx="8001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E5D0D"/>
                </a:solidFill>
                <a:latin typeface="Noto Sans CJK SC"/>
                <a:ea typeface="Noto Sans CJK SC"/>
              </a:rPr>
              <a:t>ready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" y="5905500"/>
            <a:ext cx="49530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AE5D0D"/>
                </a:solidFill>
                <a:latin typeface="Noto Sans CJK SC"/>
                <a:ea typeface="Noto Sans CJK SC"/>
              </a:rPr>
              <a:t>发送未完成时，新 miss 可能进入 RTAB 等待。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48400" y="1371600"/>
            <a:ext cx="5638800" cy="4831080"/>
          </a:xfrm>
          <a:prstGeom prst="roundRect">
            <a:avLst>
              <a:gd name="adj" fmla="val 2839"/>
            </a:avLst>
          </a:prstGeom>
          <a:solidFill>
            <a:srgbClr val="FFFFFF"/>
          </a:solidFill>
          <a:ln w="11429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1501140"/>
            <a:ext cx="524256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67"/>
                </a:solidFill>
                <a:latin typeface="Noto Sans CJK SC"/>
                <a:ea typeface="Noto Sans CJK SC"/>
              </a:rPr>
              <a:t>修改后｜有限队列吸收发送反压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6520" y="1767840"/>
            <a:ext cx="524256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MissIssueDecoupleEnable = 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53200" y="2209800"/>
            <a:ext cx="1866899" cy="57150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44640" y="2371725"/>
            <a:ext cx="16840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2BE"/>
                </a:solidFill>
                <a:latin typeface="Noto Sans CJK SC"/>
                <a:ea typeface="Noto Sans CJK SC"/>
              </a:rPr>
              <a:t>S1 miss 准入检查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72600" y="2209800"/>
            <a:ext cx="2095499" cy="57150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64040" y="2244852"/>
            <a:ext cx="19126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38298"/>
                </a:solidFill>
                <a:latin typeface="Noto Sans CJK SC"/>
                <a:ea typeface="Noto Sans CJK SC"/>
              </a:rPr>
              <a:t>RTAB · 4 entries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48800" y="2538222"/>
            <a:ext cx="19431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未 ready 时等待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420100" y="2491740"/>
            <a:ext cx="952500" cy="0"/>
          </a:xfrm>
          <a:prstGeom prst="line">
            <a:avLst/>
          </a:prstGeom>
          <a:ln w="19050">
            <a:solidFill>
              <a:srgbClr val="AE5D0D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458200" y="2247900"/>
            <a:ext cx="8839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81060" y="2255520"/>
            <a:ext cx="838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E5D0D"/>
                </a:solidFill>
                <a:latin typeface="Noto Sans CJK SC"/>
                <a:ea typeface="Noto Sans CJK SC"/>
              </a:rPr>
              <a:t>hold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53200" y="3200400"/>
            <a:ext cx="1866899" cy="53340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44640" y="3333369"/>
            <a:ext cx="1684020" cy="3131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06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2862BE"/>
                </a:solidFill>
                <a:latin typeface="Noto Sans CJK SC"/>
                <a:ea typeface="Noto Sans CJK SC"/>
              </a:rPr>
              <a:t>S2 分配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372600" y="3200400"/>
            <a:ext cx="2095499" cy="53340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64040" y="3216402"/>
            <a:ext cx="19126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38298"/>
                </a:solidFill>
                <a:latin typeface="Noto Sans CJK SC"/>
                <a:ea typeface="Noto Sans CJK SC"/>
              </a:rPr>
              <a:t>MSHR · 8 entries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48800" y="3509772"/>
            <a:ext cx="19431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容量不变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482840" y="2781300"/>
            <a:ext cx="0" cy="41910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7536180" y="2903220"/>
            <a:ext cx="8458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59040" y="2910840"/>
            <a:ext cx="8001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准入通过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420100" y="3467100"/>
            <a:ext cx="952500" cy="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8450580" y="3215640"/>
            <a:ext cx="8839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73440" y="3223260"/>
            <a:ext cx="838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分配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553200" y="4190999"/>
            <a:ext cx="2895600" cy="723900"/>
          </a:xfrm>
          <a:prstGeom prst="roundRect">
            <a:avLst>
              <a:gd name="adj" fmla="val 12631"/>
            </a:avLst>
          </a:prstGeom>
          <a:solidFill>
            <a:srgbClr val="E7F6EF"/>
          </a:solidFill>
          <a:ln w="12954">
            <a:solidFill>
              <a:srgbClr val="087F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44640" y="4302252"/>
            <a:ext cx="27127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7F67"/>
                </a:solidFill>
                <a:latin typeface="Noto Sans CJK SC"/>
                <a:ea typeface="Noto Sans CJK SC"/>
              </a:rPr>
              <a:t>2-entry 元数据 FIFO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29400" y="4595622"/>
            <a:ext cx="27432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{nline, MSHR way}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058400" y="4190999"/>
            <a:ext cx="1409700" cy="723900"/>
          </a:xfrm>
          <a:prstGeom prst="roundRect">
            <a:avLst>
              <a:gd name="adj" fmla="val 12631"/>
            </a:avLst>
          </a:prstGeom>
          <a:solidFill>
            <a:srgbClr val="E7F6EF"/>
          </a:solidFill>
          <a:ln w="12954">
            <a:solidFill>
              <a:srgbClr val="087F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49840" y="4312158"/>
            <a:ext cx="1226820" cy="273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93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087F67"/>
                </a:solidFill>
                <a:latin typeface="Noto Sans CJK SC"/>
                <a:ea typeface="Noto Sans CJK SC"/>
              </a:rPr>
              <a:t>下一拍信用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34600" y="4585716"/>
            <a:ext cx="12573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count_next &lt; 2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482840" y="3733799"/>
            <a:ext cx="0" cy="45720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7536180" y="3863339"/>
            <a:ext cx="13411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559040" y="3870960"/>
            <a:ext cx="12954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同拍分配并入队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448800" y="4549140"/>
            <a:ext cx="609600" cy="0"/>
          </a:xfrm>
          <a:prstGeom prst="line">
            <a:avLst/>
          </a:prstGeom>
          <a:ln w="19050">
            <a:solidFill>
              <a:srgbClr val="087F6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468100" y="4495800"/>
            <a:ext cx="228600" cy="0"/>
          </a:xfrm>
          <a:prstGeom prst="line">
            <a:avLst/>
          </a:prstGeom>
          <a:ln w="19050">
            <a:solidFill>
              <a:srgbClr val="087F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696700" y="2110740"/>
            <a:ext cx="0" cy="2385060"/>
          </a:xfrm>
          <a:prstGeom prst="line">
            <a:avLst/>
          </a:prstGeom>
          <a:ln w="19050">
            <a:solidFill>
              <a:srgbClr val="087F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7482840" y="2110740"/>
            <a:ext cx="4213860" cy="0"/>
          </a:xfrm>
          <a:prstGeom prst="line">
            <a:avLst/>
          </a:prstGeom>
          <a:ln w="19050">
            <a:solidFill>
              <a:srgbClr val="087F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482840" y="2110740"/>
            <a:ext cx="0" cy="99060"/>
          </a:xfrm>
          <a:prstGeom prst="line">
            <a:avLst/>
          </a:prstGeom>
          <a:ln w="19050">
            <a:solidFill>
              <a:srgbClr val="087F6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8397240" y="1943100"/>
            <a:ext cx="31699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420100" y="1950720"/>
            <a:ext cx="31242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87F67"/>
                </a:solidFill>
                <a:latin typeface="Noto Sans CJK SC"/>
                <a:ea typeface="Noto Sans CJK SC"/>
              </a:rPr>
              <a:t>准入 ready：依据下一拍信用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553200" y="5334000"/>
            <a:ext cx="4914900" cy="44196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644640" y="5431155"/>
            <a:ext cx="47320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38298"/>
                </a:solidFill>
                <a:latin typeface="Noto Sans CJK SC"/>
                <a:ea typeface="Noto Sans CJK SC"/>
              </a:rPr>
              <a:t>读请求仲裁器 / 下一级存储接口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7734300" y="4914900"/>
            <a:ext cx="0" cy="41910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7825740" y="5036820"/>
            <a:ext cx="14173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848600" y="5044440"/>
            <a:ext cx="13716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队头请求 / valid</a:t>
            </a:r>
          </a:p>
        </p:txBody>
      </p:sp>
      <p:cxnSp>
        <p:nvCxnSpPr>
          <p:cNvPr id="101" name="Connector 100"/>
          <p:cNvCxnSpPr/>
          <p:nvPr/>
        </p:nvCxnSpPr>
        <p:spPr>
          <a:xfrm flipV="1">
            <a:off x="10820400" y="4914900"/>
            <a:ext cx="0" cy="419100"/>
          </a:xfrm>
          <a:prstGeom prst="line">
            <a:avLst/>
          </a:prstGeom>
          <a:ln w="19050">
            <a:solidFill>
              <a:srgbClr val="087F6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10812780" y="5021580"/>
            <a:ext cx="8458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835640" y="5029200"/>
            <a:ext cx="8001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87F67"/>
                </a:solidFill>
                <a:latin typeface="Noto Sans CJK SC"/>
                <a:ea typeface="Noto Sans CJK SC"/>
              </a:rPr>
              <a:t>ready</a:t>
            </a:r>
          </a:p>
        </p:txBody>
      </p:sp>
      <p:cxnSp>
        <p:nvCxnSpPr>
          <p:cNvPr id="104" name="Connector 103"/>
          <p:cNvCxnSpPr/>
          <p:nvPr/>
        </p:nvCxnSpPr>
        <p:spPr>
          <a:xfrm flipH="1">
            <a:off x="9334500" y="5143500"/>
            <a:ext cx="1485900" cy="0"/>
          </a:xfrm>
          <a:prstGeom prst="line">
            <a:avLst/>
          </a:prstGeom>
          <a:ln w="19050">
            <a:solidFill>
              <a:srgbClr val="087F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334500" y="4914900"/>
            <a:ext cx="0" cy="228600"/>
          </a:xfrm>
          <a:prstGeom prst="line">
            <a:avLst/>
          </a:prstGeom>
          <a:ln w="19050">
            <a:solidFill>
              <a:srgbClr val="087F6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553200" y="5905500"/>
            <a:ext cx="49530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087F67"/>
                </a:solidFill>
                <a:latin typeface="Noto Sans CJK SC"/>
                <a:ea typeface="Noto Sans CJK SC"/>
              </a:rPr>
              <a:t>仍有信用时，可先接纳下一笔 miss；满时仍需等待。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4840" y="6263640"/>
            <a:ext cx="10972800" cy="273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3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17253E"/>
                </a:solidFill>
                <a:latin typeface="Noto Sans CJK SC"/>
                <a:ea typeface="Noto Sans CJK SC"/>
              </a:rPr>
              <a:t>新增的是待发送元数据缓冲，不存 cacheline 数据；FIFO 中的每一项已拥有一个 MSHR。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73380"/>
            <a:ext cx="60960" cy="411480"/>
          </a:xfrm>
          <a:prstGeom prst="rect">
            <a:avLst/>
          </a:prstGeom>
          <a:solidFill>
            <a:srgbClr val="087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2900"/>
            <a:ext cx="11125200" cy="481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32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17253E"/>
                </a:solidFill>
                <a:latin typeface="Noto Sans CJK SC"/>
                <a:ea typeface="Noto Sans CJK SC"/>
              </a:rPr>
              <a:t>改动 2：S1 hit 完成与 refill 授权重叠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53440"/>
            <a:ext cx="1097280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57F"/>
                </a:solidFill>
                <a:latin typeface="Noto Sans CJK SC"/>
                <a:ea typeface="Noto Sans CJK SC"/>
              </a:rPr>
              <a:t>只改变 refill 的授权资格；原有数据写入、目录更新与响应通路继续使用。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522720"/>
            <a:ext cx="10515600" cy="233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3657F"/>
                </a:solidFill>
                <a:latin typeface="Noto Sans CJK SC"/>
                <a:ea typeface="Noto Sans CJK SC"/>
              </a:rPr>
              <a:t>CV-HPDcache  |  基于当前 RTL 的项目示意；非物理版图  |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3340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738298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1371600"/>
            <a:ext cx="5638800" cy="4831080"/>
          </a:xfrm>
          <a:prstGeom prst="roundRect">
            <a:avLst>
              <a:gd name="adj" fmla="val 2839"/>
            </a:avLst>
          </a:prstGeom>
          <a:solidFill>
            <a:srgbClr val="FFFFFF"/>
          </a:solidFill>
          <a:ln w="11429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1140"/>
            <a:ext cx="524256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E5D0D"/>
                </a:solidFill>
                <a:latin typeface="Noto Sans CJK SC"/>
                <a:ea typeface="Noto Sans CJK SC"/>
              </a:rPr>
              <a:t>原设计｜S1 为空时才授权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67840"/>
            <a:ext cx="524256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RefillEarlyGrantEnable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2209800"/>
            <a:ext cx="2209800" cy="60960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040" y="2263902"/>
            <a:ext cx="20269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2BE"/>
                </a:solidFill>
                <a:latin typeface="Noto Sans CJK SC"/>
                <a:ea typeface="Noto Sans CJK SC"/>
              </a:rPr>
              <a:t>S1 普通 core load hit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57272"/>
            <a:ext cx="20574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已在流水线内的旧请求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3300" y="2209800"/>
            <a:ext cx="1981199" cy="60960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4740" y="2263902"/>
            <a:ext cx="17983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38298"/>
                </a:solidFill>
                <a:latin typeface="Noto Sans CJK SC"/>
                <a:ea typeface="Noto Sans CJK SC"/>
              </a:rPr>
              <a:t>原有响应通路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2557272"/>
            <a:ext cx="18288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hit 当拍返回 Core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19400" y="2514600"/>
            <a:ext cx="723900" cy="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3215640"/>
            <a:ext cx="4610100" cy="876300"/>
          </a:xfrm>
          <a:prstGeom prst="roundRect">
            <a:avLst>
              <a:gd name="adj" fmla="val 10434"/>
            </a:avLst>
          </a:prstGeom>
          <a:solidFill>
            <a:srgbClr val="FFF1DE"/>
          </a:solidFill>
          <a:ln w="12954">
            <a:solidFill>
              <a:srgbClr val="AE5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84220"/>
            <a:ext cx="4427220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AE5D0D"/>
                </a:solidFill>
                <a:latin typeface="Noto Sans CJK SC"/>
                <a:ea typeface="Noto Sans CJK SC"/>
              </a:rPr>
              <a:t>Refill grant 授权控制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599" y="3607308"/>
            <a:ext cx="4457700" cy="461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需 S1 为空 + 原有授权条件</a:t>
            </a:r>
          </a:p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旧 hit 本拍响应，refill 仍等待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14500" y="2819400"/>
            <a:ext cx="0" cy="396240"/>
          </a:xfrm>
          <a:prstGeom prst="line">
            <a:avLst/>
          </a:prstGeom>
          <a:ln w="19050">
            <a:solidFill>
              <a:srgbClr val="AE5D0D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790700" y="2926080"/>
            <a:ext cx="32842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13560" y="2933700"/>
            <a:ext cx="32385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E5D0D"/>
                </a:solidFill>
                <a:latin typeface="Noto Sans CJK SC"/>
                <a:ea typeface="Noto Sans CJK SC"/>
              </a:rPr>
              <a:t>S1 valid 状态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4762500"/>
            <a:ext cx="2133600" cy="59436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040" y="4808982"/>
            <a:ext cx="19507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2BE"/>
                </a:solidFill>
                <a:latin typeface="Noto Sans CJK SC"/>
                <a:ea typeface="Noto Sans CJK SC"/>
              </a:rPr>
              <a:t>Refill FIFO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02352"/>
            <a:ext cx="1981199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返回数据与元信息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19500" y="4762500"/>
            <a:ext cx="1905000" cy="59436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10940" y="4804029"/>
            <a:ext cx="1722120" cy="303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8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2862BE"/>
                </a:solidFill>
                <a:latin typeface="Noto Sans CJK SC"/>
                <a:ea typeface="Noto Sans CJK SC"/>
              </a:rPr>
              <a:t>Refill FSM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5700" y="5107305"/>
            <a:ext cx="17526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原有回填状态机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43200" y="5052060"/>
            <a:ext cx="876300" cy="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758440" y="4792980"/>
            <a:ext cx="8458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1300" y="4800600"/>
            <a:ext cx="8001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待处理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076699" y="4091939"/>
            <a:ext cx="0" cy="670561"/>
          </a:xfrm>
          <a:prstGeom prst="line">
            <a:avLst/>
          </a:prstGeom>
          <a:ln w="19050">
            <a:solidFill>
              <a:srgbClr val="738298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253740" y="4305300"/>
            <a:ext cx="9601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76600" y="4312920"/>
            <a:ext cx="9144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request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05400" y="4091939"/>
            <a:ext cx="0" cy="670561"/>
          </a:xfrm>
          <a:prstGeom prst="line">
            <a:avLst/>
          </a:prstGeom>
          <a:ln w="19050">
            <a:solidFill>
              <a:srgbClr val="AE5D0D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158740" y="4305300"/>
            <a:ext cx="5791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81600" y="4312920"/>
            <a:ext cx="5334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E5D0D"/>
                </a:solidFill>
                <a:latin typeface="Noto Sans CJK SC"/>
                <a:ea typeface="Noto Sans CJK SC"/>
              </a:rPr>
              <a:t>grant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600" y="5692140"/>
            <a:ext cx="4914900" cy="34290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040" y="5754624"/>
            <a:ext cx="4732020" cy="2636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738298"/>
                </a:solidFill>
                <a:latin typeface="Noto Sans CJK SC"/>
                <a:ea typeface="Noto Sans CJK SC"/>
              </a:rPr>
              <a:t>原有执行通路：MSHR ack → Data → Dir / RTAB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0" y="5356860"/>
            <a:ext cx="0" cy="33528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248400" y="1371600"/>
            <a:ext cx="5638800" cy="4831080"/>
          </a:xfrm>
          <a:prstGeom prst="roundRect">
            <a:avLst>
              <a:gd name="adj" fmla="val 2839"/>
            </a:avLst>
          </a:prstGeom>
          <a:solidFill>
            <a:srgbClr val="FFFFFF"/>
          </a:solidFill>
          <a:ln w="11429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1501140"/>
            <a:ext cx="524256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67"/>
                </a:solidFill>
                <a:latin typeface="Noto Sans CJK SC"/>
                <a:ea typeface="Noto Sans CJK SC"/>
              </a:rPr>
              <a:t>修改后｜允许安全的旧 hit 完成时授权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1767840"/>
            <a:ext cx="524256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RefillEarlyGrantEnable = 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53200" y="2209800"/>
            <a:ext cx="2209800" cy="60960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4640" y="2263902"/>
            <a:ext cx="20269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2BE"/>
                </a:solidFill>
                <a:latin typeface="Noto Sans CJK SC"/>
                <a:ea typeface="Noto Sans CJK SC"/>
              </a:rPr>
              <a:t>S1 普通 core load hit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2557272"/>
            <a:ext cx="20574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已在流水线内的旧请求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86900" y="2209800"/>
            <a:ext cx="1981199" cy="60960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78340" y="2263902"/>
            <a:ext cx="17983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38298"/>
                </a:solidFill>
                <a:latin typeface="Noto Sans CJK SC"/>
                <a:ea typeface="Noto Sans CJK SC"/>
              </a:rPr>
              <a:t>原有响应通路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3100" y="2557272"/>
            <a:ext cx="18288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hit 当拍返回 Core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763000" y="2514600"/>
            <a:ext cx="723900" cy="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858000" y="3215640"/>
            <a:ext cx="4610100" cy="876300"/>
          </a:xfrm>
          <a:prstGeom prst="roundRect">
            <a:avLst>
              <a:gd name="adj" fmla="val 10434"/>
            </a:avLst>
          </a:prstGeom>
          <a:solidFill>
            <a:srgbClr val="E7F6EF"/>
          </a:solidFill>
          <a:ln w="12954">
            <a:solidFill>
              <a:srgbClr val="087F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3284220"/>
            <a:ext cx="4427220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7F67"/>
                </a:solidFill>
                <a:latin typeface="Noto Sans CJK SC"/>
                <a:ea typeface="Noto Sans CJK SC"/>
              </a:rPr>
              <a:t>Refill grant 授权控制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34200" y="3607308"/>
            <a:ext cx="4457700" cy="461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S1 为空，或安全 hit 正在完成</a:t>
            </a:r>
          </a:p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仍须满足原有授权条件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658100" y="2819400"/>
            <a:ext cx="0" cy="396240"/>
          </a:xfrm>
          <a:prstGeom prst="line">
            <a:avLst/>
          </a:prstGeom>
          <a:ln w="19050">
            <a:solidFill>
              <a:srgbClr val="087F6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734300" y="2926080"/>
            <a:ext cx="32842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57159" y="2933700"/>
            <a:ext cx="32385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87F67"/>
                </a:solidFill>
                <a:latin typeface="Noto Sans CJK SC"/>
                <a:ea typeface="Noto Sans CJK SC"/>
              </a:rPr>
              <a:t>hit / 响应 / 异常 / 新旧 S2 工作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53200" y="4762500"/>
            <a:ext cx="2133600" cy="59436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44640" y="4808982"/>
            <a:ext cx="195072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62BE"/>
                </a:solidFill>
                <a:latin typeface="Noto Sans CJK SC"/>
                <a:ea typeface="Noto Sans CJK SC"/>
              </a:rPr>
              <a:t>Refill FIFO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5102352"/>
            <a:ext cx="1981199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返回数据与元信息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63100" y="4762500"/>
            <a:ext cx="1905000" cy="594360"/>
          </a:xfrm>
          <a:prstGeom prst="roundRect">
            <a:avLst>
              <a:gd name="adj" fmla="val 15000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54540" y="4804029"/>
            <a:ext cx="1722120" cy="303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8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2862BE"/>
                </a:solidFill>
                <a:latin typeface="Noto Sans CJK SC"/>
                <a:ea typeface="Noto Sans CJK SC"/>
              </a:rPr>
              <a:t>Refill FSM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39300" y="5107305"/>
            <a:ext cx="17526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原有回填状态机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686800" y="5052060"/>
            <a:ext cx="876300" cy="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8702040" y="4792980"/>
            <a:ext cx="8458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24900" y="4800600"/>
            <a:ext cx="8001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待处理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10020300" y="4091939"/>
            <a:ext cx="0" cy="670561"/>
          </a:xfrm>
          <a:prstGeom prst="line">
            <a:avLst/>
          </a:prstGeom>
          <a:ln w="19050">
            <a:solidFill>
              <a:srgbClr val="738298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9197340" y="4305300"/>
            <a:ext cx="9601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20200" y="4312920"/>
            <a:ext cx="9144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57F"/>
                </a:solidFill>
                <a:latin typeface="Noto Sans CJK SC"/>
                <a:ea typeface="Noto Sans CJK SC"/>
              </a:rPr>
              <a:t>request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1049000" y="4091939"/>
            <a:ext cx="0" cy="670561"/>
          </a:xfrm>
          <a:prstGeom prst="line">
            <a:avLst/>
          </a:prstGeom>
          <a:ln w="19050">
            <a:solidFill>
              <a:srgbClr val="087F6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11102340" y="4305300"/>
            <a:ext cx="579120" cy="2362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125200" y="4312920"/>
            <a:ext cx="533400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87F67"/>
                </a:solidFill>
                <a:latin typeface="Noto Sans CJK SC"/>
                <a:ea typeface="Noto Sans CJK SC"/>
              </a:rPr>
              <a:t>grant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7620000" y="4091939"/>
            <a:ext cx="0" cy="670561"/>
          </a:xfrm>
          <a:prstGeom prst="line">
            <a:avLst/>
          </a:prstGeom>
          <a:ln w="19050">
            <a:solidFill>
              <a:srgbClr val="087F6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6560820" y="4236720"/>
            <a:ext cx="1889760" cy="4267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91300" y="4259580"/>
            <a:ext cx="18288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087F67"/>
                </a:solidFill>
                <a:latin typeface="Noto Sans CJK SC"/>
                <a:ea typeface="Noto Sans CJK SC"/>
              </a:rPr>
              <a:t>提前资格</a:t>
            </a:r>
          </a:p>
          <a:p>
            <a:pPr algn="ctr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087F67"/>
                </a:solidFill>
                <a:latin typeface="Noto Sans CJK SC"/>
                <a:ea typeface="Noto Sans CJK SC"/>
              </a:rPr>
              <a:t>非 error / invalidation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553200" y="5692140"/>
            <a:ext cx="4914900" cy="342900"/>
          </a:xfrm>
          <a:prstGeom prst="roundRect">
            <a:avLst>
              <a:gd name="adj" fmla="val 15000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44640" y="5754624"/>
            <a:ext cx="4732020" cy="2636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738298"/>
                </a:solidFill>
                <a:latin typeface="Noto Sans CJK SC"/>
                <a:ea typeface="Noto Sans CJK SC"/>
              </a:rPr>
              <a:t>原有执行通路：MSHR ack → Data → Dir / RTAB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0515600" y="5356860"/>
            <a:ext cx="0" cy="335280"/>
          </a:xfrm>
          <a:prstGeom prst="line">
            <a:avLst/>
          </a:prstGeom>
          <a:ln w="19050">
            <a:solidFill>
              <a:srgbClr val="2862B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9600" y="6256020"/>
            <a:ext cx="11049000" cy="273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3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17253E"/>
                </a:solidFill>
                <a:latin typeface="Noto Sans CJK SC"/>
                <a:ea typeface="Noto Sans CJK SC"/>
              </a:rPr>
              <a:t>重叠的是“hit 响应 + refill 授权”；S0 仍不接收新请求，refill 数据下一拍才写入。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73380"/>
            <a:ext cx="60960" cy="411480"/>
          </a:xfrm>
          <a:prstGeom prst="rect">
            <a:avLst/>
          </a:prstGeom>
          <a:solidFill>
            <a:srgbClr val="087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2900"/>
            <a:ext cx="11125200" cy="481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32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17253E"/>
                </a:solidFill>
                <a:latin typeface="Noto Sans CJK SC"/>
                <a:ea typeface="Noto Sans CJK SC"/>
              </a:rPr>
              <a:t>为什么能省一拍：授权提前，数据写入时序仍分开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53440"/>
            <a:ext cx="10972800" cy="293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57F"/>
                </a:solidFill>
                <a:latin typeface="Noto Sans CJK SC"/>
                <a:ea typeface="Noto Sans CJK SC"/>
              </a:rPr>
              <a:t>例：正常、需要返回响应的 load refill；hit 的 SRAM 读取已在前一拍发起。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522720"/>
            <a:ext cx="10515600" cy="233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2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3657F"/>
                </a:solidFill>
                <a:latin typeface="Noto Sans CJK SC"/>
                <a:ea typeface="Noto Sans CJK SC"/>
              </a:rPr>
              <a:t>CV-HPDcache  |  基于当前 RTL 的项目示意；非物理版图  |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53340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738298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1333500"/>
            <a:ext cx="10972800" cy="289560"/>
          </a:xfrm>
          <a:prstGeom prst="roundRect">
            <a:avLst>
              <a:gd name="adj" fmla="val 15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60" y="1356360"/>
            <a:ext cx="10850880" cy="2636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87F67"/>
                </a:solidFill>
                <a:latin typeface="Noto Sans CJK SC"/>
                <a:ea typeface="Noto Sans CJK SC"/>
              </a:rPr>
              <a:t>只消除一次可避免的准入等待；不表示增加 SRAM 端口，也不表示两个响应同拍返回。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62200" y="1866899"/>
            <a:ext cx="2118360" cy="3825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52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53657F"/>
                </a:solidFill>
                <a:latin typeface="Noto Sans CJK SC"/>
                <a:ea typeface="Noto Sans CJK SC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1866899"/>
            <a:ext cx="2118360" cy="3825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52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53657F"/>
                </a:solidFill>
                <a:latin typeface="Noto Sans CJK SC"/>
                <a:ea typeface="Noto Sans CJK SC"/>
              </a:rPr>
              <a:t>t + 1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11040" y="2225040"/>
            <a:ext cx="0" cy="3002280"/>
          </a:xfrm>
          <a:prstGeom prst="line">
            <a:avLst/>
          </a:prstGeom>
          <a:ln w="7620">
            <a:solidFill>
              <a:srgbClr val="73829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12280" y="1866899"/>
            <a:ext cx="2118360" cy="3825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52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53657F"/>
                </a:solidFill>
                <a:latin typeface="Noto Sans CJK SC"/>
                <a:ea typeface="Noto Sans CJK SC"/>
              </a:rPr>
              <a:t>t + 2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36080" y="2225040"/>
            <a:ext cx="0" cy="3002280"/>
          </a:xfrm>
          <a:prstGeom prst="line">
            <a:avLst/>
          </a:prstGeom>
          <a:ln w="7620">
            <a:solidFill>
              <a:srgbClr val="73829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037320" y="1866899"/>
            <a:ext cx="2118360" cy="3825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52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53657F"/>
                </a:solidFill>
                <a:latin typeface="Noto Sans CJK SC"/>
                <a:ea typeface="Noto Sans CJK SC"/>
              </a:rPr>
              <a:t>t + 3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61120" y="2225040"/>
            <a:ext cx="0" cy="3002280"/>
          </a:xfrm>
          <a:prstGeom prst="line">
            <a:avLst/>
          </a:prstGeom>
          <a:ln w="7620">
            <a:solidFill>
              <a:srgbClr val="73829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9600" y="2567940"/>
            <a:ext cx="1524000" cy="3528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18"/>
              </a:lnSpc>
              <a:spcBef>
                <a:spcPts val="0"/>
              </a:spcBef>
              <a:spcAft>
                <a:spcPts val="0"/>
              </a:spcAft>
            </a:pPr>
            <a:r>
              <a:rPr sz="1859" b="1">
                <a:solidFill>
                  <a:srgbClr val="AE5D0D"/>
                </a:solidFill>
                <a:latin typeface="Noto Sans CJK SC"/>
                <a:ea typeface="Noto Sans CJK SC"/>
              </a:rPr>
              <a:t>原授权逻辑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244340"/>
            <a:ext cx="1524000" cy="3528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18"/>
              </a:lnSpc>
              <a:spcBef>
                <a:spcPts val="0"/>
              </a:spcBef>
              <a:spcAft>
                <a:spcPts val="0"/>
              </a:spcAft>
            </a:pPr>
            <a:r>
              <a:rPr sz="1859" b="1">
                <a:solidFill>
                  <a:srgbClr val="087F67"/>
                </a:solidFill>
                <a:latin typeface="Noto Sans CJK SC"/>
                <a:ea typeface="Noto Sans CJK SC"/>
              </a:rPr>
              <a:t>提前授权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62200" y="2362200"/>
            <a:ext cx="2057400" cy="1104900"/>
          </a:xfrm>
          <a:prstGeom prst="roundRect">
            <a:avLst>
              <a:gd name="adj" fmla="val 8275"/>
            </a:avLst>
          </a:prstGeom>
          <a:solidFill>
            <a:srgbClr val="FFF1DE"/>
          </a:solidFill>
          <a:ln w="12954">
            <a:solidFill>
              <a:srgbClr val="AE5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3640" y="2649093"/>
            <a:ext cx="1874519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AE5D0D"/>
                </a:solidFill>
                <a:latin typeface="Noto Sans CJK SC"/>
                <a:ea typeface="Noto Sans CJK SC"/>
              </a:rPr>
              <a:t>hit 响应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8400" y="2972180"/>
            <a:ext cx="19050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refill 等待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87240" y="2362200"/>
            <a:ext cx="2057400" cy="1104900"/>
          </a:xfrm>
          <a:prstGeom prst="roundRect">
            <a:avLst>
              <a:gd name="adj" fmla="val 8275"/>
            </a:avLst>
          </a:prstGeom>
          <a:solidFill>
            <a:srgbClr val="F0F3F7"/>
          </a:solidFill>
          <a:ln w="12954">
            <a:solidFill>
              <a:srgbClr val="7382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8680" y="2649093"/>
            <a:ext cx="1874519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738298"/>
                </a:solidFill>
                <a:latin typeface="Noto Sans CJK SC"/>
                <a:ea typeface="Noto Sans CJK SC"/>
              </a:rPr>
              <a:t>grant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972180"/>
            <a:ext cx="19050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MSHR 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2362200"/>
            <a:ext cx="2057400" cy="1104900"/>
          </a:xfrm>
          <a:prstGeom prst="roundRect">
            <a:avLst>
              <a:gd name="adj" fmla="val 8275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2649093"/>
            <a:ext cx="1874519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862BE"/>
                </a:solidFill>
                <a:latin typeface="Noto Sans CJK SC"/>
                <a:ea typeface="Noto Sans CJK SC"/>
              </a:rP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8480" y="2972180"/>
            <a:ext cx="19050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写数据 + miss 响应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7320" y="2362200"/>
            <a:ext cx="2057400" cy="1104900"/>
          </a:xfrm>
          <a:prstGeom prst="roundRect">
            <a:avLst>
              <a:gd name="adj" fmla="val 8275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8760" y="2649093"/>
            <a:ext cx="1874519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862BE"/>
                </a:solidFill>
                <a:latin typeface="Noto Sans CJK SC"/>
                <a:ea typeface="Noto Sans CJK SC"/>
              </a:rPr>
              <a:t>DIR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3520" y="2972180"/>
            <a:ext cx="19050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目录更新 + RTAB 唤醒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62200" y="4038600"/>
            <a:ext cx="2057400" cy="1104900"/>
          </a:xfrm>
          <a:prstGeom prst="roundRect">
            <a:avLst>
              <a:gd name="adj" fmla="val 8275"/>
            </a:avLst>
          </a:prstGeom>
          <a:solidFill>
            <a:srgbClr val="E7F6EF"/>
          </a:solidFill>
          <a:ln w="12954">
            <a:solidFill>
              <a:srgbClr val="087F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3640" y="4325493"/>
            <a:ext cx="1874519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7F67"/>
                </a:solidFill>
                <a:latin typeface="Noto Sans CJK SC"/>
                <a:ea typeface="Noto Sans CJK SC"/>
              </a:rPr>
              <a:t>hit 响应 + grant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400" y="4648580"/>
            <a:ext cx="19050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同拍 MSHR 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87240" y="4038600"/>
            <a:ext cx="2057400" cy="1104900"/>
          </a:xfrm>
          <a:prstGeom prst="roundRect">
            <a:avLst>
              <a:gd name="adj" fmla="val 8275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8680" y="4325493"/>
            <a:ext cx="1874519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862BE"/>
                </a:solidFill>
                <a:latin typeface="Noto Sans CJK SC"/>
                <a:ea typeface="Noto Sans CJK SC"/>
              </a:rPr>
              <a:t>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648580"/>
            <a:ext cx="19050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写数据 + miss 响应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2280" y="4038600"/>
            <a:ext cx="2057400" cy="1104900"/>
          </a:xfrm>
          <a:prstGeom prst="roundRect">
            <a:avLst>
              <a:gd name="adj" fmla="val 8275"/>
            </a:avLst>
          </a:prstGeom>
          <a:solidFill>
            <a:srgbClr val="EDF3FF"/>
          </a:solidFill>
          <a:ln w="12954">
            <a:solidFill>
              <a:srgbClr val="286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4325493"/>
            <a:ext cx="1874519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862BE"/>
                </a:solidFill>
                <a:latin typeface="Noto Sans CJK SC"/>
                <a:ea typeface="Noto Sans CJK SC"/>
              </a:rPr>
              <a:t>DIR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8480" y="4648580"/>
            <a:ext cx="19050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目录更新 + RTAB 唤醒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37320" y="4038600"/>
            <a:ext cx="2057400" cy="1104900"/>
          </a:xfrm>
          <a:prstGeom prst="roundRect">
            <a:avLst>
              <a:gd name="adj" fmla="val 8275"/>
            </a:avLst>
          </a:prstGeom>
          <a:solidFill>
            <a:srgbClr val="E7F6EF"/>
          </a:solidFill>
          <a:ln w="12954">
            <a:solidFill>
              <a:srgbClr val="087F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28760" y="4325493"/>
            <a:ext cx="1874519" cy="3230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7F67"/>
                </a:solidFill>
                <a:latin typeface="Noto Sans CJK SC"/>
                <a:ea typeface="Noto Sans CJK SC"/>
              </a:rPr>
              <a:t>重新仲裁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13520" y="4648580"/>
            <a:ext cx="19050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无其他阻塞时可接收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3322320" y="3695700"/>
            <a:ext cx="2225040" cy="0"/>
          </a:xfrm>
          <a:prstGeom prst="line">
            <a:avLst/>
          </a:prstGeom>
          <a:ln w="22859">
            <a:solidFill>
              <a:srgbClr val="087F6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444240" y="3535680"/>
            <a:ext cx="1950720" cy="275844"/>
          </a:xfrm>
          <a:prstGeom prst="roundRect">
            <a:avLst>
              <a:gd name="adj" fmla="val 55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67100" y="3543300"/>
            <a:ext cx="190500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087F67"/>
                </a:solidFill>
                <a:latin typeface="Noto Sans CJK SC"/>
                <a:ea typeface="Noto Sans CJK SC"/>
              </a:rPr>
              <a:t>grant 提前一拍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9600" y="5524500"/>
            <a:ext cx="10972800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1429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" y="5638800"/>
            <a:ext cx="1059180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17253E"/>
                </a:solidFill>
                <a:latin typeface="Noto Sans CJK SC"/>
                <a:ea typeface="Noto Sans CJK SC"/>
              </a:rPr>
              <a:t>资格检查：普通 core load hit 正常完成；无重放 / ECC 恢复；无新旧 S2 工作及其他控制器占用。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" y="5920740"/>
            <a:ext cx="10591800" cy="2537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3657F"/>
                </a:solidFill>
                <a:latin typeface="Noto Sans CJK SC"/>
                <a:ea typeface="Noto Sans CJK SC"/>
              </a:rPr>
              <a:t>原型配置：lowLatency、MSHR regbank、response feedthrough、整行单拍 refill、单字请求。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CV-HPDcache：原设计与两项微架构优化</dc:title>
  <dc:subject>SpMV cache controller architecture comparisons</dc:subject>
  <dc:creator>CV-HPDcache project study</dc:creator>
  <cp:keywords/>
  <dc:description>Official source figure attributed in slide 1; other diagrams checked against current RTL.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